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0"/>
            <a:ext cx="3429000" cy="6858000"/>
          </a:xfrm>
          <a:prstGeom prst="rect">
            <a:avLst/>
          </a:prstGeom>
          <a:solidFill>
            <a:srgbClr val="111C2C"/>
          </a:solidFill>
          <a:ln w="8890">
            <a:solidFill>
              <a:srgbClr val="111C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0"/>
            <a:ext cx="91440" cy="685800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7315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 |  DESIGN OF SMART CITIES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1417320"/>
            <a:ext cx="7040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Citizen Sentiment Analysis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Municipal Services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Transformer-Based NLP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8221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Review-2 / Final Review Presentation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59028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Vellore Institute of Technology  •  SCOPE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Dr. Kalaavathi 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19379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Taher Panbiharwala  •  Sanidhya Bhandari  •  Chinmoy Deb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504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/ Team 16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combines NYC 311 operations data with citizen satisfaction signals using NLP.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81160" y="187452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reproducible civic intelligence pipeline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open data to decision support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81160" y="2852928"/>
            <a:ext cx="2350008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1.20M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281160" y="3547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311 service requests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81160" y="4041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406.6K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281160" y="4434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responses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 adds evidence beyond traditional operational KPIs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KPIs show closure time and volume; NLP adds evidence about citizen experience.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adding sentiment, topic, and grievance signals improve out-of-time prediction of resolution delay and repeat complaints?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target-specific: the corrected experiment supports a significant delay gain, while repeat-rate improvement remains an observed but uncertain signal.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74920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+0.0289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39512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ΔR² | p = 0.00020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24928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4928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+0.0257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89520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ΔR² | p = 0.733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9512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39512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tests passing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24928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4928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89520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cells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4142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ready for review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74920" y="44622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5276088" y="446227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 multi-source data pipeline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5074920" y="4782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5276088" y="478231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VADER, LDA, BERTopic, ABSA, and DistilBERT experiments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5074920" y="510235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4" name="Text 32"/>
          <p:cNvSpPr/>
          <p:nvPr/>
        </p:nvSpPr>
        <p:spPr>
          <a:xfrm>
            <a:off x="5276088" y="510235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model comparison with robustness analysis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5074920" y="54223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6" name="Text 34"/>
          <p:cNvSpPr/>
          <p:nvPr/>
        </p:nvSpPr>
        <p:spPr>
          <a:xfrm>
            <a:off x="5276088" y="542239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Two-sided Streamlit dashboard for operations and residents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MOTIVATION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Administrative closure does not equal citizen satisfaction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closed ticket does not always mean the citizen feels the problem was solved.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KPI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volume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3856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Open-to-close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33856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and staffing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3856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status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4688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51576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reality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751576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52744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issue corrected?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51576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52744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request recur?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51576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52744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communication adequate?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51576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52744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work satisfactory?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0560" y="2834640"/>
            <a:ext cx="1024128" cy="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4871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" y="4443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opportunity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80360" y="442569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public survey ground truth and operational narratives to test whether citizen-perceived friction contains incremental predictive information.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study tests predictive value, not causality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compare structured data with a model that also uses sentiment, topics, grievances, and satisfaction.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10835640" cy="960120"/>
          </a:xfrm>
          <a:prstGeom prst="roundRect">
            <a:avLst>
              <a:gd name="adj" fmla="val 1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16824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augmenting structured operational indicators with NLP sentiment, topic, and aspect signals improve out-of-time prediction?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 |  Delay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resolution delay.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44768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 |  Repeat rate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14-day repeat requests.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919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6032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findings are aggregate predictive associations at service × borough × month grain.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AUDIT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authentic NYC Open Data sources create complementary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used 1,199,279 NYC 311 records and 406,581 satisfaction survey responses.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NYC 311 service requests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erm2-nwe9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1,199,279 records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60120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1288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closure narratives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1288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and closed timestamps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1288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and repeat-request outcomes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1288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20 service categories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847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Satisfaction Survey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19088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5ijn-vbdv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19088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406,581 responses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419088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0256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5-point satisfaction ground truth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19088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0256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dissatisfaction reasons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19088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0256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 and month fields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19088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0256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free-text suppressed for PII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decision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240280" y="48646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is extracted from NYC 311 resolution narratives; RSAT supplies survey-level labels and satisfaction aggregates.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join is privacy-safe and the evaluation is chronological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aggregate by service, borough, year, and month because individual records cannot be directly matched.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cell grain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10835640" cy="777240"/>
          </a:xfrm>
          <a:prstGeom prst="roundRect">
            <a:avLst>
              <a:gd name="adj" fmla="val 1411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67128"/>
            <a:ext cx="10378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(service, borough, year, month)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5800" y="2944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one-to-one survey-to-ticket join is claimed.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partitions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Jan–Aug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586 cells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Sep–Dec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445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213 cells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010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21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021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horizon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021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 cells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survey reveals a strongly negative satisfaction distribution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Around 62.14% of validated survey responses were dissatisfied, making this a meaningful signal.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62.14%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validated RSAT responses are dissatisfied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correction is the largest standardized grievance aspect (42.7% of dissatisfied responses).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1481328"/>
            <a:ext cx="6309360" cy="3154680"/>
          </a:xfrm>
          <a:prstGeom prst="roundRect">
            <a:avLst>
              <a:gd name="adj" fmla="val 347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3" name="Image 0" descr="D:\CITY PRJ\reports\figures\rsat_satisfaction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09928"/>
            <a:ext cx="5852160" cy="2606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distribution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971800" y="483717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skew establishes a meaningful citizen-distress signal for later aggregation and modeling.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METHODOLOGY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NLP stack moves from baselines to domain adaptation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provides a baseline; topic models, ABSA, and DistilBERT provide deeper language analysis.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Lexicon sentiment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0.655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F1 0.800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+ BERTopic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Themes and clusters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Cᵥ 0.5100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semantic clusters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0644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504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grievance aspects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macro-F1 0.1723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baseline 0.1295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6676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76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DistilBERT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953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fine-tuning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macro-F1 0.3491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0.4148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554480" y="4617720"/>
            <a:ext cx="90982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boundary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240280" y="4864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narratives are agency text; RSAT provides the citizen-grounded labels and satisfaction aggregates.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adaptation improves grievance attribution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DistilBERT achieved a macro-F1 of 0.3491, improving over the TF-IDF and rule-based approaches.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0" name="Image 0" descr="D:\CITY PRJ\reports\figures\absa_per_aspect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55648"/>
            <a:ext cx="4434840" cy="2697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4553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Per-aspect F1 comparison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70448" y="1481328"/>
            <a:ext cx="5239512" cy="3291840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run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217920" y="2331720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233172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2441448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0.3491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382512" y="2807208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macro-F1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17920" y="3401568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340156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3511296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+0.1768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82512" y="3877056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gain vs TF-IDF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17920" y="44622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Tesla T4 • 3 epochs • 2e-5 learning rate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41,746 chronological examples across train / validation / test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OUTCOMES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outcomes quantify both delay and recurring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predict resolution delay and repeat complaints; the 14-day repeat rate was 44.88%.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2.90 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raw resolution delay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91.11 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46704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winsorized delay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78424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78424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44.88%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43016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14-day repeat rate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74736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74736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50.52%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39328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repeat 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2761488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26" name="Image 0" descr="D:\CITY PRJ\reports\figures\nyc311_delay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971800"/>
            <a:ext cx="4425696" cy="17373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96112" y="4818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is highly right-skewed; p99 winsorization cutoff = 2,454.96 hours.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870448" y="2761488"/>
            <a:ext cx="5239512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29" name="Image 1" descr="D:\CITY PRJ\reports\figures\nyc311_monthly_vol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971800"/>
            <a:ext cx="4809744" cy="17373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080760" y="48188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rates rise with longer windows: 39.10% at 7 days → 50.52% at 30 days.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isolates NLP's incremental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compare structured-only models with models that include NLP-augmented features.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baseline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20116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identity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048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24048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27980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" y="27980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1912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" y="31912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volume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692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model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0448" y="20116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baseline features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368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70448" y="236829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sentiment rates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70448" y="272491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/ BERTopic features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08152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70448" y="30815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aspect proportions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70448" y="343814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signals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protocol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85800" y="4754880"/>
            <a:ext cx="10835640" cy="512064"/>
          </a:xfrm>
          <a:prstGeom prst="roundRect">
            <a:avLst>
              <a:gd name="adj" fmla="val 2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901184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 •  Random Forest  •  LightGBM   |   validation-selected algorithm   |   one untouched 2024 horizon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 gains are significant; repeat-rate gains are inconclusive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prediction improved significantly; repeat-rate improvement was positive but inconclusive.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4892040" cy="3520440"/>
          </a:xfrm>
          <a:prstGeom prst="roundRect">
            <a:avLst>
              <a:gd name="adj" fmla="val 3117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0" name="Image 0" descr="D:\CITY PRJ\reports\figures\model_r2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434840" cy="2788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6451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out-of-time R² comparison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70448" y="1755648"/>
            <a:ext cx="5239512" cy="438912"/>
          </a:xfrm>
          <a:prstGeom prst="rect">
            <a:avLst/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34456" y="18836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13448" y="18836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65592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R²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878824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R²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592056" y="18836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ΔR²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50424" y="1883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p-value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70448" y="2194560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34456" y="23408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(h)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013448" y="23408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165592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0.5149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878824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0.5438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592056" y="23408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+0.0289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250424" y="23408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0.00020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870448" y="2688336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34456" y="283464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14d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013448" y="28346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165592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0.7184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878824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0.7441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592056" y="2834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+0.0257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250424" y="28346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0.733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870448" y="3520440"/>
            <a:ext cx="5239512" cy="1051560"/>
          </a:xfrm>
          <a:prstGeom prst="roundRect">
            <a:avLst>
              <a:gd name="adj" fmla="val 10435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144768" y="402336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Delay: confirmed incremental predictive association.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Repeat: positive observed gain, but not statistically significant.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ANALYSIS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confirms delay gains and qualifies repeat-rate gains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seeds and bootstrap sampling confirmed delay gains but qualified repeat-rate results.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5532120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0" name="Image 0" descr="D:\CITY PRJ\reports\figures\robustness_delta_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37360"/>
            <a:ext cx="5120640" cy="2880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46817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seeds + 2,000 bootstrap resamples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10528" y="1481328"/>
            <a:ext cx="4599432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8580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+0.1287 ± 0.0097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[+0.0499, +0.2259]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58000" y="2971800"/>
            <a:ext cx="38404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85800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+0.0403 ± 0.0072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[-0.0072, +0.0794]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4526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interval crossing zero is the key qualification.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INTERPRETATION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 links predictions to operational and language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identifies the operational and language signals that influence model predictions.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0" name="Image 0" descr="D:\CITY PRJ\reports\figures\shap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37360"/>
            <a:ext cx="5074920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4846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SHAP feature ranking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2940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contributors in the augmented delay model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29400" y="21488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30568" y="21488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log_request_volume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2542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30568" y="25420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topic_entropy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29400" y="293522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30568" y="29352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response-time aspect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29400" y="332841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30568" y="332841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29400" y="372160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830568" y="37216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negative rate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2940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29400" y="4681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uses both operational pressure and civic-language signals; the dashboard exposes these signals for review rather than hiding them behind a single score.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system turns the analysis into two decision-support views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gives officials a priority view and residents a simple privacy-safe service view.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Operations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61288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by borough, service, and period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61288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 with risk score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61288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and borough comparison charts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61288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evidence and SHAP view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61288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priority queue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44768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View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19088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20256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KPI summary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19088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620256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delay and repeat trends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19088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20256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Citywide service comparison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19088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620256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Privacy-safe aggregate values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19088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620256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names, addresses, or ticket text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5800" y="5257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local link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14884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http://localhost:8501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32320" y="5257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grain: service × borough ×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major pipeline phases are implemented with inspectable artifacts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complete pipeline is implemented, and all 16 automated tests are passing.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pipeline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81812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0100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6012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7840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86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46888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5176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25196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5196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3484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03504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1792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81812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1812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0100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96012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012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840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7840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8580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verification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685800" y="457200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" y="4681728"/>
            <a:ext cx="2167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850392" y="5047488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checks passing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383280" y="4572000"/>
            <a:ext cx="29260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832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47872" y="4681728"/>
            <a:ext cx="2670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3547872" y="50474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dependencies verified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583680" y="4572000"/>
            <a:ext cx="274320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48272" y="4681728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2024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6748272" y="50474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out-of-time horizon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is submission-ready when its boundaries are stated clearly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87044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5274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study is predictive, not causal; future work includes annotation, longer testing, and external validation.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92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evidence does not claim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61288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causal effect is established.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61288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free-text comments are PII-suppressed.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61288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is a domain-transfer evaluation.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61288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Repeat-rate gain is not significant.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61288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is the local operational test horizon.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44768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Highest-value next steps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9088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20256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two-annotator 311 ABSA sample.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19088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620256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Cohen’s kappa and human macro-F1.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19088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20256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a longer out-of-time horizon.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620256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transfer on another 311 city.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19088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620256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drift before deployment.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5800" y="5285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position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331720" y="5257800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end-to-end engineering and reproducibility; conclusions are calibrated to the available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960120"/>
            <a:ext cx="91440" cy="466344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0424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34440" y="150876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Municipal service quality is more than closure speed.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34440" y="25146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demonstrates a reproducible way to connect citizen dissatisfaction, civic text signals, and operational outcomes — with transparent limits and an actionable dashboard.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34440" y="3858768"/>
            <a:ext cx="9326880" cy="868680"/>
          </a:xfrm>
          <a:prstGeom prst="roundRect">
            <a:avLst>
              <a:gd name="adj" fmla="val 12632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142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4050792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 incremental evidence for resolution-delay prediction; repeat-rate evidence remains a research opportunity.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6236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Questions and discussion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" y="5797296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879592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provides useful additional evidence about municipal service quality, especially for predicting delay.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045952" y="6236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Review-2 / Final Review Presentation</dc:title>
  <dc:subject>Citizen Sentiment Analysis of Municipal Services Using Transformer-Based NLP</dc:subject>
  <dc:creator>BCSE316L Project Team 16</dc:creator>
  <cp:lastModifiedBy>BCSE316L Project Team 16</cp:lastModifiedBy>
  <cp:revision>1</cp:revision>
  <dcterms:created xsi:type="dcterms:W3CDTF">2026-10-15T08:55:55Z</dcterms:created>
  <dcterms:modified xsi:type="dcterms:W3CDTF">2026-10-15T08:55:55Z</dcterms:modified>
</cp:coreProperties>
</file>