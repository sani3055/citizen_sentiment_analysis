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d54f824b7bf4911" /><Relationship Type="http://schemas.openxmlformats.org/officeDocument/2006/relationships/extended-properties" Target="/docProps/app.xml" Id="Rc0edc57add3544ab" /><Relationship Type="http://schemas.openxmlformats.org/officeDocument/2006/relationships/officeDocument" Target="/ppt/presentation.xml" Id="Rc76b5a9649ec4cd5" /></Relationships>
</file>

<file path=ppt/presentation.xml><?xml version="1.0" encoding="utf-8"?>
<p:presentation xmlns:p="http://schemas.openxmlformats.org/presentationml/2006/main">
  <p:sldMasterIdLst>
    <p:sldMasterId xmlns:r="http://schemas.openxmlformats.org/officeDocument/2006/relationships" id="2147483648" r:id="Rafc9a1b52168452d"/>
  </p:sldMasterIdLst>
  <p:notesMasterIdLst>
    <p:notesMasterId xmlns:r="http://schemas.openxmlformats.org/officeDocument/2006/relationships" r:id="Rce0538486cb54ef8"/>
  </p:notesMasterIdLst>
  <p:sldIdLst>
    <p:sldId xmlns:r="http://schemas.openxmlformats.org/officeDocument/2006/relationships" id="256" r:id="R3e59d8335da3466d"/>
    <p:sldId xmlns:r="http://schemas.openxmlformats.org/officeDocument/2006/relationships" id="257" r:id="Ra71043e4a7cf4a7d"/>
    <p:sldId xmlns:r="http://schemas.openxmlformats.org/officeDocument/2006/relationships" id="258" r:id="R53ce1e0f42d14cf9"/>
    <p:sldId xmlns:r="http://schemas.openxmlformats.org/officeDocument/2006/relationships" id="259" r:id="R4fc81b5895d64b47"/>
    <p:sldId xmlns:r="http://schemas.openxmlformats.org/officeDocument/2006/relationships" id="260" r:id="R1e8d5a92efae475d"/>
    <p:sldId xmlns:r="http://schemas.openxmlformats.org/officeDocument/2006/relationships" id="261" r:id="R5c6da3b0d5974dd1"/>
    <p:sldId xmlns:r="http://schemas.openxmlformats.org/officeDocument/2006/relationships" id="262" r:id="R089cd713b10a4183"/>
    <p:sldId xmlns:r="http://schemas.openxmlformats.org/officeDocument/2006/relationships" id="263" r:id="R89bd7571f4294e27"/>
    <p:sldId xmlns:r="http://schemas.openxmlformats.org/officeDocument/2006/relationships" id="264" r:id="Rdd57e9afdb234870"/>
    <p:sldId xmlns:r="http://schemas.openxmlformats.org/officeDocument/2006/relationships" id="265" r:id="Rb44cbd49483541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6eff0c0a364b44" /><Relationship Type="http://schemas.openxmlformats.org/officeDocument/2006/relationships/slideMaster" Target="/ppt/slideMasters/slideMaster1.xml" Id="Rafc9a1b52168452d" /><Relationship Type="http://schemas.openxmlformats.org/officeDocument/2006/relationships/notesMaster" Target="/ppt/notesMasters/notesMaster1.xml" Id="Rce0538486cb54ef8" /><Relationship Type="http://schemas.openxmlformats.org/officeDocument/2006/relationships/presProps" Target="/ppt/presProps.xml" Id="R5e88e21d591c480a" /><Relationship Type="http://schemas.openxmlformats.org/officeDocument/2006/relationships/tableStyles" Target="/ppt/tableStyles.xml" Id="Ra048561327e0403c" /><Relationship Type="http://schemas.openxmlformats.org/officeDocument/2006/relationships/slide" Target="/ppt/slides/slide1.xml" Id="R3e59d8335da3466d" /><Relationship Type="http://schemas.openxmlformats.org/officeDocument/2006/relationships/slide" Target="/ppt/slides/slide2.xml" Id="Ra71043e4a7cf4a7d" /><Relationship Type="http://schemas.openxmlformats.org/officeDocument/2006/relationships/slide" Target="/ppt/slides/slide3.xml" Id="R53ce1e0f42d14cf9" /><Relationship Type="http://schemas.openxmlformats.org/officeDocument/2006/relationships/slide" Target="/ppt/slides/slide4.xml" Id="R4fc81b5895d64b47" /><Relationship Type="http://schemas.openxmlformats.org/officeDocument/2006/relationships/slide" Target="/ppt/slides/slide5.xml" Id="R1e8d5a92efae475d" /><Relationship Type="http://schemas.openxmlformats.org/officeDocument/2006/relationships/slide" Target="/ppt/slides/slide6.xml" Id="R5c6da3b0d5974dd1" /><Relationship Type="http://schemas.openxmlformats.org/officeDocument/2006/relationships/slide" Target="/ppt/slides/slide7.xml" Id="R089cd713b10a4183" /><Relationship Type="http://schemas.openxmlformats.org/officeDocument/2006/relationships/slide" Target="/ppt/slides/slide8.xml" Id="R89bd7571f4294e27" /><Relationship Type="http://schemas.openxmlformats.org/officeDocument/2006/relationships/slide" Target="/ppt/slides/slide9.xml" Id="Rdd57e9afdb234870" /><Relationship Type="http://schemas.openxmlformats.org/officeDocument/2006/relationships/slide" Target="/ppt/slides/slide10.xml" Id="Rb44cbd49483541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2abd696d0846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67a1114f1f43a8" /><Relationship Type="http://schemas.openxmlformats.org/officeDocument/2006/relationships/notesMaster" Target="/ppt/notesMasters/notesMaster1.xml" Id="R5366a312d6544c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2f1e7409cd4367" /><Relationship Type="http://schemas.openxmlformats.org/officeDocument/2006/relationships/notesMaster" Target="/ppt/notesMasters/notesMaster1.xml" Id="Re85621293f3741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d0d8b3d4f64c46" /><Relationship Type="http://schemas.openxmlformats.org/officeDocument/2006/relationships/notesMaster" Target="/ppt/notesMasters/notesMaster1.xml" Id="Ra4ec550477eb49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b5ff13bafe4526" /><Relationship Type="http://schemas.openxmlformats.org/officeDocument/2006/relationships/notesMaster" Target="/ppt/notesMasters/notesMaster1.xml" Id="R5933433a53c847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c9053d0d744a0d" /><Relationship Type="http://schemas.openxmlformats.org/officeDocument/2006/relationships/notesMaster" Target="/ppt/notesMasters/notesMaster1.xml" Id="R448af9e1d68140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174c70e5364774" /><Relationship Type="http://schemas.openxmlformats.org/officeDocument/2006/relationships/notesMaster" Target="/ppt/notesMasters/notesMaster1.xml" Id="R970001c2ac2644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bd840330624148" /><Relationship Type="http://schemas.openxmlformats.org/officeDocument/2006/relationships/notesMaster" Target="/ppt/notesMasters/notesMaster1.xml" Id="R06e89ff446584f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8341bf6a704cd4" /><Relationship Type="http://schemas.openxmlformats.org/officeDocument/2006/relationships/notesMaster" Target="/ppt/notesMasters/notesMaster1.xml" Id="R128be787d4de4a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2ac37f12d64b06" /><Relationship Type="http://schemas.openxmlformats.org/officeDocument/2006/relationships/notesMaster" Target="/ppt/notesMasters/notesMaster1.xml" Id="Rb75e4ff2ba2d43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30acdc978a48dc" /><Relationship Type="http://schemas.openxmlformats.org/officeDocument/2006/relationships/notesMaster" Target="/ppt/notesMasters/notesMaster1.xml" Id="R6c053cc7177743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The formal paper title is: Do Language and Satisfaction Signals Improve One-Month-Ahead Prediction of Municipal Service Delays and Repeat Requests? Evidence from NYC 311. Original assigned project title is retained for the course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Environment version verified locally. Tools are those used by this NLP project; no simulator is required. Dependency declarations: requirements.txt and requirements-lock.txt. Test count is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Paper sections 3.2 and 3.5. Sources are publicly accessible NYC Open Data, subject to NYC Open Data terms and source privacy restrictions; do not claim a specific permissive licence. The full service extract contains 20 selected categories and five mapped boroughs. Missing or invalid dates, boroughs and Likert values are checked. Public citizen comments are suppressed. Forecast split differs from the separate 2023/2024/2025 ABSA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Paper sections 3.1 to 3.5. Primary structured features are service, borough, log request volume and month sine/cosine. No prior outcome is included as a learned model feature; last-value outcome persistence is a separate benchmark. RSAT resolution_description and dissatisfaction_reason are paired fields in the same survey row. They are not created by a direct 311-ticket join. First-year text grouping leaves 1,647 deduplicated text-label examples (1,325 /149 /173) with zero text overlap. Frozen TF-IDF is applied to 311 agency narratives. LDA and BERTopic fit January-July 2023 text only. Ridge alpha=1; Random Forest 100 trees, maximum depth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Sources: paper Tables 5-10; reports/metrics/transformer_metrics.json hyperparameters.training_time_minutes. CPU training time is a single recorded run, not an average or a full-pipeline latency benchmark. VADER macro-F1 is 0.2750. ABSA scores use the common 173-example deduplicated test; all are weak, so do not claim a transformer improvement. Rate MAE is dimensionless, 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Paper Tables 6 and 8 and reports/metrics/review_corrections_results.json. Values rounded to four decimal places. All forecasts evaluated on the same 994 held-out 2024 target cells. Persistence is a forecasting benchmark, not an input to learned models. Native chart literal data are embedded in a workbook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Paper Tables 8-9 and section 4.4. p-values are from two-sided paired t-tests of per-cell absolute errors. Shared services and boroughs limit cell independence. Five seeds use the same LightGBM recipe; 2,000 bootstrap replicates use mean predictions across seeds. RMSE: delay structured 113.6251 h vs augmented 130.3318 h; repeat structured 0.0500 vs augmented 0.0494. Bootstrap interval and standard deviation are distinct uncertainty measures. Repeat interval crosses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Source: paper section 4.6 and Table 10, reports/metrics/priority_ranking_metrics.json, dashboard/app.py. Live local URL: http://localhost:8501. Ranking relevance comes from observed aggregate composite operational burden. Precision@10=0.100 means one of the ten selected cells meets the top-ten reference set, despite lift 9.94 against random selection. NDCG uses graded burden, so its higher value does not contradict low binary precision. Model evidence supports staff judgement.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Paper Discussion and Conclusion. Primary LightGBM ΔR²=-0.1264 delay and +0.0017 repeat. Last-value R²=0.8839 and 0.9469. Human annotation and external validation are future work, not completed tasks. No causal claims or individual resident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Status is based on the latest paper and project files. No journal submission receipt, acceptance email or published DOI was supplied. A repository DOI is not evidence of journal acceptance. Rubric describes a complete draft in template but not submitted as satisfactory publication evidence. Do not claim acceptance or publication. Reproducibility archive: outputs/team16_reproducibility_archive.zip.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620135f8b6432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ec0c63185645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d0dd9cfb3a4b7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fbcb00f6784a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8ef728fd5648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352636d63649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8A848F-B149-4E2E-985D-551F8AEA5FB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F30C1BA-BFCA-4BAD-BA5E-A48759230E3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861FC73-D95B-4F7F-84D2-9B967A27360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8718EF-B9D5-46BE-93B1-38255FC9D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83EE325-98FF-4E68-807D-64758242B6E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C00170-2ED1-4F1D-A4DF-F9C53140F1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B6DDC5-417C-411E-8A7F-100FFAEDD3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3A990A4-4576-44DE-BED3-E3C322C42C8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DF5FC9-A398-44D4-B9E6-0BB258C688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2AEF5F-4573-41AF-9203-084965528D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b3e2c432c248bb" /><Relationship Type="http://schemas.openxmlformats.org/officeDocument/2006/relationships/slideLayout" Target="/ppt/slideLayouts/slideLayout1.xml" Id="R4167243ec0794fbc" /><Relationship Type="http://schemas.openxmlformats.org/officeDocument/2006/relationships/slideLayout" Target="/ppt/slideLayouts/slideLayout2.xml" Id="R901937dd40db427a" /><Relationship Type="http://schemas.openxmlformats.org/officeDocument/2006/relationships/slideLayout" Target="/ppt/slideLayouts/slideLayout3.xml" Id="R413a87c71aed45de" /><Relationship Type="http://schemas.openxmlformats.org/officeDocument/2006/relationships/slideLayout" Target="/ppt/slideLayouts/slideLayout4.xml" Id="R0800c077dc424bd5" /><Relationship Type="http://schemas.openxmlformats.org/officeDocument/2006/relationships/slideLayout" Target="/ppt/slideLayouts/slideLayout5.xml" Id="R1f801b927572423f" /><Relationship Type="http://schemas.openxmlformats.org/officeDocument/2006/relationships/slideLayout" Target="/ppt/slideLayouts/slideLayout6.xml" Id="Rfba7f653784b47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67243ec0794fbc"/>
    <p:sldLayoutId xmlns:r="http://schemas.openxmlformats.org/officeDocument/2006/relationships" id="2147483650" r:id="R901937dd40db427a"/>
    <p:sldLayoutId xmlns:r="http://schemas.openxmlformats.org/officeDocument/2006/relationships" id="2147483651" r:id="R413a87c71aed45de"/>
    <p:sldLayoutId xmlns:r="http://schemas.openxmlformats.org/officeDocument/2006/relationships" id="2147483652" r:id="R0800c077dc424bd5"/>
    <p:sldLayoutId xmlns:r="http://schemas.openxmlformats.org/officeDocument/2006/relationships" id="2147483653" r:id="R1f801b927572423f"/>
    <p:sldLayoutId xmlns:r="http://schemas.openxmlformats.org/officeDocument/2006/relationships" id="2147483654" r:id="Rfba7f653784b47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912c5d47638406a" /><Relationship Type="http://schemas.openxmlformats.org/officeDocument/2006/relationships/notesSlide" Target="/ppt/notesSlides/notesSlide1.xml" Id="R7663f50c1ec045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70b7668417649c7" /><Relationship Type="http://schemas.openxmlformats.org/officeDocument/2006/relationships/notesSlide" Target="/ppt/notesSlides/notesSlide2.xml" Id="Rfdeba3657fba4a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0a8283acc8425a" /><Relationship Type="http://schemas.openxmlformats.org/officeDocument/2006/relationships/notesSlide" Target="/ppt/notesSlides/notesSlide3.xml" Id="R5d77bf9b545f49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038ac4e1f414129" /><Relationship Type="http://schemas.openxmlformats.org/officeDocument/2006/relationships/notesSlide" Target="/ppt/notesSlides/notesSlide4.xml" Id="R9d1fcdd111e945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68fdf680d664db1" /><Relationship Type="http://schemas.openxmlformats.org/officeDocument/2006/relationships/notesSlide" Target="/ppt/notesSlides/notesSlide5.xml" Id="Rdb44e3de365e40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c0bbbf1eac64ef0" /><Relationship Type="http://schemas.openxmlformats.org/officeDocument/2006/relationships/chart" Target="/ppt/slides/charts/chart1.xml" Id="R09512954556f41f9" /><Relationship Type="http://schemas.openxmlformats.org/officeDocument/2006/relationships/notesSlide" Target="/ppt/notesSlides/notesSlide6.xml" Id="R3f15fb3bcee744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c19180bc851403c" /><Relationship Type="http://schemas.openxmlformats.org/officeDocument/2006/relationships/notesSlide" Target="/ppt/notesSlides/notesSlide7.xml" Id="R193069eab64840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57d9c0481d741a7" /><Relationship Type="http://schemas.openxmlformats.org/officeDocument/2006/relationships/notesSlide" Target="/ppt/notesSlides/notesSlide8.xml" Id="R1961b7d187a64d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aafae171516482c" /><Relationship Type="http://schemas.openxmlformats.org/officeDocument/2006/relationships/notesSlide" Target="/ppt/notesSlides/notesSlide9.xml" Id="R100d173aa05e41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34dd243cd314df5" /><Relationship Type="http://schemas.openxmlformats.org/officeDocument/2006/relationships/notesSlide" Target="/ppt/notesSlides/notesSlide10.xml" Id="R473b4d5b41a8426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Previous-month baseline</c:v>
          </c:tx>
          <c:spPr>
            <a:solidFill xmlns:a="http://schemas.openxmlformats.org/drawingml/2006/main">
              <a:srgbClr val="52B788"/>
            </a:solidFill>
          </c:spPr>
          <c:invertIfNegative val="0"/>
          <c:cat>
            <c:strRef>
              <c:f>'Chart Data'!$A$2:$A$3</c:f>
              <c:strCache>
                <c:ptCount val="2"/>
                <c:pt idx="0">
                  <c:v>Resolution delay</c:v>
                </c:pt>
                <c:pt idx="1">
                  <c:v>14-day repeat rate</c:v>
                </c:pt>
              </c:strCache>
            </c:strRef>
          </c:cat>
          <c:val>
            <c:numRef>
              <c:f>'Chart Data'!$B$2:$B$3</c:f>
              <c:numCache>
                <c:formatCode>0.0</c:formatCode>
                <c:ptCount val="2"/>
                <c:pt idx="0">
                  <c:v>0.8839</c:v>
                </c:pt>
                <c:pt idx="1">
                  <c:v>0.9469</c:v>
                </c:pt>
              </c:numCache>
            </c:numRef>
          </c:val>
        </c:ser>
        <c:ser>
          <c:idx val="1"/>
          <c:order val="1"/>
          <c:tx>
            <c:v>Structured LightGBM</c:v>
          </c:tx>
          <c:spPr>
            <a:solidFill xmlns:a="http://schemas.openxmlformats.org/drawingml/2006/main">
              <a:srgbClr val="4CC9F0"/>
            </a:solidFill>
          </c:spPr>
          <c:invertIfNegative val="0"/>
          <c:cat>
            <c:strRef>
              <c:f>'Chart Data'!$C$2:$C$3</c:f>
              <c:strCache>
                <c:ptCount val="2"/>
                <c:pt idx="0">
                  <c:v>Resolution delay</c:v>
                </c:pt>
                <c:pt idx="1">
                  <c:v>14-day repeat rate</c:v>
                </c:pt>
              </c:strCache>
            </c:strRef>
          </c:cat>
          <c:val>
            <c:numRef>
              <c:f>'Chart Data'!$D$2:$D$3</c:f>
              <c:numCache>
                <c:formatCode>0.0</c:formatCode>
                <c:ptCount val="2"/>
                <c:pt idx="0">
                  <c:v>0.5995</c:v>
                </c:pt>
                <c:pt idx="1">
                  <c:v>0.9224</c:v>
                </c:pt>
              </c:numCache>
            </c:numRef>
          </c:val>
        </c:ser>
        <c:ser>
          <c:idx val="2"/>
          <c:order val="2"/>
          <c:tx>
            <c:v>Augmented LightGBM</c:v>
          </c:tx>
          <c:spPr>
            <a:solidFill xmlns:a="http://schemas.openxmlformats.org/drawingml/2006/main">
              <a:srgbClr val="F6BD60"/>
            </a:solidFill>
          </c:spPr>
          <c:invertIfNegative val="0"/>
          <c:cat>
            <c:strRef>
              <c:f>'Chart Data'!$E$2:$E$3</c:f>
              <c:strCache>
                <c:ptCount val="2"/>
                <c:pt idx="0">
                  <c:v>Resolution delay</c:v>
                </c:pt>
                <c:pt idx="1">
                  <c:v>14-day repeat rate</c:v>
                </c:pt>
              </c:strCache>
            </c:strRef>
          </c:cat>
          <c:val>
            <c:numRef>
              <c:f>'Chart Data'!$F$2:$F$3</c:f>
              <c:numCache>
                <c:formatCode>0.0</c:formatCode>
                <c:ptCount val="2"/>
                <c:pt idx="0">
                  <c:v>0.473</c:v>
                </c:pt>
                <c:pt idx="1">
                  <c:v>0.9241</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425">
                  <a:solidFill>
                    <a:srgbClr val="F0F6FC"/>
                  </a:solidFill>
                  <a:latin typeface="Aptos"/>
                  <a:ea typeface="Aptos"/>
                  <a:cs typeface="Apto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294158"/>
            </a:solidFill>
          </a:ln>
        </c:spPr>
        <c:txPr>
          <a:bodyPr xmlns:a="http://schemas.openxmlformats.org/drawingml/2006/main" anchorCtr="1"/>
          <a:lstStyle xmlns:a="http://schemas.openxmlformats.org/drawingml/2006/main"/>
          <a:p xmlns:a="http://schemas.openxmlformats.org/drawingml/2006/main">
            <a:pPr>
              <a:defRPr sz="1425">
                <a:solidFill>
                  <a:srgbClr val="F0F6FC"/>
                </a:solidFill>
                <a:latin typeface="Aptos"/>
                <a:ea typeface="Aptos"/>
                <a:cs typeface="Aptos"/>
              </a:defRPr>
            </a:pPr>
          </a:p>
        </c:txPr>
        <c:crossAx val="48672768"/>
      </c:catAx>
      <c:valAx>
        <c:axId val="48672768"/>
        <c:scaling>
          <c:orientation val="minMax"/>
          <c:max val="1.06"/>
          <c:min val="0"/>
        </c:scaling>
        <c:delete val="0"/>
        <c:axPos val="l"/>
        <c:majorGridlines>
          <c:spPr>
            <a:ln xmlns:a="http://schemas.openxmlformats.org/drawingml/2006/main" w="9525">
              <a:solidFill>
                <a:srgbClr val="294158"/>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B8C7D6"/>
                    </a:solidFill>
                    <a:latin typeface="Aptos"/>
                    <a:ea typeface="Aptos"/>
                    <a:cs typeface="Aptos"/>
                  </a:rPr>
                  <a:t>Test R² (higher is better)</a:t>
                </a:r>
              </a:p>
            </c:rich>
          </c:tx>
          <c:overlay val="0"/>
          <c:txPr>
            <a:bodyPr xmlns:a="http://schemas.openxmlformats.org/drawingml/2006/main" anchorCtr="1"/>
            <a:lstStyle xmlns:a="http://schemas.openxmlformats.org/drawingml/2006/main"/>
            <a:p xmlns:a="http://schemas.openxmlformats.org/drawingml/2006/main">
              <a:pPr>
                <a:defRPr sz="1350">
                  <a:solidFill>
                    <a:srgbClr val="B8C7D6"/>
                  </a:solidFill>
                  <a:latin typeface="Aptos"/>
                  <a:ea typeface="Aptos"/>
                  <a:cs typeface="Apto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B8C7D6"/>
                </a:solidFill>
                <a:latin typeface="Aptos"/>
                <a:ea typeface="Aptos"/>
                <a:cs typeface="Aptos"/>
              </a:defRPr>
            </a:pPr>
          </a:p>
        </c:txPr>
        <c:crossAx val="48650112"/>
        <c:crossBetween val="between"/>
        <c:majorUnit val="0.2"/>
      </c:valAx>
      <c:spPr>
        <a:solidFill xmlns:a="http://schemas.openxmlformats.org/drawingml/2006/main">
          <a:srgbClr val="0B1220"/>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F0F6FC"/>
              </a:solidFill>
              <a:latin typeface="Aptos"/>
              <a:ea typeface="Aptos"/>
              <a:cs typeface="Aptos"/>
            </a:defRPr>
          </a:pPr>
        </a:p>
      </c:txPr>
    </c:legend>
    <c:plotVisOnly val="1"/>
  </c:chart>
  <c:spPr>
    <a:solidFill xmlns:a="http://schemas.openxmlformats.org/drawingml/2006/main">
      <a:srgbClr val="0B1220"/>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6" name="rule-1">
            <a:extLst xmlns:a="http://schemas.openxmlformats.org/drawingml/2006/main">
              <a:ext uri="{FF2B5EF4-FFF2-40B4-BE49-F238E27FC236}">
                <a16:creationId xmlns:a16="http://schemas.microsoft.com/office/drawing/2014/main" id="{F7162929-5C40-49D3-9E13-947A11AC7325}"/>
              </a:ext>
            </a:extLst>
          </p:cNvPr>
          <p:cNvSpPr>
            <a:spLocks xmlns:a="http://schemas.openxmlformats.org/drawingml/2006/main" noGrp="1"/>
          </p:cNvSpPr>
          <p:nvPr/>
        </p:nvSpPr>
        <p:spPr>
          <a:xfrm xmlns:a="http://schemas.openxmlformats.org/drawingml/2006/main">
            <a:off x="8858250" y="0"/>
            <a:ext cx="3333750" cy="6858000"/>
          </a:xfrm>
          <a:prstGeom xmlns:a="http://schemas.openxmlformats.org/drawingml/2006/main" prst="rect">
            <a:avLst/>
          </a:prstGeom>
          <a:solidFill xmlns:a="http://schemas.openxmlformats.org/drawingml/2006/main">
            <a:srgbClr val="111C2C"/>
          </a:solidFill>
          <a:ln xmlns:a="http://schemas.openxmlformats.org/drawingml/2006/main" w="0">
            <a:noFill/>
            <a:prstDash val="solid"/>
          </a:ln>
        </p:spPr>
      </p:sp>
      <p:sp>
        <p:nvSpPr>
          <p:cNvPr id="2" name="rule-2">
            <a:extLst xmlns:a="http://schemas.openxmlformats.org/drawingml/2006/main">
              <a:ext uri="{FF2B5EF4-FFF2-40B4-BE49-F238E27FC236}">
                <a16:creationId xmlns:a16="http://schemas.microsoft.com/office/drawing/2014/main" id="{D6F03D12-9864-4FE4-9AA4-CCB6D56BA48D}"/>
              </a:ext>
            </a:extLst>
          </p:cNvPr>
          <p:cNvSpPr>
            <a:spLocks xmlns:a="http://schemas.openxmlformats.org/drawingml/2006/main" noGrp="1"/>
          </p:cNvSpPr>
          <p:nvPr/>
        </p:nvSpPr>
        <p:spPr>
          <a:xfrm xmlns:a="http://schemas.openxmlformats.org/drawingml/2006/main">
            <a:off x="8763000" y="0"/>
            <a:ext cx="95250" cy="6858000"/>
          </a:xfrm>
          <a:prstGeom xmlns:a="http://schemas.openxmlformats.org/drawingml/2006/main" prst="rect">
            <a:avLst/>
          </a:prstGeom>
          <a:solidFill xmlns:a="http://schemas.openxmlformats.org/drawingml/2006/main">
            <a:srgbClr val="4CC9F0"/>
          </a:solidFill>
          <a:ln xmlns:a="http://schemas.openxmlformats.org/drawingml/2006/main" w="0">
            <a:noFill/>
            <a:prstDash val="solid"/>
          </a:ln>
        </p:spPr>
      </p:sp>
      <p:sp>
        <p:nvSpPr>
          <p:cNvPr id="3" name="rule-3">
            <a:extLst xmlns:a="http://schemas.openxmlformats.org/drawingml/2006/main">
              <a:ext uri="{FF2B5EF4-FFF2-40B4-BE49-F238E27FC236}">
                <a16:creationId xmlns:a16="http://schemas.microsoft.com/office/drawing/2014/main" id="{89FB2A5C-30CC-4A2E-AF55-C6989C0C745E}"/>
              </a:ext>
            </a:extLst>
          </p:cNvPr>
          <p:cNvSpPr>
            <a:spLocks xmlns:a="http://schemas.openxmlformats.org/drawingml/2006/main" noGrp="1"/>
          </p:cNvSpPr>
          <p:nvPr/>
        </p:nvSpPr>
        <p:spPr>
          <a:xfrm xmlns:a="http://schemas.openxmlformats.org/drawingml/2006/main">
            <a:off x="0" y="0"/>
            <a:ext cx="8858250" cy="114300"/>
          </a:xfrm>
          <a:prstGeom xmlns:a="http://schemas.openxmlformats.org/drawingml/2006/main" prst="rect">
            <a:avLst/>
          </a:prstGeom>
          <a:solidFill xmlns:a="http://schemas.openxmlformats.org/drawingml/2006/main">
            <a:srgbClr val="4CC9F0"/>
          </a:solidFill>
          <a:ln xmlns:a="http://schemas.openxmlformats.org/drawingml/2006/main" w="0">
            <a:noFill/>
            <a:prstDash val="solid"/>
          </a:ln>
        </p:spPr>
      </p:sp>
      <p:sp>
        <p:nvSpPr>
          <p:cNvPr id="4" name="text-4">
            <a:extLst xmlns:a="http://schemas.openxmlformats.org/drawingml/2006/main">
              <a:ext uri="{FF2B5EF4-FFF2-40B4-BE49-F238E27FC236}">
                <a16:creationId xmlns:a16="http://schemas.microsoft.com/office/drawing/2014/main" id="{9F8D8C74-7287-42A1-8DD1-046335DD066B}"/>
              </a:ext>
            </a:extLst>
          </p:cNvPr>
          <p:cNvSpPr>
            <a:spLocks xmlns:a="http://schemas.openxmlformats.org/drawingml/2006/main" noGrp="1"/>
          </p:cNvSpPr>
          <p:nvPr/>
        </p:nvSpPr>
        <p:spPr>
          <a:xfrm xmlns:a="http://schemas.openxmlformats.org/drawingml/2006/main">
            <a:off x="685800" y="619125"/>
            <a:ext cx="752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4CC9F0"/>
                </a:solidFill>
              </a:defRPr>
            </a:defPPr>
            <a:lvl1pPr>
              <a:defRPr sz="1275" b="1">
                <a:solidFill>
                  <a:srgbClr val="4CC9F0"/>
                </a:solidFill>
              </a:defRPr>
            </a:lvl1pPr>
            <a:lvl2pPr>
              <a:defRPr sz="1275" b="1">
                <a:solidFill>
                  <a:srgbClr val="4CC9F0"/>
                </a:solidFill>
              </a:defRPr>
            </a:lvl2pPr>
            <a:lvl3pPr>
              <a:defRPr sz="1275" b="1">
                <a:solidFill>
                  <a:srgbClr val="4CC9F0"/>
                </a:solidFill>
              </a:defRPr>
            </a:lvl3pPr>
            <a:lvl4pPr>
              <a:defRPr sz="1275" b="1">
                <a:solidFill>
                  <a:srgbClr val="4CC9F0"/>
                </a:solidFill>
              </a:defRPr>
            </a:lvl4pPr>
            <a:lvl5pPr>
              <a:defRPr sz="1275" b="1">
                <a:solidFill>
                  <a:srgbClr val="4CC9F0"/>
                </a:solidFill>
              </a:defRPr>
            </a:lvl5pPr>
            <a:lvl6pPr>
              <a:defRPr sz="1275" b="1">
                <a:solidFill>
                  <a:srgbClr val="4CC9F0"/>
                </a:solidFill>
              </a:defRPr>
            </a:lvl6pPr>
            <a:lvl7pPr>
              <a:defRPr sz="1275" b="1">
                <a:solidFill>
                  <a:srgbClr val="4CC9F0"/>
                </a:solidFill>
              </a:defRPr>
            </a:lvl7pPr>
            <a:lvl8pPr>
              <a:defRPr sz="1275" b="1">
                <a:solidFill>
                  <a:srgbClr val="4CC9F0"/>
                </a:solidFill>
              </a:defRPr>
            </a:lvl8pPr>
            <a:lvl9pPr>
              <a:defRPr sz="1275" b="1">
                <a:solidFill>
                  <a:srgbClr val="4CC9F0"/>
                </a:solidFill>
              </a:defRPr>
            </a:lvl9pPr>
          </a:lstStyle>
          <a:p xmlns:a="http://schemas.openxmlformats.org/drawingml/2006/main">
            <a:pPr>
              <a:defRPr sz="1275" b="1">
                <a:solidFill>
                  <a:srgbClr val="4CC9F0"/>
                </a:solidFill>
              </a:defRPr>
            </a:pPr>
            <a:r>
              <a:rPr sz="1275" b="1">
                <a:solidFill>
                  <a:srgbClr val="4CC9F0"/>
                </a:solidFill>
              </a:rPr>
              <a:t>BCSE316L  DESIGN OF SMART CITIES</a:t>
            </a:r>
          </a:p>
        </p:txBody>
      </p:sp>
      <p:sp>
        <p:nvSpPr>
          <p:cNvPr id="5" name="text-5">
            <a:extLst xmlns:a="http://schemas.openxmlformats.org/drawingml/2006/main">
              <a:ext uri="{FF2B5EF4-FFF2-40B4-BE49-F238E27FC236}">
                <a16:creationId xmlns:a16="http://schemas.microsoft.com/office/drawing/2014/main" id="{43AD59CF-6E1E-4241-997B-B93017F1E03F}"/>
              </a:ext>
            </a:extLst>
          </p:cNvPr>
          <p:cNvSpPr>
            <a:spLocks xmlns:a="http://schemas.openxmlformats.org/drawingml/2006/main" noGrp="1"/>
          </p:cNvSpPr>
          <p:nvPr/>
        </p:nvSpPr>
        <p:spPr>
          <a:xfrm xmlns:a="http://schemas.openxmlformats.org/drawingml/2006/main">
            <a:off x="685800" y="1457325"/>
            <a:ext cx="7715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1">
                <a:solidFill>
                  <a:srgbClr val="F0F6FC"/>
                </a:solidFill>
              </a:defRPr>
            </a:defPPr>
            <a:lvl1pPr>
              <a:defRPr sz="3675" b="1">
                <a:solidFill>
                  <a:srgbClr val="F0F6FC"/>
                </a:solidFill>
              </a:defRPr>
            </a:lvl1pPr>
            <a:lvl2pPr>
              <a:defRPr sz="3675" b="1">
                <a:solidFill>
                  <a:srgbClr val="F0F6FC"/>
                </a:solidFill>
              </a:defRPr>
            </a:lvl2pPr>
            <a:lvl3pPr>
              <a:defRPr sz="3675" b="1">
                <a:solidFill>
                  <a:srgbClr val="F0F6FC"/>
                </a:solidFill>
              </a:defRPr>
            </a:lvl3pPr>
            <a:lvl4pPr>
              <a:defRPr sz="3675" b="1">
                <a:solidFill>
                  <a:srgbClr val="F0F6FC"/>
                </a:solidFill>
              </a:defRPr>
            </a:lvl4pPr>
            <a:lvl5pPr>
              <a:defRPr sz="3675" b="1">
                <a:solidFill>
                  <a:srgbClr val="F0F6FC"/>
                </a:solidFill>
              </a:defRPr>
            </a:lvl5pPr>
            <a:lvl6pPr>
              <a:defRPr sz="3675" b="1">
                <a:solidFill>
                  <a:srgbClr val="F0F6FC"/>
                </a:solidFill>
              </a:defRPr>
            </a:lvl6pPr>
            <a:lvl7pPr>
              <a:defRPr sz="3675" b="1">
                <a:solidFill>
                  <a:srgbClr val="F0F6FC"/>
                </a:solidFill>
              </a:defRPr>
            </a:lvl7pPr>
            <a:lvl8pPr>
              <a:defRPr sz="3675" b="1">
                <a:solidFill>
                  <a:srgbClr val="F0F6FC"/>
                </a:solidFill>
              </a:defRPr>
            </a:lvl8pPr>
            <a:lvl9pPr>
              <a:defRPr sz="3675" b="1">
                <a:solidFill>
                  <a:srgbClr val="F0F6FC"/>
                </a:solidFill>
              </a:defRPr>
            </a:lvl9pPr>
          </a:lstStyle>
          <a:p xmlns:a="http://schemas.openxmlformats.org/drawingml/2006/main">
            <a:pPr>
              <a:defRPr sz="3675" b="1">
                <a:solidFill>
                  <a:srgbClr val="F0F6FC"/>
                </a:solidFill>
              </a:defRPr>
            </a:pPr>
            <a:r>
              <a:rPr sz="3675" b="1">
                <a:solidFill>
                  <a:srgbClr val="F0F6FC"/>
                </a:solidFill>
              </a:rPr>
              <a:t>Citizen Sentiment Analysis</a:t>
            </a:r>
          </a:p>
          <a:p xmlns:a="http://schemas.openxmlformats.org/drawingml/2006/main">
            <a:pPr>
              <a:defRPr sz="3675" b="1">
                <a:solidFill>
                  <a:srgbClr val="F0F6FC"/>
                </a:solidFill>
              </a:defRPr>
            </a:pPr>
            <a:r>
              <a:rPr sz="3675" b="1">
                <a:solidFill>
                  <a:srgbClr val="F0F6FC"/>
                </a:solidFill>
              </a:rPr>
              <a:t>of Municipal Services</a:t>
            </a:r>
          </a:p>
          <a:p xmlns:a="http://schemas.openxmlformats.org/drawingml/2006/main">
            <a:pPr>
              <a:defRPr sz="3675" b="1">
                <a:solidFill>
                  <a:srgbClr val="F0F6FC"/>
                </a:solidFill>
              </a:defRPr>
            </a:pPr>
            <a:r>
              <a:rPr sz="3675" b="1">
                <a:solidFill>
                  <a:srgbClr val="F0F6FC"/>
                </a:solidFill>
              </a:rPr>
              <a:t>Using Transformer-Based NLP</a:t>
            </a:r>
          </a:p>
        </p:txBody>
      </p:sp>
      <p:sp>
        <p:nvSpPr>
          <p:cNvPr id="6" name="text-6">
            <a:extLst xmlns:a="http://schemas.openxmlformats.org/drawingml/2006/main">
              <a:ext uri="{FF2B5EF4-FFF2-40B4-BE49-F238E27FC236}">
                <a16:creationId xmlns:a16="http://schemas.microsoft.com/office/drawing/2014/main" id="{3973E59D-1BB2-43E7-AE8C-13FD4E2971CD}"/>
              </a:ext>
            </a:extLst>
          </p:cNvPr>
          <p:cNvSpPr>
            <a:spLocks xmlns:a="http://schemas.openxmlformats.org/drawingml/2006/main" noGrp="1"/>
          </p:cNvSpPr>
          <p:nvPr/>
        </p:nvSpPr>
        <p:spPr>
          <a:xfrm xmlns:a="http://schemas.openxmlformats.org/drawingml/2006/main">
            <a:off x="685800" y="3790950"/>
            <a:ext cx="7620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B8C7D6"/>
                </a:solidFill>
              </a:defRPr>
            </a:defPPr>
            <a:lvl1pPr>
              <a:defRPr sz="2325" b="0">
                <a:solidFill>
                  <a:srgbClr val="B8C7D6"/>
                </a:solidFill>
              </a:defRPr>
            </a:lvl1pPr>
            <a:lvl2pPr>
              <a:defRPr sz="2325" b="0">
                <a:solidFill>
                  <a:srgbClr val="B8C7D6"/>
                </a:solidFill>
              </a:defRPr>
            </a:lvl2pPr>
            <a:lvl3pPr>
              <a:defRPr sz="2325" b="0">
                <a:solidFill>
                  <a:srgbClr val="B8C7D6"/>
                </a:solidFill>
              </a:defRPr>
            </a:lvl3pPr>
            <a:lvl4pPr>
              <a:defRPr sz="2325" b="0">
                <a:solidFill>
                  <a:srgbClr val="B8C7D6"/>
                </a:solidFill>
              </a:defRPr>
            </a:lvl4pPr>
            <a:lvl5pPr>
              <a:defRPr sz="2325" b="0">
                <a:solidFill>
                  <a:srgbClr val="B8C7D6"/>
                </a:solidFill>
              </a:defRPr>
            </a:lvl5pPr>
            <a:lvl6pPr>
              <a:defRPr sz="2325" b="0">
                <a:solidFill>
                  <a:srgbClr val="B8C7D6"/>
                </a:solidFill>
              </a:defRPr>
            </a:lvl6pPr>
            <a:lvl7pPr>
              <a:defRPr sz="2325" b="0">
                <a:solidFill>
                  <a:srgbClr val="B8C7D6"/>
                </a:solidFill>
              </a:defRPr>
            </a:lvl7pPr>
            <a:lvl8pPr>
              <a:defRPr sz="2325" b="0">
                <a:solidFill>
                  <a:srgbClr val="B8C7D6"/>
                </a:solidFill>
              </a:defRPr>
            </a:lvl8pPr>
            <a:lvl9pPr>
              <a:defRPr sz="2325" b="0">
                <a:solidFill>
                  <a:srgbClr val="B8C7D6"/>
                </a:solidFill>
              </a:defRPr>
            </a:lvl9pPr>
          </a:lstStyle>
          <a:p xmlns:a="http://schemas.openxmlformats.org/drawingml/2006/main">
            <a:pPr>
              <a:defRPr sz="2325" b="0">
                <a:solidFill>
                  <a:srgbClr val="B8C7D6"/>
                </a:solidFill>
              </a:defRPr>
            </a:pPr>
            <a:r>
              <a:rPr sz="2325" b="0">
                <a:solidFill>
                  <a:srgbClr val="B8C7D6"/>
                </a:solidFill>
              </a:rPr>
              <a:t>Review 2 / Final Review</a:t>
            </a:r>
          </a:p>
        </p:txBody>
      </p:sp>
      <p:sp>
        <p:nvSpPr>
          <p:cNvPr id="7" name="text-7">
            <a:extLst xmlns:a="http://schemas.openxmlformats.org/drawingml/2006/main">
              <a:ext uri="{FF2B5EF4-FFF2-40B4-BE49-F238E27FC236}">
                <a16:creationId xmlns:a16="http://schemas.microsoft.com/office/drawing/2014/main" id="{10489280-64B2-45A2-B828-DB334A2C124D}"/>
              </a:ext>
            </a:extLst>
          </p:cNvPr>
          <p:cNvSpPr>
            <a:spLocks xmlns:a="http://schemas.openxmlformats.org/drawingml/2006/main" noGrp="1"/>
          </p:cNvSpPr>
          <p:nvPr/>
        </p:nvSpPr>
        <p:spPr>
          <a:xfrm xmlns:a="http://schemas.openxmlformats.org/drawingml/2006/main">
            <a:off x="685800" y="443865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B8C7D6"/>
                </a:solidFill>
              </a:defRPr>
            </a:defPPr>
            <a:lvl1pPr>
              <a:defRPr sz="1650" b="0">
                <a:solidFill>
                  <a:srgbClr val="B8C7D6"/>
                </a:solidFill>
              </a:defRPr>
            </a:lvl1pPr>
            <a:lvl2pPr>
              <a:defRPr sz="1650" b="0">
                <a:solidFill>
                  <a:srgbClr val="B8C7D6"/>
                </a:solidFill>
              </a:defRPr>
            </a:lvl2pPr>
            <a:lvl3pPr>
              <a:defRPr sz="1650" b="0">
                <a:solidFill>
                  <a:srgbClr val="B8C7D6"/>
                </a:solidFill>
              </a:defRPr>
            </a:lvl3pPr>
            <a:lvl4pPr>
              <a:defRPr sz="1650" b="0">
                <a:solidFill>
                  <a:srgbClr val="B8C7D6"/>
                </a:solidFill>
              </a:defRPr>
            </a:lvl4pPr>
            <a:lvl5pPr>
              <a:defRPr sz="1650" b="0">
                <a:solidFill>
                  <a:srgbClr val="B8C7D6"/>
                </a:solidFill>
              </a:defRPr>
            </a:lvl5pPr>
            <a:lvl6pPr>
              <a:defRPr sz="1650" b="0">
                <a:solidFill>
                  <a:srgbClr val="B8C7D6"/>
                </a:solidFill>
              </a:defRPr>
            </a:lvl6pPr>
            <a:lvl7pPr>
              <a:defRPr sz="1650" b="0">
                <a:solidFill>
                  <a:srgbClr val="B8C7D6"/>
                </a:solidFill>
              </a:defRPr>
            </a:lvl7pPr>
            <a:lvl8pPr>
              <a:defRPr sz="1650" b="0">
                <a:solidFill>
                  <a:srgbClr val="B8C7D6"/>
                </a:solidFill>
              </a:defRPr>
            </a:lvl8pPr>
            <a:lvl9pPr>
              <a:defRPr sz="1650" b="0">
                <a:solidFill>
                  <a:srgbClr val="B8C7D6"/>
                </a:solidFill>
              </a:defRPr>
            </a:lvl9pPr>
          </a:lstStyle>
          <a:p xmlns:a="http://schemas.openxmlformats.org/drawingml/2006/main">
            <a:pPr>
              <a:defRPr sz="1650" b="0">
                <a:solidFill>
                  <a:srgbClr val="B8C7D6"/>
                </a:solidFill>
              </a:defRPr>
            </a:pPr>
            <a:r>
              <a:rPr sz="1650" b="0">
                <a:solidFill>
                  <a:srgbClr val="B8C7D6"/>
                </a:solidFill>
              </a:rPr>
              <a:t>Vellore Institute of Technology, Vellore</a:t>
            </a:r>
          </a:p>
          <a:p xmlns:a="http://schemas.openxmlformats.org/drawingml/2006/main">
            <a:pPr>
              <a:defRPr sz="1650" b="0">
                <a:solidFill>
                  <a:srgbClr val="B8C7D6"/>
                </a:solidFill>
              </a:defRPr>
            </a:pPr>
            <a:r>
              <a:rPr sz="1650" b="0">
                <a:solidFill>
                  <a:srgbClr val="B8C7D6"/>
                </a:solidFill>
              </a:rPr>
              <a:t>School of Computer Science and Engineering</a:t>
            </a:r>
          </a:p>
        </p:txBody>
      </p:sp>
      <p:sp>
        <p:nvSpPr>
          <p:cNvPr id="8" name="text-8">
            <a:extLst xmlns:a="http://schemas.openxmlformats.org/drawingml/2006/main">
              <a:ext uri="{FF2B5EF4-FFF2-40B4-BE49-F238E27FC236}">
                <a16:creationId xmlns:a16="http://schemas.microsoft.com/office/drawing/2014/main" id="{71765183-9057-444B-A877-500414AB14A8}"/>
              </a:ext>
            </a:extLst>
          </p:cNvPr>
          <p:cNvSpPr>
            <a:spLocks xmlns:a="http://schemas.openxmlformats.org/drawingml/2006/main" noGrp="1"/>
          </p:cNvSpPr>
          <p:nvPr/>
        </p:nvSpPr>
        <p:spPr>
          <a:xfrm xmlns:a="http://schemas.openxmlformats.org/drawingml/2006/main">
            <a:off x="685800" y="5172075"/>
            <a:ext cx="7524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F0F6FC"/>
                </a:solidFill>
              </a:defRPr>
            </a:defPPr>
            <a:lvl1pPr>
              <a:defRPr sz="1725" b="0">
                <a:solidFill>
                  <a:srgbClr val="F0F6FC"/>
                </a:solidFill>
              </a:defRPr>
            </a:lvl1pPr>
            <a:lvl2pPr>
              <a:defRPr sz="1725" b="0">
                <a:solidFill>
                  <a:srgbClr val="F0F6FC"/>
                </a:solidFill>
              </a:defRPr>
            </a:lvl2pPr>
            <a:lvl3pPr>
              <a:defRPr sz="1725" b="0">
                <a:solidFill>
                  <a:srgbClr val="F0F6FC"/>
                </a:solidFill>
              </a:defRPr>
            </a:lvl3pPr>
            <a:lvl4pPr>
              <a:defRPr sz="1725" b="0">
                <a:solidFill>
                  <a:srgbClr val="F0F6FC"/>
                </a:solidFill>
              </a:defRPr>
            </a:lvl4pPr>
            <a:lvl5pPr>
              <a:defRPr sz="1725" b="0">
                <a:solidFill>
                  <a:srgbClr val="F0F6FC"/>
                </a:solidFill>
              </a:defRPr>
            </a:lvl5pPr>
            <a:lvl6pPr>
              <a:defRPr sz="1725" b="0">
                <a:solidFill>
                  <a:srgbClr val="F0F6FC"/>
                </a:solidFill>
              </a:defRPr>
            </a:lvl6pPr>
            <a:lvl7pPr>
              <a:defRPr sz="1725" b="0">
                <a:solidFill>
                  <a:srgbClr val="F0F6FC"/>
                </a:solidFill>
              </a:defRPr>
            </a:lvl7pPr>
            <a:lvl8pPr>
              <a:defRPr sz="1725" b="0">
                <a:solidFill>
                  <a:srgbClr val="F0F6FC"/>
                </a:solidFill>
              </a:defRPr>
            </a:lvl8pPr>
            <a:lvl9pPr>
              <a:defRPr sz="1725" b="0">
                <a:solidFill>
                  <a:srgbClr val="F0F6FC"/>
                </a:solidFill>
              </a:defRPr>
            </a:lvl9pPr>
          </a:lstStyle>
          <a:p xmlns:a="http://schemas.openxmlformats.org/drawingml/2006/main">
            <a:pPr>
              <a:defRPr sz="1725" b="0">
                <a:solidFill>
                  <a:srgbClr val="F0F6FC"/>
                </a:solidFill>
              </a:defRPr>
            </a:pPr>
            <a:r>
              <a:rPr sz="1725" b="0">
                <a:solidFill>
                  <a:srgbClr val="F0F6FC"/>
                </a:solidFill>
              </a:rPr>
              <a:t>Faculty guide: Dr. Kalaavathi B</a:t>
            </a:r>
          </a:p>
        </p:txBody>
      </p:sp>
      <p:sp>
        <p:nvSpPr>
          <p:cNvPr id="9" name="text-9">
            <a:extLst xmlns:a="http://schemas.openxmlformats.org/drawingml/2006/main">
              <a:ext uri="{FF2B5EF4-FFF2-40B4-BE49-F238E27FC236}">
                <a16:creationId xmlns:a16="http://schemas.microsoft.com/office/drawing/2014/main" id="{B924F506-C900-4F7F-A82F-DEB54C61EA2D}"/>
              </a:ext>
            </a:extLst>
          </p:cNvPr>
          <p:cNvSpPr>
            <a:spLocks xmlns:a="http://schemas.openxmlformats.org/drawingml/2006/main" noGrp="1"/>
          </p:cNvSpPr>
          <p:nvPr/>
        </p:nvSpPr>
        <p:spPr>
          <a:xfrm xmlns:a="http://schemas.openxmlformats.org/drawingml/2006/main">
            <a:off x="685800" y="5619750"/>
            <a:ext cx="7524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B8C7D6"/>
                </a:solidFill>
              </a:defRPr>
            </a:defPPr>
            <a:lvl1pPr>
              <a:defRPr sz="1575" b="0">
                <a:solidFill>
                  <a:srgbClr val="B8C7D6"/>
                </a:solidFill>
              </a:defRPr>
            </a:lvl1pPr>
            <a:lvl2pPr>
              <a:defRPr sz="1575" b="0">
                <a:solidFill>
                  <a:srgbClr val="B8C7D6"/>
                </a:solidFill>
              </a:defRPr>
            </a:lvl2pPr>
            <a:lvl3pPr>
              <a:defRPr sz="1575" b="0">
                <a:solidFill>
                  <a:srgbClr val="B8C7D6"/>
                </a:solidFill>
              </a:defRPr>
            </a:lvl3pPr>
            <a:lvl4pPr>
              <a:defRPr sz="1575" b="0">
                <a:solidFill>
                  <a:srgbClr val="B8C7D6"/>
                </a:solidFill>
              </a:defRPr>
            </a:lvl4pPr>
            <a:lvl5pPr>
              <a:defRPr sz="1575" b="0">
                <a:solidFill>
                  <a:srgbClr val="B8C7D6"/>
                </a:solidFill>
              </a:defRPr>
            </a:lvl5pPr>
            <a:lvl6pPr>
              <a:defRPr sz="1575" b="0">
                <a:solidFill>
                  <a:srgbClr val="B8C7D6"/>
                </a:solidFill>
              </a:defRPr>
            </a:lvl6pPr>
            <a:lvl7pPr>
              <a:defRPr sz="1575" b="0">
                <a:solidFill>
                  <a:srgbClr val="B8C7D6"/>
                </a:solidFill>
              </a:defRPr>
            </a:lvl7pPr>
            <a:lvl8pPr>
              <a:defRPr sz="1575" b="0">
                <a:solidFill>
                  <a:srgbClr val="B8C7D6"/>
                </a:solidFill>
              </a:defRPr>
            </a:lvl8pPr>
            <a:lvl9pPr>
              <a:defRPr sz="1575" b="0">
                <a:solidFill>
                  <a:srgbClr val="B8C7D6"/>
                </a:solidFill>
              </a:defRPr>
            </a:lvl9pPr>
          </a:lstStyle>
          <a:p xmlns:a="http://schemas.openxmlformats.org/drawingml/2006/main">
            <a:pPr>
              <a:defRPr sz="1575" b="0">
                <a:solidFill>
                  <a:srgbClr val="B8C7D6"/>
                </a:solidFill>
              </a:defRPr>
            </a:pPr>
            <a:r>
              <a:rPr sz="1575" b="0">
                <a:solidFill>
                  <a:srgbClr val="B8C7D6"/>
                </a:solidFill>
              </a:rPr>
              <a:t>Taher Panbiharwala, Sanidhya Bhandari, Chinmoy Deb</a:t>
            </a:r>
          </a:p>
        </p:txBody>
      </p:sp>
      <p:sp>
        <p:nvSpPr>
          <p:cNvPr id="10" name="text-10">
            <a:extLst xmlns:a="http://schemas.openxmlformats.org/drawingml/2006/main">
              <a:ext uri="{FF2B5EF4-FFF2-40B4-BE49-F238E27FC236}">
                <a16:creationId xmlns:a16="http://schemas.microsoft.com/office/drawing/2014/main" id="{835C9F8F-FB8D-4754-A475-30E3ECF638D5}"/>
              </a:ext>
            </a:extLst>
          </p:cNvPr>
          <p:cNvSpPr>
            <a:spLocks xmlns:a="http://schemas.openxmlformats.org/drawingml/2006/main" noGrp="1"/>
          </p:cNvSpPr>
          <p:nvPr/>
        </p:nvSpPr>
        <p:spPr>
          <a:xfrm xmlns:a="http://schemas.openxmlformats.org/drawingml/2006/main">
            <a:off x="685800" y="6105525"/>
            <a:ext cx="4286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4CC9F0"/>
                </a:solidFill>
              </a:defRPr>
            </a:defPPr>
            <a:lvl1pPr>
              <a:defRPr sz="1800" b="1">
                <a:solidFill>
                  <a:srgbClr val="4CC9F0"/>
                </a:solidFill>
              </a:defRPr>
            </a:lvl1pPr>
            <a:lvl2pPr>
              <a:defRPr sz="1800" b="1">
                <a:solidFill>
                  <a:srgbClr val="4CC9F0"/>
                </a:solidFill>
              </a:defRPr>
            </a:lvl2pPr>
            <a:lvl3pPr>
              <a:defRPr sz="1800" b="1">
                <a:solidFill>
                  <a:srgbClr val="4CC9F0"/>
                </a:solidFill>
              </a:defRPr>
            </a:lvl3pPr>
            <a:lvl4pPr>
              <a:defRPr sz="1800" b="1">
                <a:solidFill>
                  <a:srgbClr val="4CC9F0"/>
                </a:solidFill>
              </a:defRPr>
            </a:lvl4pPr>
            <a:lvl5pPr>
              <a:defRPr sz="1800" b="1">
                <a:solidFill>
                  <a:srgbClr val="4CC9F0"/>
                </a:solidFill>
              </a:defRPr>
            </a:lvl5pPr>
            <a:lvl6pPr>
              <a:defRPr sz="1800" b="1">
                <a:solidFill>
                  <a:srgbClr val="4CC9F0"/>
                </a:solidFill>
              </a:defRPr>
            </a:lvl6pPr>
            <a:lvl7pPr>
              <a:defRPr sz="1800" b="1">
                <a:solidFill>
                  <a:srgbClr val="4CC9F0"/>
                </a:solidFill>
              </a:defRPr>
            </a:lvl7pPr>
            <a:lvl8pPr>
              <a:defRPr sz="1800" b="1">
                <a:solidFill>
                  <a:srgbClr val="4CC9F0"/>
                </a:solidFill>
              </a:defRPr>
            </a:lvl8pPr>
            <a:lvl9pPr>
              <a:defRPr sz="1800" b="1">
                <a:solidFill>
                  <a:srgbClr val="4CC9F0"/>
                </a:solidFill>
              </a:defRPr>
            </a:lvl9pPr>
          </a:lstStyle>
          <a:p xmlns:a="http://schemas.openxmlformats.org/drawingml/2006/main">
            <a:pPr>
              <a:defRPr sz="1800" b="1">
                <a:solidFill>
                  <a:srgbClr val="4CC9F0"/>
                </a:solidFill>
              </a:defRPr>
            </a:pPr>
            <a:r>
              <a:rPr sz="1800" b="1">
                <a:solidFill>
                  <a:srgbClr val="4CC9F0"/>
                </a:solidFill>
              </a:rPr>
              <a:t>Team 16</a:t>
            </a:r>
          </a:p>
        </p:txBody>
      </p:sp>
      <p:sp>
        <p:nvSpPr>
          <p:cNvPr id="11" name="text-11">
            <a:extLst xmlns:a="http://schemas.openxmlformats.org/drawingml/2006/main">
              <a:ext uri="{FF2B5EF4-FFF2-40B4-BE49-F238E27FC236}">
                <a16:creationId xmlns:a16="http://schemas.microsoft.com/office/drawing/2014/main" id="{249AF2DB-BAF6-4F72-ACB9-42B503D97B66}"/>
              </a:ext>
            </a:extLst>
          </p:cNvPr>
          <p:cNvSpPr>
            <a:spLocks xmlns:a="http://schemas.openxmlformats.org/drawingml/2006/main" noGrp="1"/>
          </p:cNvSpPr>
          <p:nvPr/>
        </p:nvSpPr>
        <p:spPr>
          <a:xfrm xmlns:a="http://schemas.openxmlformats.org/drawingml/2006/main">
            <a:off x="9258300" y="1809750"/>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4CC9F0"/>
                </a:solidFill>
              </a:defRPr>
            </a:defPPr>
            <a:lvl1pPr>
              <a:defRPr sz="2925" b="1">
                <a:solidFill>
                  <a:srgbClr val="4CC9F0"/>
                </a:solidFill>
              </a:defRPr>
            </a:lvl1pPr>
            <a:lvl2pPr>
              <a:defRPr sz="2925" b="1">
                <a:solidFill>
                  <a:srgbClr val="4CC9F0"/>
                </a:solidFill>
              </a:defRPr>
            </a:lvl2pPr>
            <a:lvl3pPr>
              <a:defRPr sz="2925" b="1">
                <a:solidFill>
                  <a:srgbClr val="4CC9F0"/>
                </a:solidFill>
              </a:defRPr>
            </a:lvl3pPr>
            <a:lvl4pPr>
              <a:defRPr sz="2925" b="1">
                <a:solidFill>
                  <a:srgbClr val="4CC9F0"/>
                </a:solidFill>
              </a:defRPr>
            </a:lvl4pPr>
            <a:lvl5pPr>
              <a:defRPr sz="2925" b="1">
                <a:solidFill>
                  <a:srgbClr val="4CC9F0"/>
                </a:solidFill>
              </a:defRPr>
            </a:lvl5pPr>
            <a:lvl6pPr>
              <a:defRPr sz="2925" b="1">
                <a:solidFill>
                  <a:srgbClr val="4CC9F0"/>
                </a:solidFill>
              </a:defRPr>
            </a:lvl6pPr>
            <a:lvl7pPr>
              <a:defRPr sz="2925" b="1">
                <a:solidFill>
                  <a:srgbClr val="4CC9F0"/>
                </a:solidFill>
              </a:defRPr>
            </a:lvl7pPr>
            <a:lvl8pPr>
              <a:defRPr sz="2925" b="1">
                <a:solidFill>
                  <a:srgbClr val="4CC9F0"/>
                </a:solidFill>
              </a:defRPr>
            </a:lvl8pPr>
            <a:lvl9pPr>
              <a:defRPr sz="2925" b="1">
                <a:solidFill>
                  <a:srgbClr val="4CC9F0"/>
                </a:solidFill>
              </a:defRPr>
            </a:lvl9pPr>
          </a:lstStyle>
          <a:p xmlns:a="http://schemas.openxmlformats.org/drawingml/2006/main">
            <a:pPr>
              <a:defRPr sz="2925" b="1">
                <a:solidFill>
                  <a:srgbClr val="4CC9F0"/>
                </a:solidFill>
              </a:defRPr>
            </a:pPr>
            <a:r>
              <a:rPr sz="2925" b="1">
                <a:solidFill>
                  <a:srgbClr val="4CC9F0"/>
                </a:solidFill>
              </a:rPr>
              <a:t>4,204,783</a:t>
            </a:r>
          </a:p>
        </p:txBody>
      </p:sp>
      <p:sp>
        <p:nvSpPr>
          <p:cNvPr id="12" name="text-12">
            <a:extLst xmlns:a="http://schemas.openxmlformats.org/drawingml/2006/main">
              <a:ext uri="{FF2B5EF4-FFF2-40B4-BE49-F238E27FC236}">
                <a16:creationId xmlns:a16="http://schemas.microsoft.com/office/drawing/2014/main" id="{56084CCD-FB83-42D8-B26F-400014E4472F}"/>
              </a:ext>
            </a:extLst>
          </p:cNvPr>
          <p:cNvSpPr>
            <a:spLocks xmlns:a="http://schemas.openxmlformats.org/drawingml/2006/main" noGrp="1"/>
          </p:cNvSpPr>
          <p:nvPr/>
        </p:nvSpPr>
        <p:spPr>
          <a:xfrm xmlns:a="http://schemas.openxmlformats.org/drawingml/2006/main">
            <a:off x="9258300" y="24003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B8C7D6"/>
                </a:solidFill>
              </a:defRPr>
            </a:defPPr>
            <a:lvl1pPr>
              <a:defRPr sz="1725" b="0">
                <a:solidFill>
                  <a:srgbClr val="B8C7D6"/>
                </a:solidFill>
              </a:defRPr>
            </a:lvl1pPr>
            <a:lvl2pPr>
              <a:defRPr sz="1725" b="0">
                <a:solidFill>
                  <a:srgbClr val="B8C7D6"/>
                </a:solidFill>
              </a:defRPr>
            </a:lvl2pPr>
            <a:lvl3pPr>
              <a:defRPr sz="1725" b="0">
                <a:solidFill>
                  <a:srgbClr val="B8C7D6"/>
                </a:solidFill>
              </a:defRPr>
            </a:lvl3pPr>
            <a:lvl4pPr>
              <a:defRPr sz="1725" b="0">
                <a:solidFill>
                  <a:srgbClr val="B8C7D6"/>
                </a:solidFill>
              </a:defRPr>
            </a:lvl4pPr>
            <a:lvl5pPr>
              <a:defRPr sz="1725" b="0">
                <a:solidFill>
                  <a:srgbClr val="B8C7D6"/>
                </a:solidFill>
              </a:defRPr>
            </a:lvl5pPr>
            <a:lvl6pPr>
              <a:defRPr sz="1725" b="0">
                <a:solidFill>
                  <a:srgbClr val="B8C7D6"/>
                </a:solidFill>
              </a:defRPr>
            </a:lvl6pPr>
            <a:lvl7pPr>
              <a:defRPr sz="1725" b="0">
                <a:solidFill>
                  <a:srgbClr val="B8C7D6"/>
                </a:solidFill>
              </a:defRPr>
            </a:lvl7pPr>
            <a:lvl8pPr>
              <a:defRPr sz="1725" b="0">
                <a:solidFill>
                  <a:srgbClr val="B8C7D6"/>
                </a:solidFill>
              </a:defRPr>
            </a:lvl8pPr>
            <a:lvl9pPr>
              <a:defRPr sz="1725" b="0">
                <a:solidFill>
                  <a:srgbClr val="B8C7D6"/>
                </a:solidFill>
              </a:defRPr>
            </a:lvl9pPr>
          </a:lstStyle>
          <a:p xmlns:a="http://schemas.openxmlformats.org/drawingml/2006/main">
            <a:pPr>
              <a:defRPr sz="1725" b="0">
                <a:solidFill>
                  <a:srgbClr val="B8C7D6"/>
                </a:solidFill>
              </a:defRPr>
            </a:pPr>
            <a:r>
              <a:rPr sz="1725" b="0">
                <a:solidFill>
                  <a:srgbClr val="B8C7D6"/>
                </a:solidFill>
              </a:rPr>
              <a:t>NYC 311 requests</a:t>
            </a:r>
          </a:p>
        </p:txBody>
      </p:sp>
      <p:sp>
        <p:nvSpPr>
          <p:cNvPr id="13" name="text-13">
            <a:extLst xmlns:a="http://schemas.openxmlformats.org/drawingml/2006/main">
              <a:ext uri="{FF2B5EF4-FFF2-40B4-BE49-F238E27FC236}">
                <a16:creationId xmlns:a16="http://schemas.microsoft.com/office/drawing/2014/main" id="{5CFCCD26-6BB1-4C09-8572-466C7BA78C1F}"/>
              </a:ext>
            </a:extLst>
          </p:cNvPr>
          <p:cNvSpPr>
            <a:spLocks xmlns:a="http://schemas.openxmlformats.org/drawingml/2006/main" noGrp="1"/>
          </p:cNvSpPr>
          <p:nvPr/>
        </p:nvSpPr>
        <p:spPr>
          <a:xfrm xmlns:a="http://schemas.openxmlformats.org/drawingml/2006/main">
            <a:off x="9258300" y="3238500"/>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F6BD60"/>
                </a:solidFill>
              </a:defRPr>
            </a:defPPr>
            <a:lvl1pPr>
              <a:defRPr sz="2925" b="1">
                <a:solidFill>
                  <a:srgbClr val="F6BD60"/>
                </a:solidFill>
              </a:defRPr>
            </a:lvl1pPr>
            <a:lvl2pPr>
              <a:defRPr sz="2925" b="1">
                <a:solidFill>
                  <a:srgbClr val="F6BD60"/>
                </a:solidFill>
              </a:defRPr>
            </a:lvl2pPr>
            <a:lvl3pPr>
              <a:defRPr sz="2925" b="1">
                <a:solidFill>
                  <a:srgbClr val="F6BD60"/>
                </a:solidFill>
              </a:defRPr>
            </a:lvl3pPr>
            <a:lvl4pPr>
              <a:defRPr sz="2925" b="1">
                <a:solidFill>
                  <a:srgbClr val="F6BD60"/>
                </a:solidFill>
              </a:defRPr>
            </a:lvl4pPr>
            <a:lvl5pPr>
              <a:defRPr sz="2925" b="1">
                <a:solidFill>
                  <a:srgbClr val="F6BD60"/>
                </a:solidFill>
              </a:defRPr>
            </a:lvl5pPr>
            <a:lvl6pPr>
              <a:defRPr sz="2925" b="1">
                <a:solidFill>
                  <a:srgbClr val="F6BD60"/>
                </a:solidFill>
              </a:defRPr>
            </a:lvl6pPr>
            <a:lvl7pPr>
              <a:defRPr sz="2925" b="1">
                <a:solidFill>
                  <a:srgbClr val="F6BD60"/>
                </a:solidFill>
              </a:defRPr>
            </a:lvl7pPr>
            <a:lvl8pPr>
              <a:defRPr sz="2925" b="1">
                <a:solidFill>
                  <a:srgbClr val="F6BD60"/>
                </a:solidFill>
              </a:defRPr>
            </a:lvl8pPr>
            <a:lvl9pPr>
              <a:defRPr sz="2925" b="1">
                <a:solidFill>
                  <a:srgbClr val="F6BD60"/>
                </a:solidFill>
              </a:defRPr>
            </a:lvl9pPr>
          </a:lstStyle>
          <a:p xmlns:a="http://schemas.openxmlformats.org/drawingml/2006/main">
            <a:pPr>
              <a:defRPr sz="2925" b="1">
                <a:solidFill>
                  <a:srgbClr val="F6BD60"/>
                </a:solidFill>
              </a:defRPr>
            </a:pPr>
            <a:r>
              <a:rPr sz="2925" b="1">
                <a:solidFill>
                  <a:srgbClr val="F6BD60"/>
                </a:solidFill>
              </a:rPr>
              <a:t>406,581</a:t>
            </a:r>
          </a:p>
        </p:txBody>
      </p:sp>
      <p:sp>
        <p:nvSpPr>
          <p:cNvPr id="14" name="text-14">
            <a:extLst xmlns:a="http://schemas.openxmlformats.org/drawingml/2006/main">
              <a:ext uri="{FF2B5EF4-FFF2-40B4-BE49-F238E27FC236}">
                <a16:creationId xmlns:a16="http://schemas.microsoft.com/office/drawing/2014/main" id="{1C486F15-B24A-4C7E-8243-97651729F5A5}"/>
              </a:ext>
            </a:extLst>
          </p:cNvPr>
          <p:cNvSpPr>
            <a:spLocks xmlns:a="http://schemas.openxmlformats.org/drawingml/2006/main" noGrp="1"/>
          </p:cNvSpPr>
          <p:nvPr/>
        </p:nvSpPr>
        <p:spPr>
          <a:xfrm xmlns:a="http://schemas.openxmlformats.org/drawingml/2006/main">
            <a:off x="9258300" y="38290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B8C7D6"/>
                </a:solidFill>
              </a:defRPr>
            </a:defPPr>
            <a:lvl1pPr>
              <a:defRPr sz="1725" b="0">
                <a:solidFill>
                  <a:srgbClr val="B8C7D6"/>
                </a:solidFill>
              </a:defRPr>
            </a:lvl1pPr>
            <a:lvl2pPr>
              <a:defRPr sz="1725" b="0">
                <a:solidFill>
                  <a:srgbClr val="B8C7D6"/>
                </a:solidFill>
              </a:defRPr>
            </a:lvl2pPr>
            <a:lvl3pPr>
              <a:defRPr sz="1725" b="0">
                <a:solidFill>
                  <a:srgbClr val="B8C7D6"/>
                </a:solidFill>
              </a:defRPr>
            </a:lvl3pPr>
            <a:lvl4pPr>
              <a:defRPr sz="1725" b="0">
                <a:solidFill>
                  <a:srgbClr val="B8C7D6"/>
                </a:solidFill>
              </a:defRPr>
            </a:lvl4pPr>
            <a:lvl5pPr>
              <a:defRPr sz="1725" b="0">
                <a:solidFill>
                  <a:srgbClr val="B8C7D6"/>
                </a:solidFill>
              </a:defRPr>
            </a:lvl5pPr>
            <a:lvl6pPr>
              <a:defRPr sz="1725" b="0">
                <a:solidFill>
                  <a:srgbClr val="B8C7D6"/>
                </a:solidFill>
              </a:defRPr>
            </a:lvl6pPr>
            <a:lvl7pPr>
              <a:defRPr sz="1725" b="0">
                <a:solidFill>
                  <a:srgbClr val="B8C7D6"/>
                </a:solidFill>
              </a:defRPr>
            </a:lvl7pPr>
            <a:lvl8pPr>
              <a:defRPr sz="1725" b="0">
                <a:solidFill>
                  <a:srgbClr val="B8C7D6"/>
                </a:solidFill>
              </a:defRPr>
            </a:lvl8pPr>
            <a:lvl9pPr>
              <a:defRPr sz="1725" b="0">
                <a:solidFill>
                  <a:srgbClr val="B8C7D6"/>
                </a:solidFill>
              </a:defRPr>
            </a:lvl9pPr>
          </a:lstStyle>
          <a:p xmlns:a="http://schemas.openxmlformats.org/drawingml/2006/main">
            <a:pPr>
              <a:defRPr sz="1725" b="0">
                <a:solidFill>
                  <a:srgbClr val="B8C7D6"/>
                </a:solidFill>
              </a:defRPr>
            </a:pPr>
            <a:r>
              <a:rPr sz="1725" b="0">
                <a:solidFill>
                  <a:srgbClr val="B8C7D6"/>
                </a:solidFill>
              </a:rPr>
              <a:t>RSAT responses</a:t>
            </a:r>
          </a:p>
        </p:txBody>
      </p:sp>
      <p:sp>
        <p:nvSpPr>
          <p:cNvPr id="15" name="text-15">
            <a:extLst xmlns:a="http://schemas.openxmlformats.org/drawingml/2006/main">
              <a:ext uri="{FF2B5EF4-FFF2-40B4-BE49-F238E27FC236}">
                <a16:creationId xmlns:a16="http://schemas.microsoft.com/office/drawing/2014/main" id="{204018E6-D7CB-4BCE-844A-4D292DE6CAFB}"/>
              </a:ext>
            </a:extLst>
          </p:cNvPr>
          <p:cNvSpPr>
            <a:spLocks xmlns:a="http://schemas.openxmlformats.org/drawingml/2006/main" noGrp="1"/>
          </p:cNvSpPr>
          <p:nvPr/>
        </p:nvSpPr>
        <p:spPr>
          <a:xfrm xmlns:a="http://schemas.openxmlformats.org/drawingml/2006/main">
            <a:off x="9258300" y="4924425"/>
            <a:ext cx="2571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F0F6FC"/>
                </a:solidFill>
              </a:defRPr>
            </a:defPPr>
            <a:lvl1pPr>
              <a:defRPr sz="2025" b="1">
                <a:solidFill>
                  <a:srgbClr val="F0F6FC"/>
                </a:solidFill>
              </a:defRPr>
            </a:lvl1pPr>
            <a:lvl2pPr>
              <a:defRPr sz="2025" b="1">
                <a:solidFill>
                  <a:srgbClr val="F0F6FC"/>
                </a:solidFill>
              </a:defRPr>
            </a:lvl2pPr>
            <a:lvl3pPr>
              <a:defRPr sz="2025" b="1">
                <a:solidFill>
                  <a:srgbClr val="F0F6FC"/>
                </a:solidFill>
              </a:defRPr>
            </a:lvl3pPr>
            <a:lvl4pPr>
              <a:defRPr sz="2025" b="1">
                <a:solidFill>
                  <a:srgbClr val="F0F6FC"/>
                </a:solidFill>
              </a:defRPr>
            </a:lvl4pPr>
            <a:lvl5pPr>
              <a:defRPr sz="2025" b="1">
                <a:solidFill>
                  <a:srgbClr val="F0F6FC"/>
                </a:solidFill>
              </a:defRPr>
            </a:lvl5pPr>
            <a:lvl6pPr>
              <a:defRPr sz="2025" b="1">
                <a:solidFill>
                  <a:srgbClr val="F0F6FC"/>
                </a:solidFill>
              </a:defRPr>
            </a:lvl6pPr>
            <a:lvl7pPr>
              <a:defRPr sz="2025" b="1">
                <a:solidFill>
                  <a:srgbClr val="F0F6FC"/>
                </a:solidFill>
              </a:defRPr>
            </a:lvl7pPr>
            <a:lvl8pPr>
              <a:defRPr sz="2025" b="1">
                <a:solidFill>
                  <a:srgbClr val="F0F6FC"/>
                </a:solidFill>
              </a:defRPr>
            </a:lvl8pPr>
            <a:lvl9pPr>
              <a:defRPr sz="2025" b="1">
                <a:solidFill>
                  <a:srgbClr val="F0F6FC"/>
                </a:solidFill>
              </a:defRPr>
            </a:lvl9pPr>
          </a:lstStyle>
          <a:p xmlns:a="http://schemas.openxmlformats.org/drawingml/2006/main">
            <a:pPr>
              <a:defRPr sz="2025" b="1">
                <a:solidFill>
                  <a:srgbClr val="F0F6FC"/>
                </a:solidFill>
              </a:defRPr>
            </a:pPr>
            <a:r>
              <a:rPr sz="2025" b="1">
                <a:solidFill>
                  <a:srgbClr val="F0F6FC"/>
                </a:solidFill>
              </a:rPr>
              <a:t>One-month-ahead</a:t>
            </a:r>
          </a:p>
          <a:p xmlns:a="http://schemas.openxmlformats.org/drawingml/2006/main">
            <a:pPr>
              <a:defRPr sz="2025" b="1">
                <a:solidFill>
                  <a:srgbClr val="F0F6FC"/>
                </a:solidFill>
              </a:defRPr>
            </a:pPr>
            <a:r>
              <a:rPr sz="2025" b="1">
                <a:solidFill>
                  <a:srgbClr val="F0F6FC"/>
                </a:solidFill>
              </a:rPr>
              <a:t>forecast evaluation</a:t>
            </a:r>
          </a:p>
        </p:txBody>
      </p:sp>
    </p:spTree>
    <p:extLst>
      <p:ext uri="{BB962C8B-B14F-4D97-AF65-F5344CB8AC3E}">
        <p14:creationId xmlns:p14="http://schemas.microsoft.com/office/powerpoint/2010/main" val="1005163438"/>
      </p:ext>
    </p:extLst>
  </p:cSld>
</p:sld>
</file>

<file path=ppt/slides/slide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5" name="text-16">
            <a:extLst xmlns:a="http://schemas.openxmlformats.org/drawingml/2006/main">
              <a:ext uri="{FF2B5EF4-FFF2-40B4-BE49-F238E27FC236}">
                <a16:creationId xmlns:a16="http://schemas.microsoft.com/office/drawing/2014/main" id="{3A6700EA-07BA-47CE-B003-985BE7EF0853}"/>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1   Simulator / tools   8 marks</a:t>
            </a:r>
          </a:p>
        </p:txBody>
      </p:sp>
      <p:sp>
        <p:nvSpPr>
          <p:cNvPr id="2" name="text-17">
            <a:extLst xmlns:a="http://schemas.openxmlformats.org/drawingml/2006/main">
              <a:ext uri="{FF2B5EF4-FFF2-40B4-BE49-F238E27FC236}">
                <a16:creationId xmlns:a16="http://schemas.microsoft.com/office/drawing/2014/main" id="{93D52993-3805-40D0-94D7-50E8E2654671}"/>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Implementation environment</a:t>
            </a:r>
          </a:p>
        </p:txBody>
      </p:sp>
      <p:sp>
        <p:nvSpPr>
          <p:cNvPr id="3" name="rule-18">
            <a:extLst xmlns:a="http://schemas.openxmlformats.org/drawingml/2006/main">
              <a:ext uri="{FF2B5EF4-FFF2-40B4-BE49-F238E27FC236}">
                <a16:creationId xmlns:a16="http://schemas.microsoft.com/office/drawing/2014/main" id="{12C8244D-F465-4DF6-9A7C-9078AB8BAA06}"/>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19">
            <a:extLst xmlns:a="http://schemas.openxmlformats.org/drawingml/2006/main">
              <a:ext uri="{FF2B5EF4-FFF2-40B4-BE49-F238E27FC236}">
                <a16:creationId xmlns:a16="http://schemas.microsoft.com/office/drawing/2014/main" id="{04698D8A-9CED-4DD8-A151-61FC0544CBD7}"/>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20">
            <a:extLst xmlns:a="http://schemas.openxmlformats.org/drawingml/2006/main">
              <a:ext uri="{FF2B5EF4-FFF2-40B4-BE49-F238E27FC236}">
                <a16:creationId xmlns:a16="http://schemas.microsoft.com/office/drawing/2014/main" id="{3628EAEE-8504-475F-9539-EC4E4F8A5D65}"/>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02 / 10</a:t>
            </a:r>
          </a:p>
        </p:txBody>
      </p:sp>
      <p:sp>
        <p:nvSpPr>
          <p:cNvPr id="6" name="text-21">
            <a:extLst xmlns:a="http://schemas.openxmlformats.org/drawingml/2006/main">
              <a:ext uri="{FF2B5EF4-FFF2-40B4-BE49-F238E27FC236}">
                <a16:creationId xmlns:a16="http://schemas.microsoft.com/office/drawing/2014/main" id="{0D8BEADE-9270-4F99-B729-29A2B37D6142}"/>
              </a:ext>
            </a:extLst>
          </p:cNvPr>
          <p:cNvSpPr>
            <a:spLocks xmlns:a="http://schemas.openxmlformats.org/drawingml/2006/main" noGrp="1"/>
          </p:cNvSpPr>
          <p:nvPr/>
        </p:nvSpPr>
        <p:spPr>
          <a:xfrm xmlns:a="http://schemas.openxmlformats.org/drawingml/2006/main">
            <a:off x="609600" y="1685925"/>
            <a:ext cx="1090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F0F6FC"/>
                </a:solidFill>
              </a:defRPr>
            </a:defPPr>
            <a:lvl1pPr>
              <a:defRPr sz="2175" b="1">
                <a:solidFill>
                  <a:srgbClr val="F0F6FC"/>
                </a:solidFill>
              </a:defRPr>
            </a:lvl1pPr>
            <a:lvl2pPr>
              <a:defRPr sz="2175" b="1">
                <a:solidFill>
                  <a:srgbClr val="F0F6FC"/>
                </a:solidFill>
              </a:defRPr>
            </a:lvl2pPr>
            <a:lvl3pPr>
              <a:defRPr sz="2175" b="1">
                <a:solidFill>
                  <a:srgbClr val="F0F6FC"/>
                </a:solidFill>
              </a:defRPr>
            </a:lvl3pPr>
            <a:lvl4pPr>
              <a:defRPr sz="2175" b="1">
                <a:solidFill>
                  <a:srgbClr val="F0F6FC"/>
                </a:solidFill>
              </a:defRPr>
            </a:lvl4pPr>
            <a:lvl5pPr>
              <a:defRPr sz="2175" b="1">
                <a:solidFill>
                  <a:srgbClr val="F0F6FC"/>
                </a:solidFill>
              </a:defRPr>
            </a:lvl5pPr>
            <a:lvl6pPr>
              <a:defRPr sz="2175" b="1">
                <a:solidFill>
                  <a:srgbClr val="F0F6FC"/>
                </a:solidFill>
              </a:defRPr>
            </a:lvl6pPr>
            <a:lvl7pPr>
              <a:defRPr sz="2175" b="1">
                <a:solidFill>
                  <a:srgbClr val="F0F6FC"/>
                </a:solidFill>
              </a:defRPr>
            </a:lvl7pPr>
            <a:lvl8pPr>
              <a:defRPr sz="2175" b="1">
                <a:solidFill>
                  <a:srgbClr val="F0F6FC"/>
                </a:solidFill>
              </a:defRPr>
            </a:lvl8pPr>
            <a:lvl9pPr>
              <a:defRPr sz="2175" b="1">
                <a:solidFill>
                  <a:srgbClr val="F0F6FC"/>
                </a:solidFill>
              </a:defRPr>
            </a:lvl9pPr>
          </a:lstStyle>
          <a:p xmlns:a="http://schemas.openxmlformats.org/drawingml/2006/main">
            <a:pPr>
              <a:defRPr sz="2175" b="1">
                <a:solidFill>
                  <a:srgbClr val="F0F6FC"/>
                </a:solidFill>
              </a:defRPr>
            </a:pPr>
            <a:r>
              <a:rPr sz="2175" b="1">
                <a:solidFill>
                  <a:srgbClr val="F0F6FC"/>
                </a:solidFill>
              </a:rPr>
              <a:t>Purpose: test whether language and satisfaction add useful forecasting information.</a:t>
            </a:r>
          </a:p>
        </p:txBody>
      </p:sp>
      <p:sp>
        <p:nvSpPr>
          <p:cNvPr id="7" name="text-22">
            <a:extLst xmlns:a="http://schemas.openxmlformats.org/drawingml/2006/main">
              <a:ext uri="{FF2B5EF4-FFF2-40B4-BE49-F238E27FC236}">
                <a16:creationId xmlns:a16="http://schemas.microsoft.com/office/drawing/2014/main" id="{92ADCE76-2607-4DC3-BC4C-39989B881970}"/>
              </a:ext>
            </a:extLst>
          </p:cNvPr>
          <p:cNvSpPr>
            <a:spLocks xmlns:a="http://schemas.openxmlformats.org/drawingml/2006/main" noGrp="1"/>
          </p:cNvSpPr>
          <p:nvPr/>
        </p:nvSpPr>
        <p:spPr>
          <a:xfrm xmlns:a="http://schemas.openxmlformats.org/drawingml/2006/main">
            <a:off x="609600" y="2705100"/>
            <a:ext cx="5286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4CC9F0"/>
                </a:solidFill>
              </a:defRPr>
            </a:defPPr>
            <a:lvl1pPr>
              <a:defRPr sz="2025" b="1">
                <a:solidFill>
                  <a:srgbClr val="4CC9F0"/>
                </a:solidFill>
              </a:defRPr>
            </a:lvl1pPr>
            <a:lvl2pPr>
              <a:defRPr sz="2025" b="1">
                <a:solidFill>
                  <a:srgbClr val="4CC9F0"/>
                </a:solidFill>
              </a:defRPr>
            </a:lvl2pPr>
            <a:lvl3pPr>
              <a:defRPr sz="2025" b="1">
                <a:solidFill>
                  <a:srgbClr val="4CC9F0"/>
                </a:solidFill>
              </a:defRPr>
            </a:lvl3pPr>
            <a:lvl4pPr>
              <a:defRPr sz="2025" b="1">
                <a:solidFill>
                  <a:srgbClr val="4CC9F0"/>
                </a:solidFill>
              </a:defRPr>
            </a:lvl4pPr>
            <a:lvl5pPr>
              <a:defRPr sz="2025" b="1">
                <a:solidFill>
                  <a:srgbClr val="4CC9F0"/>
                </a:solidFill>
              </a:defRPr>
            </a:lvl5pPr>
            <a:lvl6pPr>
              <a:defRPr sz="2025" b="1">
                <a:solidFill>
                  <a:srgbClr val="4CC9F0"/>
                </a:solidFill>
              </a:defRPr>
            </a:lvl6pPr>
            <a:lvl7pPr>
              <a:defRPr sz="2025" b="1">
                <a:solidFill>
                  <a:srgbClr val="4CC9F0"/>
                </a:solidFill>
              </a:defRPr>
            </a:lvl7pPr>
            <a:lvl8pPr>
              <a:defRPr sz="2025" b="1">
                <a:solidFill>
                  <a:srgbClr val="4CC9F0"/>
                </a:solidFill>
              </a:defRPr>
            </a:lvl8pPr>
            <a:lvl9pPr>
              <a:defRPr sz="2025" b="1">
                <a:solidFill>
                  <a:srgbClr val="4CC9F0"/>
                </a:solidFill>
              </a:defRPr>
            </a:lvl9pPr>
          </a:lstStyle>
          <a:p xmlns:a="http://schemas.openxmlformats.org/drawingml/2006/main">
            <a:pPr>
              <a:defRPr sz="2025" b="1">
                <a:solidFill>
                  <a:srgbClr val="4CC9F0"/>
                </a:solidFill>
              </a:defRPr>
            </a:pPr>
            <a:r>
              <a:rPr sz="2025" b="1">
                <a:solidFill>
                  <a:srgbClr val="4CC9F0"/>
                </a:solidFill>
              </a:rPr>
              <a:t>Tools used</a:t>
            </a:r>
          </a:p>
        </p:txBody>
      </p:sp>
      <p:sp>
        <p:nvSpPr>
          <p:cNvPr id="8" name="text-23">
            <a:extLst xmlns:a="http://schemas.openxmlformats.org/drawingml/2006/main">
              <a:ext uri="{FF2B5EF4-FFF2-40B4-BE49-F238E27FC236}">
                <a16:creationId xmlns:a16="http://schemas.microsoft.com/office/drawing/2014/main" id="{F112E279-5464-4A60-BB4D-052E9A5A5441}"/>
              </a:ext>
            </a:extLst>
          </p:cNvPr>
          <p:cNvSpPr>
            <a:spLocks xmlns:a="http://schemas.openxmlformats.org/drawingml/2006/main" noGrp="1"/>
          </p:cNvSpPr>
          <p:nvPr/>
        </p:nvSpPr>
        <p:spPr>
          <a:xfrm xmlns:a="http://schemas.openxmlformats.org/drawingml/2006/main">
            <a:off x="609600" y="3162300"/>
            <a:ext cx="52863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B8C7D6"/>
                </a:solidFill>
              </a:defRPr>
            </a:defPPr>
            <a:lvl1pPr>
              <a:defRPr sz="1875" b="0">
                <a:solidFill>
                  <a:srgbClr val="B8C7D6"/>
                </a:solidFill>
              </a:defRPr>
            </a:lvl1pPr>
            <a:lvl2pPr>
              <a:defRPr sz="1875" b="0">
                <a:solidFill>
                  <a:srgbClr val="B8C7D6"/>
                </a:solidFill>
              </a:defRPr>
            </a:lvl2pPr>
            <a:lvl3pPr>
              <a:defRPr sz="1875" b="0">
                <a:solidFill>
                  <a:srgbClr val="B8C7D6"/>
                </a:solidFill>
              </a:defRPr>
            </a:lvl3pPr>
            <a:lvl4pPr>
              <a:defRPr sz="1875" b="0">
                <a:solidFill>
                  <a:srgbClr val="B8C7D6"/>
                </a:solidFill>
              </a:defRPr>
            </a:lvl4pPr>
            <a:lvl5pPr>
              <a:defRPr sz="1875" b="0">
                <a:solidFill>
                  <a:srgbClr val="B8C7D6"/>
                </a:solidFill>
              </a:defRPr>
            </a:lvl5pPr>
            <a:lvl6pPr>
              <a:defRPr sz="1875" b="0">
                <a:solidFill>
                  <a:srgbClr val="B8C7D6"/>
                </a:solidFill>
              </a:defRPr>
            </a:lvl6pPr>
            <a:lvl7pPr>
              <a:defRPr sz="1875" b="0">
                <a:solidFill>
                  <a:srgbClr val="B8C7D6"/>
                </a:solidFill>
              </a:defRPr>
            </a:lvl7pPr>
            <a:lvl8pPr>
              <a:defRPr sz="1875" b="0">
                <a:solidFill>
                  <a:srgbClr val="B8C7D6"/>
                </a:solidFill>
              </a:defRPr>
            </a:lvl8pPr>
            <a:lvl9pPr>
              <a:defRPr sz="1875" b="0">
                <a:solidFill>
                  <a:srgbClr val="B8C7D6"/>
                </a:solidFill>
              </a:defRPr>
            </a:lvl9pPr>
          </a:lstStyle>
          <a:p xmlns:a="http://schemas.openxmlformats.org/drawingml/2006/main">
            <a:pPr>
              <a:defRPr sz="1875" b="0">
                <a:solidFill>
                  <a:srgbClr val="B8C7D6"/>
                </a:solidFill>
              </a:defRPr>
            </a:pPr>
            <a:r>
              <a:rPr sz="1875" b="0">
                <a:solidFill>
                  <a:srgbClr val="B8C7D6"/>
                </a:solidFill>
              </a:rPr>
              <a:t>Python 3.13.1 and Parquet data files</a:t>
            </a:r>
          </a:p>
          <a:p xmlns:a="http://schemas.openxmlformats.org/drawingml/2006/main">
            <a:pPr>
              <a:defRPr sz="1875" b="0">
                <a:solidFill>
                  <a:srgbClr val="B8C7D6"/>
                </a:solidFill>
              </a:defRPr>
            </a:pPr>
            <a:r>
              <a:rPr sz="1875" b="0">
                <a:solidFill>
                  <a:srgbClr val="B8C7D6"/>
                </a:solidFill>
              </a:rPr>
              <a:t>PyTorch and Hugging Face Transformers</a:t>
            </a:r>
          </a:p>
          <a:p xmlns:a="http://schemas.openxmlformats.org/drawingml/2006/main">
            <a:pPr>
              <a:defRPr sz="1875" b="0">
                <a:solidFill>
                  <a:srgbClr val="B8C7D6"/>
                </a:solidFill>
              </a:defRPr>
            </a:pPr>
            <a:r>
              <a:rPr sz="1875" b="0">
                <a:solidFill>
                  <a:srgbClr val="B8C7D6"/>
                </a:solidFill>
              </a:rPr>
              <a:t>LightGBM, scikit-learn, VADER</a:t>
            </a:r>
          </a:p>
          <a:p xmlns:a="http://schemas.openxmlformats.org/drawingml/2006/main">
            <a:pPr>
              <a:defRPr sz="1875" b="0">
                <a:solidFill>
                  <a:srgbClr val="B8C7D6"/>
                </a:solidFill>
              </a:defRPr>
            </a:pPr>
            <a:r>
              <a:rPr sz="1875" b="0">
                <a:solidFill>
                  <a:srgbClr val="B8C7D6"/>
                </a:solidFill>
              </a:rPr>
              <a:t>Gensim, BERTopic and Streamlit</a:t>
            </a:r>
          </a:p>
        </p:txBody>
      </p:sp>
      <p:sp>
        <p:nvSpPr>
          <p:cNvPr id="9" name="text-24">
            <a:extLst xmlns:a="http://schemas.openxmlformats.org/drawingml/2006/main">
              <a:ext uri="{FF2B5EF4-FFF2-40B4-BE49-F238E27FC236}">
                <a16:creationId xmlns:a16="http://schemas.microsoft.com/office/drawing/2014/main" id="{22091131-857B-41F0-9343-0DCEF49F1B99}"/>
              </a:ext>
            </a:extLst>
          </p:cNvPr>
          <p:cNvSpPr>
            <a:spLocks xmlns:a="http://schemas.openxmlformats.org/drawingml/2006/main" noGrp="1"/>
          </p:cNvSpPr>
          <p:nvPr/>
        </p:nvSpPr>
        <p:spPr>
          <a:xfrm xmlns:a="http://schemas.openxmlformats.org/drawingml/2006/main">
            <a:off x="6305550" y="2705100"/>
            <a:ext cx="527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F6BD60"/>
                </a:solidFill>
              </a:defRPr>
            </a:defPPr>
            <a:lvl1pPr>
              <a:defRPr sz="2025" b="1">
                <a:solidFill>
                  <a:srgbClr val="F6BD60"/>
                </a:solidFill>
              </a:defRPr>
            </a:lvl1pPr>
            <a:lvl2pPr>
              <a:defRPr sz="2025" b="1">
                <a:solidFill>
                  <a:srgbClr val="F6BD60"/>
                </a:solidFill>
              </a:defRPr>
            </a:lvl2pPr>
            <a:lvl3pPr>
              <a:defRPr sz="2025" b="1">
                <a:solidFill>
                  <a:srgbClr val="F6BD60"/>
                </a:solidFill>
              </a:defRPr>
            </a:lvl3pPr>
            <a:lvl4pPr>
              <a:defRPr sz="2025" b="1">
                <a:solidFill>
                  <a:srgbClr val="F6BD60"/>
                </a:solidFill>
              </a:defRPr>
            </a:lvl4pPr>
            <a:lvl5pPr>
              <a:defRPr sz="2025" b="1">
                <a:solidFill>
                  <a:srgbClr val="F6BD60"/>
                </a:solidFill>
              </a:defRPr>
            </a:lvl5pPr>
            <a:lvl6pPr>
              <a:defRPr sz="2025" b="1">
                <a:solidFill>
                  <a:srgbClr val="F6BD60"/>
                </a:solidFill>
              </a:defRPr>
            </a:lvl6pPr>
            <a:lvl7pPr>
              <a:defRPr sz="2025" b="1">
                <a:solidFill>
                  <a:srgbClr val="F6BD60"/>
                </a:solidFill>
              </a:defRPr>
            </a:lvl7pPr>
            <a:lvl8pPr>
              <a:defRPr sz="2025" b="1">
                <a:solidFill>
                  <a:srgbClr val="F6BD60"/>
                </a:solidFill>
              </a:defRPr>
            </a:lvl8pPr>
            <a:lvl9pPr>
              <a:defRPr sz="2025" b="1">
                <a:solidFill>
                  <a:srgbClr val="F6BD60"/>
                </a:solidFill>
              </a:defRPr>
            </a:lvl9pPr>
          </a:lstStyle>
          <a:p xmlns:a="http://schemas.openxmlformats.org/drawingml/2006/main">
            <a:pPr>
              <a:defRPr sz="2025" b="1">
                <a:solidFill>
                  <a:srgbClr val="F6BD60"/>
                </a:solidFill>
              </a:defRPr>
            </a:pPr>
            <a:r>
              <a:rPr sz="2025" b="1">
                <a:solidFill>
                  <a:srgbClr val="F6BD60"/>
                </a:solidFill>
              </a:rPr>
              <a:t>Reproducibility and demonstration</a:t>
            </a:r>
          </a:p>
        </p:txBody>
      </p:sp>
      <p:sp>
        <p:nvSpPr>
          <p:cNvPr id="10" name="text-25">
            <a:extLst xmlns:a="http://schemas.openxmlformats.org/drawingml/2006/main">
              <a:ext uri="{FF2B5EF4-FFF2-40B4-BE49-F238E27FC236}">
                <a16:creationId xmlns:a16="http://schemas.microsoft.com/office/drawing/2014/main" id="{D54EA3BC-16D3-4180-96BB-4CE0848AC050}"/>
              </a:ext>
            </a:extLst>
          </p:cNvPr>
          <p:cNvSpPr>
            <a:spLocks xmlns:a="http://schemas.openxmlformats.org/drawingml/2006/main" noGrp="1"/>
          </p:cNvSpPr>
          <p:nvPr/>
        </p:nvSpPr>
        <p:spPr>
          <a:xfrm xmlns:a="http://schemas.openxmlformats.org/drawingml/2006/main">
            <a:off x="6305550" y="3162300"/>
            <a:ext cx="52768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B8C7D6"/>
                </a:solidFill>
              </a:defRPr>
            </a:defPPr>
            <a:lvl1pPr>
              <a:defRPr sz="1875" b="0">
                <a:solidFill>
                  <a:srgbClr val="B8C7D6"/>
                </a:solidFill>
              </a:defRPr>
            </a:lvl1pPr>
            <a:lvl2pPr>
              <a:defRPr sz="1875" b="0">
                <a:solidFill>
                  <a:srgbClr val="B8C7D6"/>
                </a:solidFill>
              </a:defRPr>
            </a:lvl2pPr>
            <a:lvl3pPr>
              <a:defRPr sz="1875" b="0">
                <a:solidFill>
                  <a:srgbClr val="B8C7D6"/>
                </a:solidFill>
              </a:defRPr>
            </a:lvl3pPr>
            <a:lvl4pPr>
              <a:defRPr sz="1875" b="0">
                <a:solidFill>
                  <a:srgbClr val="B8C7D6"/>
                </a:solidFill>
              </a:defRPr>
            </a:lvl4pPr>
            <a:lvl5pPr>
              <a:defRPr sz="1875" b="0">
                <a:solidFill>
                  <a:srgbClr val="B8C7D6"/>
                </a:solidFill>
              </a:defRPr>
            </a:lvl5pPr>
            <a:lvl6pPr>
              <a:defRPr sz="1875" b="0">
                <a:solidFill>
                  <a:srgbClr val="B8C7D6"/>
                </a:solidFill>
              </a:defRPr>
            </a:lvl6pPr>
            <a:lvl7pPr>
              <a:defRPr sz="1875" b="0">
                <a:solidFill>
                  <a:srgbClr val="B8C7D6"/>
                </a:solidFill>
              </a:defRPr>
            </a:lvl7pPr>
            <a:lvl8pPr>
              <a:defRPr sz="1875" b="0">
                <a:solidFill>
                  <a:srgbClr val="B8C7D6"/>
                </a:solidFill>
              </a:defRPr>
            </a:lvl8pPr>
            <a:lvl9pPr>
              <a:defRPr sz="1875" b="0">
                <a:solidFill>
                  <a:srgbClr val="B8C7D6"/>
                </a:solidFill>
              </a:defRPr>
            </a:lvl9pPr>
          </a:lstStyle>
          <a:p xmlns:a="http://schemas.openxmlformats.org/drawingml/2006/main">
            <a:pPr>
              <a:defRPr sz="1875" b="0">
                <a:solidFill>
                  <a:srgbClr val="B8C7D6"/>
                </a:solidFill>
              </a:defRPr>
            </a:pPr>
            <a:r>
              <a:rPr sz="1875" b="0">
                <a:solidFill>
                  <a:srgbClr val="B8C7D6"/>
                </a:solidFill>
              </a:rPr>
              <a:t>Configuration and dependency lock files</a:t>
            </a:r>
          </a:p>
          <a:p xmlns:a="http://schemas.openxmlformats.org/drawingml/2006/main">
            <a:pPr>
              <a:defRPr sz="1875" b="0">
                <a:solidFill>
                  <a:srgbClr val="B8C7D6"/>
                </a:solidFill>
              </a:defRPr>
            </a:pPr>
            <a:r>
              <a:rPr sz="1875" b="0">
                <a:solidFill>
                  <a:srgbClr val="B8C7D6"/>
                </a:solidFill>
              </a:rPr>
              <a:t>Scripts for ingestion, features and models</a:t>
            </a:r>
          </a:p>
          <a:p xmlns:a="http://schemas.openxmlformats.org/drawingml/2006/main">
            <a:pPr>
              <a:defRPr sz="1875" b="0">
                <a:solidFill>
                  <a:srgbClr val="B8C7D6"/>
                </a:solidFill>
              </a:defRPr>
            </a:pPr>
            <a:r>
              <a:rPr sz="1875" b="0">
                <a:solidFill>
                  <a:srgbClr val="B8C7D6"/>
                </a:solidFill>
              </a:rPr>
              <a:t>Saved metric files and model artifacts</a:t>
            </a:r>
          </a:p>
          <a:p xmlns:a="http://schemas.openxmlformats.org/drawingml/2006/main">
            <a:pPr>
              <a:defRPr sz="1875" b="0">
                <a:solidFill>
                  <a:srgbClr val="B8C7D6"/>
                </a:solidFill>
              </a:defRPr>
            </a:pPr>
            <a:r>
              <a:rPr sz="1875" b="0">
                <a:solidFill>
                  <a:srgbClr val="B8C7D6"/>
                </a:solidFill>
              </a:rPr>
              <a:t>Tests: 19/20 pass; one wording check fails</a:t>
            </a:r>
          </a:p>
        </p:txBody>
      </p:sp>
      <p:sp>
        <p:nvSpPr>
          <p:cNvPr id="11" name="text-26">
            <a:extLst xmlns:a="http://schemas.openxmlformats.org/drawingml/2006/main">
              <a:ext uri="{FF2B5EF4-FFF2-40B4-BE49-F238E27FC236}">
                <a16:creationId xmlns:a16="http://schemas.microsoft.com/office/drawing/2014/main" id="{43A2B7BA-8307-4A71-B95E-34430F14013B}"/>
              </a:ext>
            </a:extLst>
          </p:cNvPr>
          <p:cNvSpPr>
            <a:spLocks xmlns:a="http://schemas.openxmlformats.org/drawingml/2006/main" noGrp="1"/>
          </p:cNvSpPr>
          <p:nvPr/>
        </p:nvSpPr>
        <p:spPr>
          <a:xfrm xmlns:a="http://schemas.openxmlformats.org/drawingml/2006/main">
            <a:off x="609600" y="5010150"/>
            <a:ext cx="10934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4CC9F0"/>
                </a:solidFill>
              </a:defRPr>
            </a:defPPr>
            <a:lvl1pPr>
              <a:defRPr sz="1875" b="1">
                <a:solidFill>
                  <a:srgbClr val="4CC9F0"/>
                </a:solidFill>
              </a:defRPr>
            </a:lvl1pPr>
            <a:lvl2pPr>
              <a:defRPr sz="1875" b="1">
                <a:solidFill>
                  <a:srgbClr val="4CC9F0"/>
                </a:solidFill>
              </a:defRPr>
            </a:lvl2pPr>
            <a:lvl3pPr>
              <a:defRPr sz="1875" b="1">
                <a:solidFill>
                  <a:srgbClr val="4CC9F0"/>
                </a:solidFill>
              </a:defRPr>
            </a:lvl3pPr>
            <a:lvl4pPr>
              <a:defRPr sz="1875" b="1">
                <a:solidFill>
                  <a:srgbClr val="4CC9F0"/>
                </a:solidFill>
              </a:defRPr>
            </a:lvl4pPr>
            <a:lvl5pPr>
              <a:defRPr sz="1875" b="1">
                <a:solidFill>
                  <a:srgbClr val="4CC9F0"/>
                </a:solidFill>
              </a:defRPr>
            </a:lvl5pPr>
            <a:lvl6pPr>
              <a:defRPr sz="1875" b="1">
                <a:solidFill>
                  <a:srgbClr val="4CC9F0"/>
                </a:solidFill>
              </a:defRPr>
            </a:lvl6pPr>
            <a:lvl7pPr>
              <a:defRPr sz="1875" b="1">
                <a:solidFill>
                  <a:srgbClr val="4CC9F0"/>
                </a:solidFill>
              </a:defRPr>
            </a:lvl7pPr>
            <a:lvl8pPr>
              <a:defRPr sz="1875" b="1">
                <a:solidFill>
                  <a:srgbClr val="4CC9F0"/>
                </a:solidFill>
              </a:defRPr>
            </a:lvl8pPr>
            <a:lvl9pPr>
              <a:defRPr sz="1875" b="1">
                <a:solidFill>
                  <a:srgbClr val="4CC9F0"/>
                </a:solidFill>
              </a:defRPr>
            </a:lvl9pPr>
          </a:lstStyle>
          <a:p xmlns:a="http://schemas.openxmlformats.org/drawingml/2006/main">
            <a:pPr>
              <a:defRPr sz="1875" b="1">
                <a:solidFill>
                  <a:srgbClr val="4CC9F0"/>
                </a:solidFill>
              </a:defRPr>
            </a:pPr>
            <a:r>
              <a:rPr sz="1875" b="1">
                <a:solidFill>
                  <a:srgbClr val="4CC9F0"/>
                </a:solidFill>
              </a:rPr>
              <a:t>Local demonstration: http://localhost:8501</a:t>
            </a:r>
          </a:p>
        </p:txBody>
      </p:sp>
      <p:sp>
        <p:nvSpPr>
          <p:cNvPr id="12" name="rule-27">
            <a:extLst xmlns:a="http://schemas.openxmlformats.org/drawingml/2006/main">
              <a:ext uri="{FF2B5EF4-FFF2-40B4-BE49-F238E27FC236}">
                <a16:creationId xmlns:a16="http://schemas.microsoft.com/office/drawing/2014/main" id="{C598A778-DD31-4AB5-B90D-E9E41643C21A}"/>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13" name="text-28">
            <a:extLst xmlns:a="http://schemas.openxmlformats.org/drawingml/2006/main">
              <a:ext uri="{FF2B5EF4-FFF2-40B4-BE49-F238E27FC236}">
                <a16:creationId xmlns:a16="http://schemas.microsoft.com/office/drawing/2014/main" id="{F66D9F1C-1183-4D82-A7E6-FC498ADA6D16}"/>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Our pipeline runs from public data collection to a working dashboard.</a:t>
            </a:r>
          </a:p>
        </p:txBody>
      </p:sp>
      <p:sp>
        <p:nvSpPr>
          <p:cNvPr id="14" name="text-29">
            <a:extLst xmlns:a="http://schemas.openxmlformats.org/drawingml/2006/main">
              <a:ext uri="{FF2B5EF4-FFF2-40B4-BE49-F238E27FC236}">
                <a16:creationId xmlns:a16="http://schemas.microsoft.com/office/drawing/2014/main" id="{50510C97-29A0-408C-90FE-CFFA3F224359}"/>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The saved scripts, settings and tests make the work reproducible.</a:t>
            </a:r>
          </a:p>
        </p:txBody>
      </p:sp>
    </p:spTree>
    <p:extLst>
      <p:ext uri="{BB962C8B-B14F-4D97-AF65-F5344CB8AC3E}">
        <p14:creationId xmlns:p14="http://schemas.microsoft.com/office/powerpoint/2010/main" val="1179736128"/>
      </p:ext>
    </p:extLst>
  </p:cSld>
</p:sld>
</file>

<file path=ppt/slides/slide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6" name="text-30">
            <a:extLst xmlns:a="http://schemas.openxmlformats.org/drawingml/2006/main">
              <a:ext uri="{FF2B5EF4-FFF2-40B4-BE49-F238E27FC236}">
                <a16:creationId xmlns:a16="http://schemas.microsoft.com/office/drawing/2014/main" id="{7A82710E-7D0B-4E4B-A029-B5C1829B0494}"/>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2   Data sources and preprocessing   6 marks</a:t>
            </a:r>
          </a:p>
        </p:txBody>
      </p:sp>
      <p:sp>
        <p:nvSpPr>
          <p:cNvPr id="2" name="text-31">
            <a:extLst xmlns:a="http://schemas.openxmlformats.org/drawingml/2006/main">
              <a:ext uri="{FF2B5EF4-FFF2-40B4-BE49-F238E27FC236}">
                <a16:creationId xmlns:a16="http://schemas.microsoft.com/office/drawing/2014/main" id="{7A56119A-A9C2-4190-8CF2-558422C884A1}"/>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Dataset description &amp; justification</a:t>
            </a:r>
          </a:p>
        </p:txBody>
      </p:sp>
      <p:sp>
        <p:nvSpPr>
          <p:cNvPr id="3" name="rule-32">
            <a:extLst xmlns:a="http://schemas.openxmlformats.org/drawingml/2006/main">
              <a:ext uri="{FF2B5EF4-FFF2-40B4-BE49-F238E27FC236}">
                <a16:creationId xmlns:a16="http://schemas.microsoft.com/office/drawing/2014/main" id="{87755EB0-63CD-42AB-A26E-F505BCA4DB3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33">
            <a:extLst xmlns:a="http://schemas.openxmlformats.org/drawingml/2006/main">
              <a:ext uri="{FF2B5EF4-FFF2-40B4-BE49-F238E27FC236}">
                <a16:creationId xmlns:a16="http://schemas.microsoft.com/office/drawing/2014/main" id="{69EC9070-123C-43A6-8C8A-441651B30685}"/>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34">
            <a:extLst xmlns:a="http://schemas.openxmlformats.org/drawingml/2006/main">
              <a:ext uri="{FF2B5EF4-FFF2-40B4-BE49-F238E27FC236}">
                <a16:creationId xmlns:a16="http://schemas.microsoft.com/office/drawing/2014/main" id="{781080DF-3A9C-4C5C-8FA9-F1753025E6DF}"/>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03 / 10</a:t>
            </a:r>
          </a:p>
        </p:txBody>
      </p:sp>
      <p:sp>
        <p:nvSpPr>
          <p:cNvPr id="6" name="text-35">
            <a:extLst xmlns:a="http://schemas.openxmlformats.org/drawingml/2006/main">
              <a:ext uri="{FF2B5EF4-FFF2-40B4-BE49-F238E27FC236}">
                <a16:creationId xmlns:a16="http://schemas.microsoft.com/office/drawing/2014/main" id="{B236304F-CF36-4E8D-B6E9-D7EFE8069704}"/>
              </a:ext>
            </a:extLst>
          </p:cNvPr>
          <p:cNvSpPr>
            <a:spLocks xmlns:a="http://schemas.openxmlformats.org/drawingml/2006/main" noGrp="1"/>
          </p:cNvSpPr>
          <p:nvPr/>
        </p:nvSpPr>
        <p:spPr>
          <a:xfrm xmlns:a="http://schemas.openxmlformats.org/drawingml/2006/main">
            <a:off x="609600" y="1666875"/>
            <a:ext cx="504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4CC9F0"/>
                </a:solidFill>
              </a:defRPr>
            </a:defPPr>
            <a:lvl1pPr>
              <a:defRPr sz="2925" b="1">
                <a:solidFill>
                  <a:srgbClr val="4CC9F0"/>
                </a:solidFill>
              </a:defRPr>
            </a:lvl1pPr>
            <a:lvl2pPr>
              <a:defRPr sz="2925" b="1">
                <a:solidFill>
                  <a:srgbClr val="4CC9F0"/>
                </a:solidFill>
              </a:defRPr>
            </a:lvl2pPr>
            <a:lvl3pPr>
              <a:defRPr sz="2925" b="1">
                <a:solidFill>
                  <a:srgbClr val="4CC9F0"/>
                </a:solidFill>
              </a:defRPr>
            </a:lvl3pPr>
            <a:lvl4pPr>
              <a:defRPr sz="2925" b="1">
                <a:solidFill>
                  <a:srgbClr val="4CC9F0"/>
                </a:solidFill>
              </a:defRPr>
            </a:lvl4pPr>
            <a:lvl5pPr>
              <a:defRPr sz="2925" b="1">
                <a:solidFill>
                  <a:srgbClr val="4CC9F0"/>
                </a:solidFill>
              </a:defRPr>
            </a:lvl5pPr>
            <a:lvl6pPr>
              <a:defRPr sz="2925" b="1">
                <a:solidFill>
                  <a:srgbClr val="4CC9F0"/>
                </a:solidFill>
              </a:defRPr>
            </a:lvl6pPr>
            <a:lvl7pPr>
              <a:defRPr sz="2925" b="1">
                <a:solidFill>
                  <a:srgbClr val="4CC9F0"/>
                </a:solidFill>
              </a:defRPr>
            </a:lvl7pPr>
            <a:lvl8pPr>
              <a:defRPr sz="2925" b="1">
                <a:solidFill>
                  <a:srgbClr val="4CC9F0"/>
                </a:solidFill>
              </a:defRPr>
            </a:lvl8pPr>
            <a:lvl9pPr>
              <a:defRPr sz="2925" b="1">
                <a:solidFill>
                  <a:srgbClr val="4CC9F0"/>
                </a:solidFill>
              </a:defRPr>
            </a:lvl9pPr>
          </a:lstStyle>
          <a:p xmlns:a="http://schemas.openxmlformats.org/drawingml/2006/main">
            <a:pPr>
              <a:defRPr sz="2925" b="1">
                <a:solidFill>
                  <a:srgbClr val="4CC9F0"/>
                </a:solidFill>
              </a:defRPr>
            </a:pPr>
            <a:r>
              <a:rPr sz="2925" b="1">
                <a:solidFill>
                  <a:srgbClr val="4CC9F0"/>
                </a:solidFill>
              </a:rPr>
              <a:t>4,204,783</a:t>
            </a:r>
          </a:p>
        </p:txBody>
      </p:sp>
      <p:sp>
        <p:nvSpPr>
          <p:cNvPr id="7" name="text-36">
            <a:extLst xmlns:a="http://schemas.openxmlformats.org/drawingml/2006/main">
              <a:ext uri="{FF2B5EF4-FFF2-40B4-BE49-F238E27FC236}">
                <a16:creationId xmlns:a16="http://schemas.microsoft.com/office/drawing/2014/main" id="{55B02BA0-18AC-45CA-BFDE-5BD69FE2C312}"/>
              </a:ext>
            </a:extLst>
          </p:cNvPr>
          <p:cNvSpPr>
            <a:spLocks xmlns:a="http://schemas.openxmlformats.org/drawingml/2006/main" noGrp="1"/>
          </p:cNvSpPr>
          <p:nvPr/>
        </p:nvSpPr>
        <p:spPr>
          <a:xfrm xmlns:a="http://schemas.openxmlformats.org/drawingml/2006/main">
            <a:off x="609600" y="2238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B8C7D6"/>
                </a:solidFill>
              </a:defRPr>
            </a:defPPr>
            <a:lvl1pPr>
              <a:defRPr sz="1725" b="0">
                <a:solidFill>
                  <a:srgbClr val="B8C7D6"/>
                </a:solidFill>
              </a:defRPr>
            </a:lvl1pPr>
            <a:lvl2pPr>
              <a:defRPr sz="1725" b="0">
                <a:solidFill>
                  <a:srgbClr val="B8C7D6"/>
                </a:solidFill>
              </a:defRPr>
            </a:lvl2pPr>
            <a:lvl3pPr>
              <a:defRPr sz="1725" b="0">
                <a:solidFill>
                  <a:srgbClr val="B8C7D6"/>
                </a:solidFill>
              </a:defRPr>
            </a:lvl3pPr>
            <a:lvl4pPr>
              <a:defRPr sz="1725" b="0">
                <a:solidFill>
                  <a:srgbClr val="B8C7D6"/>
                </a:solidFill>
              </a:defRPr>
            </a:lvl4pPr>
            <a:lvl5pPr>
              <a:defRPr sz="1725" b="0">
                <a:solidFill>
                  <a:srgbClr val="B8C7D6"/>
                </a:solidFill>
              </a:defRPr>
            </a:lvl5pPr>
            <a:lvl6pPr>
              <a:defRPr sz="1725" b="0">
                <a:solidFill>
                  <a:srgbClr val="B8C7D6"/>
                </a:solidFill>
              </a:defRPr>
            </a:lvl6pPr>
            <a:lvl7pPr>
              <a:defRPr sz="1725" b="0">
                <a:solidFill>
                  <a:srgbClr val="B8C7D6"/>
                </a:solidFill>
              </a:defRPr>
            </a:lvl7pPr>
            <a:lvl8pPr>
              <a:defRPr sz="1725" b="0">
                <a:solidFill>
                  <a:srgbClr val="B8C7D6"/>
                </a:solidFill>
              </a:defRPr>
            </a:lvl8pPr>
            <a:lvl9pPr>
              <a:defRPr sz="1725" b="0">
                <a:solidFill>
                  <a:srgbClr val="B8C7D6"/>
                </a:solidFill>
              </a:defRPr>
            </a:lvl9pPr>
          </a:lstStyle>
          <a:p xmlns:a="http://schemas.openxmlformats.org/drawingml/2006/main">
            <a:pPr>
              <a:defRPr sz="1725" b="0">
                <a:solidFill>
                  <a:srgbClr val="B8C7D6"/>
                </a:solidFill>
              </a:defRPr>
            </a:pPr>
            <a:r>
              <a:rPr sz="1725" b="0">
                <a:solidFill>
                  <a:srgbClr val="B8C7D6"/>
                </a:solidFill>
              </a:rPr>
              <a:t>NYC 311 closed requests, Jan 2023 to Dec 2024</a:t>
            </a:r>
          </a:p>
        </p:txBody>
      </p:sp>
      <p:sp>
        <p:nvSpPr>
          <p:cNvPr id="8" name="text-37">
            <a:extLst xmlns:a="http://schemas.openxmlformats.org/drawingml/2006/main">
              <a:ext uri="{FF2B5EF4-FFF2-40B4-BE49-F238E27FC236}">
                <a16:creationId xmlns:a16="http://schemas.microsoft.com/office/drawing/2014/main" id="{39529898-E0C5-4945-938B-224B6B86932E}"/>
              </a:ext>
            </a:extLst>
          </p:cNvPr>
          <p:cNvSpPr>
            <a:spLocks xmlns:a="http://schemas.openxmlformats.org/drawingml/2006/main" noGrp="1"/>
          </p:cNvSpPr>
          <p:nvPr/>
        </p:nvSpPr>
        <p:spPr>
          <a:xfrm xmlns:a="http://schemas.openxmlformats.org/drawingml/2006/main">
            <a:off x="6305550" y="1666875"/>
            <a:ext cx="504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F6BD60"/>
                </a:solidFill>
              </a:defRPr>
            </a:defPPr>
            <a:lvl1pPr>
              <a:defRPr sz="2925" b="1">
                <a:solidFill>
                  <a:srgbClr val="F6BD60"/>
                </a:solidFill>
              </a:defRPr>
            </a:lvl1pPr>
            <a:lvl2pPr>
              <a:defRPr sz="2925" b="1">
                <a:solidFill>
                  <a:srgbClr val="F6BD60"/>
                </a:solidFill>
              </a:defRPr>
            </a:lvl2pPr>
            <a:lvl3pPr>
              <a:defRPr sz="2925" b="1">
                <a:solidFill>
                  <a:srgbClr val="F6BD60"/>
                </a:solidFill>
              </a:defRPr>
            </a:lvl3pPr>
            <a:lvl4pPr>
              <a:defRPr sz="2925" b="1">
                <a:solidFill>
                  <a:srgbClr val="F6BD60"/>
                </a:solidFill>
              </a:defRPr>
            </a:lvl4pPr>
            <a:lvl5pPr>
              <a:defRPr sz="2925" b="1">
                <a:solidFill>
                  <a:srgbClr val="F6BD60"/>
                </a:solidFill>
              </a:defRPr>
            </a:lvl5pPr>
            <a:lvl6pPr>
              <a:defRPr sz="2925" b="1">
                <a:solidFill>
                  <a:srgbClr val="F6BD60"/>
                </a:solidFill>
              </a:defRPr>
            </a:lvl6pPr>
            <a:lvl7pPr>
              <a:defRPr sz="2925" b="1">
                <a:solidFill>
                  <a:srgbClr val="F6BD60"/>
                </a:solidFill>
              </a:defRPr>
            </a:lvl7pPr>
            <a:lvl8pPr>
              <a:defRPr sz="2925" b="1">
                <a:solidFill>
                  <a:srgbClr val="F6BD60"/>
                </a:solidFill>
              </a:defRPr>
            </a:lvl8pPr>
            <a:lvl9pPr>
              <a:defRPr sz="2925" b="1">
                <a:solidFill>
                  <a:srgbClr val="F6BD60"/>
                </a:solidFill>
              </a:defRPr>
            </a:lvl9pPr>
          </a:lstStyle>
          <a:p xmlns:a="http://schemas.openxmlformats.org/drawingml/2006/main">
            <a:pPr>
              <a:defRPr sz="2925" b="1">
                <a:solidFill>
                  <a:srgbClr val="F6BD60"/>
                </a:solidFill>
              </a:defRPr>
            </a:pPr>
            <a:r>
              <a:rPr sz="2925" b="1">
                <a:solidFill>
                  <a:srgbClr val="F6BD60"/>
                </a:solidFill>
              </a:rPr>
              <a:t>406,581</a:t>
            </a:r>
          </a:p>
        </p:txBody>
      </p:sp>
      <p:sp>
        <p:nvSpPr>
          <p:cNvPr id="9" name="text-38">
            <a:extLst xmlns:a="http://schemas.openxmlformats.org/drawingml/2006/main">
              <a:ext uri="{FF2B5EF4-FFF2-40B4-BE49-F238E27FC236}">
                <a16:creationId xmlns:a16="http://schemas.microsoft.com/office/drawing/2014/main" id="{84AB8CA9-6F06-4907-97E2-79B104AF3F7E}"/>
              </a:ext>
            </a:extLst>
          </p:cNvPr>
          <p:cNvSpPr>
            <a:spLocks xmlns:a="http://schemas.openxmlformats.org/drawingml/2006/main" noGrp="1"/>
          </p:cNvSpPr>
          <p:nvPr/>
        </p:nvSpPr>
        <p:spPr>
          <a:xfrm xmlns:a="http://schemas.openxmlformats.org/drawingml/2006/main">
            <a:off x="6305550" y="2238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B8C7D6"/>
                </a:solidFill>
              </a:defRPr>
            </a:defPPr>
            <a:lvl1pPr>
              <a:defRPr sz="1725" b="0">
                <a:solidFill>
                  <a:srgbClr val="B8C7D6"/>
                </a:solidFill>
              </a:defRPr>
            </a:lvl1pPr>
            <a:lvl2pPr>
              <a:defRPr sz="1725" b="0">
                <a:solidFill>
                  <a:srgbClr val="B8C7D6"/>
                </a:solidFill>
              </a:defRPr>
            </a:lvl2pPr>
            <a:lvl3pPr>
              <a:defRPr sz="1725" b="0">
                <a:solidFill>
                  <a:srgbClr val="B8C7D6"/>
                </a:solidFill>
              </a:defRPr>
            </a:lvl3pPr>
            <a:lvl4pPr>
              <a:defRPr sz="1725" b="0">
                <a:solidFill>
                  <a:srgbClr val="B8C7D6"/>
                </a:solidFill>
              </a:defRPr>
            </a:lvl4pPr>
            <a:lvl5pPr>
              <a:defRPr sz="1725" b="0">
                <a:solidFill>
                  <a:srgbClr val="B8C7D6"/>
                </a:solidFill>
              </a:defRPr>
            </a:lvl5pPr>
            <a:lvl6pPr>
              <a:defRPr sz="1725" b="0">
                <a:solidFill>
                  <a:srgbClr val="B8C7D6"/>
                </a:solidFill>
              </a:defRPr>
            </a:lvl6pPr>
            <a:lvl7pPr>
              <a:defRPr sz="1725" b="0">
                <a:solidFill>
                  <a:srgbClr val="B8C7D6"/>
                </a:solidFill>
              </a:defRPr>
            </a:lvl7pPr>
            <a:lvl8pPr>
              <a:defRPr sz="1725" b="0">
                <a:solidFill>
                  <a:srgbClr val="B8C7D6"/>
                </a:solidFill>
              </a:defRPr>
            </a:lvl8pPr>
            <a:lvl9pPr>
              <a:defRPr sz="1725" b="0">
                <a:solidFill>
                  <a:srgbClr val="B8C7D6"/>
                </a:solidFill>
              </a:defRPr>
            </a:lvl9pPr>
          </a:lstStyle>
          <a:p xmlns:a="http://schemas.openxmlformats.org/drawingml/2006/main">
            <a:pPr>
              <a:defRPr sz="1725" b="0">
                <a:solidFill>
                  <a:srgbClr val="B8C7D6"/>
                </a:solidFill>
              </a:defRPr>
            </a:pPr>
            <a:r>
              <a:rPr sz="1725" b="0">
                <a:solidFill>
                  <a:srgbClr val="B8C7D6"/>
                </a:solidFill>
              </a:rPr>
              <a:t>Validated RSAT responses; 62.14% dissatisfied</a:t>
            </a:r>
          </a:p>
        </p:txBody>
      </p:sp>
      <p:sp>
        <p:nvSpPr>
          <p:cNvPr id="10" name="text-39">
            <a:extLst xmlns:a="http://schemas.openxmlformats.org/drawingml/2006/main">
              <a:ext uri="{FF2B5EF4-FFF2-40B4-BE49-F238E27FC236}">
                <a16:creationId xmlns:a16="http://schemas.microsoft.com/office/drawing/2014/main" id="{E44195BE-7182-415B-8937-35AFD782CD94}"/>
              </a:ext>
            </a:extLst>
          </p:cNvPr>
          <p:cNvSpPr>
            <a:spLocks xmlns:a="http://schemas.openxmlformats.org/drawingml/2006/main" noGrp="1"/>
          </p:cNvSpPr>
          <p:nvPr/>
        </p:nvSpPr>
        <p:spPr>
          <a:xfrm xmlns:a="http://schemas.openxmlformats.org/drawingml/2006/main">
            <a:off x="609600" y="2886075"/>
            <a:ext cx="10906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F0F6FC"/>
                </a:solidFill>
              </a:defRPr>
            </a:defPPr>
            <a:lvl1pPr>
              <a:defRPr sz="1575" b="0">
                <a:solidFill>
                  <a:srgbClr val="F0F6FC"/>
                </a:solidFill>
              </a:defRPr>
            </a:lvl1pPr>
            <a:lvl2pPr>
              <a:defRPr sz="1575" b="0">
                <a:solidFill>
                  <a:srgbClr val="F0F6FC"/>
                </a:solidFill>
              </a:defRPr>
            </a:lvl2pPr>
            <a:lvl3pPr>
              <a:defRPr sz="1575" b="0">
                <a:solidFill>
                  <a:srgbClr val="F0F6FC"/>
                </a:solidFill>
              </a:defRPr>
            </a:lvl3pPr>
            <a:lvl4pPr>
              <a:defRPr sz="1575" b="0">
                <a:solidFill>
                  <a:srgbClr val="F0F6FC"/>
                </a:solidFill>
              </a:defRPr>
            </a:lvl4pPr>
            <a:lvl5pPr>
              <a:defRPr sz="1575" b="0">
                <a:solidFill>
                  <a:srgbClr val="F0F6FC"/>
                </a:solidFill>
              </a:defRPr>
            </a:lvl5pPr>
            <a:lvl6pPr>
              <a:defRPr sz="1575" b="0">
                <a:solidFill>
                  <a:srgbClr val="F0F6FC"/>
                </a:solidFill>
              </a:defRPr>
            </a:lvl6pPr>
            <a:lvl7pPr>
              <a:defRPr sz="1575" b="0">
                <a:solidFill>
                  <a:srgbClr val="F0F6FC"/>
                </a:solidFill>
              </a:defRPr>
            </a:lvl7pPr>
            <a:lvl8pPr>
              <a:defRPr sz="1575" b="0">
                <a:solidFill>
                  <a:srgbClr val="F0F6FC"/>
                </a:solidFill>
              </a:defRPr>
            </a:lvl8pPr>
            <a:lvl9pPr>
              <a:defRPr sz="1575" b="0">
                <a:solidFill>
                  <a:srgbClr val="F0F6FC"/>
                </a:solidFill>
              </a:defRPr>
            </a:lvl9pPr>
          </a:lstStyle>
          <a:p xmlns:a="http://schemas.openxmlformats.org/drawingml/2006/main">
            <a:pPr>
              <a:defRPr sz="1575" b="0">
                <a:solidFill>
                  <a:srgbClr val="F0F6FC"/>
                </a:solidFill>
              </a:defRPr>
            </a:pPr>
            <a:r>
              <a:rPr sz="1575" b="0">
                <a:solidFill>
                  <a:srgbClr val="F0F6FC"/>
                </a:solidFill>
              </a:rPr>
              <a:t>Public NYC Open Data: erm2-nwe9 and 5ijn-vbdv</a:t>
            </a:r>
          </a:p>
        </p:txBody>
      </p:sp>
      <p:sp>
        <p:nvSpPr>
          <p:cNvPr id="11" name="text-40">
            <a:extLst xmlns:a="http://schemas.openxmlformats.org/drawingml/2006/main">
              <a:ext uri="{FF2B5EF4-FFF2-40B4-BE49-F238E27FC236}">
                <a16:creationId xmlns:a16="http://schemas.microsoft.com/office/drawing/2014/main" id="{58F63BD6-D334-4CEF-8E42-E8CBA78591BB}"/>
              </a:ext>
            </a:extLst>
          </p:cNvPr>
          <p:cNvSpPr>
            <a:spLocks xmlns:a="http://schemas.openxmlformats.org/drawingml/2006/main" noGrp="1"/>
          </p:cNvSpPr>
          <p:nvPr/>
        </p:nvSpPr>
        <p:spPr>
          <a:xfrm xmlns:a="http://schemas.openxmlformats.org/drawingml/2006/main">
            <a:off x="609600" y="327660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B8C7D6"/>
                </a:solidFill>
              </a:defRPr>
            </a:defPPr>
            <a:lvl1pPr>
              <a:defRPr sz="1725" b="0">
                <a:solidFill>
                  <a:srgbClr val="B8C7D6"/>
                </a:solidFill>
              </a:defRPr>
            </a:lvl1pPr>
            <a:lvl2pPr>
              <a:defRPr sz="1725" b="0">
                <a:solidFill>
                  <a:srgbClr val="B8C7D6"/>
                </a:solidFill>
              </a:defRPr>
            </a:lvl2pPr>
            <a:lvl3pPr>
              <a:defRPr sz="1725" b="0">
                <a:solidFill>
                  <a:srgbClr val="B8C7D6"/>
                </a:solidFill>
              </a:defRPr>
            </a:lvl3pPr>
            <a:lvl4pPr>
              <a:defRPr sz="1725" b="0">
                <a:solidFill>
                  <a:srgbClr val="B8C7D6"/>
                </a:solidFill>
              </a:defRPr>
            </a:lvl4pPr>
            <a:lvl5pPr>
              <a:defRPr sz="1725" b="0">
                <a:solidFill>
                  <a:srgbClr val="B8C7D6"/>
                </a:solidFill>
              </a:defRPr>
            </a:lvl5pPr>
            <a:lvl6pPr>
              <a:defRPr sz="1725" b="0">
                <a:solidFill>
                  <a:srgbClr val="B8C7D6"/>
                </a:solidFill>
              </a:defRPr>
            </a:lvl6pPr>
            <a:lvl7pPr>
              <a:defRPr sz="1725" b="0">
                <a:solidFill>
                  <a:srgbClr val="B8C7D6"/>
                </a:solidFill>
              </a:defRPr>
            </a:lvl7pPr>
            <a:lvl8pPr>
              <a:defRPr sz="1725" b="0">
                <a:solidFill>
                  <a:srgbClr val="B8C7D6"/>
                </a:solidFill>
              </a:defRPr>
            </a:lvl8pPr>
            <a:lvl9pPr>
              <a:defRPr sz="1725" b="0">
                <a:solidFill>
                  <a:srgbClr val="B8C7D6"/>
                </a:solidFill>
              </a:defRPr>
            </a:lvl9pPr>
          </a:lstStyle>
          <a:p xmlns:a="http://schemas.openxmlformats.org/drawingml/2006/main">
            <a:pPr>
              <a:defRPr sz="1725" b="0">
                <a:solidFill>
                  <a:srgbClr val="B8C7D6"/>
                </a:solidFill>
              </a:defRPr>
            </a:pPr>
            <a:r>
              <a:rPr sz="1725" b="0">
                <a:solidFill>
                  <a:srgbClr val="B8C7D6"/>
                </a:solidFill>
              </a:rPr>
              <a:t>Clean dates and boroughs, normalise text, remove duplicate leakage, encode categories.</a:t>
            </a:r>
          </a:p>
          <a:p xmlns:a="http://schemas.openxmlformats.org/drawingml/2006/main">
            <a:pPr>
              <a:defRPr sz="1725" b="0">
                <a:solidFill>
                  <a:srgbClr val="B8C7D6"/>
                </a:solidFill>
              </a:defRPr>
            </a:pPr>
            <a:r>
              <a:rPr sz="1725" b="0">
                <a:solidFill>
                  <a:srgbClr val="B8C7D6"/>
                </a:solidFill>
              </a:rPr>
              <a:t>Join by service, borough and month because individual survey-ticket links are unavailable.</a:t>
            </a:r>
          </a:p>
        </p:txBody>
      </p:sp>
      <p:graphicFrame>
        <p:nvGraphicFramePr>
          <p:cNvPr id="12" name="">
            <a:extLst xmlns:a="http://schemas.openxmlformats.org/drawingml/2006/main">
              <a:ext uri="{FF2B5EF4-FFF2-40B4-BE49-F238E27FC236}">
                <a16:creationId xmlns:a16="http://schemas.microsoft.com/office/drawing/2014/main" id="{609CD120-5827-4704-BB2F-F33CDA5A9DB8}"/>
              </a:ext>
            </a:extLst>
          </p:cNvPr>
          <p:cNvGraphicFramePr/>
          <p:nvPr/>
        </p:nvGraphicFramePr>
        <p:xfrm>
          <a:off xmlns:a="http://schemas.openxmlformats.org/drawingml/2006/main" x="609600" y="4029075"/>
          <a:ext xmlns:a="http://schemas.openxmlformats.org/drawingml/2006/main" cx="10972800" cy="1371600"/>
        </p:xfrm>
        <a:graphic xmlns:a="http://schemas.openxmlformats.org/drawingml/2006/main">
          <a:graphicData uri="http://schemas.openxmlformats.org/drawingml/2006/table">
            <a:tbl>
              <a:tblPr/>
              <a:tblGrid>
                <a:gridCol w="2952750"/>
                <a:gridCol w="5429250"/>
                <a:gridCol w="2590800"/>
              </a:tblGrid>
              <a:tr h="342900">
                <a:tc>
                  <a:txBody>
                    <a:bodyPr/>
                    <a:lstStyle/>
                    <a:p>
                      <a:r>
                        <a:rPr sz="1500" b="1">
                          <a:solidFill>
                            <a:srgbClr val="4CC9F0"/>
                          </a:solidFill>
                        </a:rPr>
                        <a:t>Forecast partition</a:t>
                      </a:r>
                    </a:p>
                  </a:txBody>
                  <a:tcPr marL="114300" marR="95250" marT="57150" marB="57150" anchor="ctr">
                    <a:lnL w="9525">
                      <a:solidFill>
                        <a:srgbClr val="294158"/>
                      </a:solidFill>
                      <a:prstDash val="solid"/>
                    </a:lnL>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00" b="1">
                          <a:solidFill>
                            <a:srgbClr val="4CC9F0"/>
                          </a:solidFill>
                        </a:rPr>
                        <a:t>Target period</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00" b="1">
                          <a:solidFill>
                            <a:srgbClr val="4CC9F0"/>
                          </a:solidFill>
                        </a:rPr>
                        <a:t>Cells</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r>
              <a:tr h="342900">
                <a:tc>
                  <a:txBody>
                    <a:bodyPr/>
                    <a:lstStyle/>
                    <a:p>
                      <a:r>
                        <a:rPr sz="1500" b="0">
                          <a:solidFill>
                            <a:srgbClr val="F0F6FC"/>
                          </a:solidFill>
                        </a:rPr>
                        <a:t>Train</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Feb-Aug 2023</a:t>
                      </a:r>
                    </a:p>
                  </a:txBody>
                  <a:tcPr marL="114300" marR="95250" marT="57150" marB="57150" anchor="ctr">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578</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342900">
                <a:tc>
                  <a:txBody>
                    <a:bodyPr/>
                    <a:lstStyle/>
                    <a:p>
                      <a:r>
                        <a:rPr sz="1500" b="0">
                          <a:solidFill>
                            <a:srgbClr val="F0F6FC"/>
                          </a:solidFill>
                        </a:rPr>
                        <a:t>Validation</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500" b="0">
                          <a:solidFill>
                            <a:srgbClr val="F0F6FC"/>
                          </a:solidFill>
                        </a:rPr>
                        <a:t>Sep-Dec 2023</a:t>
                      </a:r>
                    </a:p>
                  </a:txBody>
                  <a:tcPr marL="114300" marR="95250" marT="57150" marB="57150" anchor="ctr">
                    <a:lnR w="9525">
                      <a:solidFill>
                        <a:srgbClr val="294158"/>
                      </a:solidFill>
                      <a:prstDash val="solid"/>
                    </a:lnR>
                    <a:lnB w="9525">
                      <a:solidFill>
                        <a:srgbClr val="294158"/>
                      </a:solidFill>
                      <a:prstDash val="solid"/>
                    </a:lnB>
                    <a:solidFill>
                      <a:srgbClr val="0B1220"/>
                    </a:solidFill>
                  </a:tcPr>
                </a:tc>
                <a:tc>
                  <a:txBody>
                    <a:bodyPr/>
                    <a:lstStyle/>
                    <a:p>
                      <a:r>
                        <a:rPr sz="1500" b="0">
                          <a:solidFill>
                            <a:srgbClr val="F0F6FC"/>
                          </a:solidFill>
                        </a:rPr>
                        <a:t>313</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r h="342900">
                <a:tc>
                  <a:txBody>
                    <a:bodyPr/>
                    <a:lstStyle/>
                    <a:p>
                      <a:r>
                        <a:rPr sz="1500" b="0">
                          <a:solidFill>
                            <a:srgbClr val="F0F6FC"/>
                          </a:solidFill>
                        </a:rPr>
                        <a:t>Test</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Jan-Dec 2024</a:t>
                      </a:r>
                    </a:p>
                  </a:txBody>
                  <a:tcPr marL="114300" marR="95250" marT="57150" marB="57150" anchor="ctr">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994</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bl>
          </a:graphicData>
        </a:graphic>
      </p:graphicFrame>
      <p:sp>
        <p:nvSpPr>
          <p:cNvPr id="13" name="rule-41">
            <a:extLst xmlns:a="http://schemas.openxmlformats.org/drawingml/2006/main">
              <a:ext uri="{FF2B5EF4-FFF2-40B4-BE49-F238E27FC236}">
                <a16:creationId xmlns:a16="http://schemas.microsoft.com/office/drawing/2014/main" id="{2630825A-6DA5-4301-B7E6-4F8C87B2602D}"/>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14" name="text-42">
            <a:extLst xmlns:a="http://schemas.openxmlformats.org/drawingml/2006/main">
              <a:ext uri="{FF2B5EF4-FFF2-40B4-BE49-F238E27FC236}">
                <a16:creationId xmlns:a16="http://schemas.microsoft.com/office/drawing/2014/main" id="{988B1C97-DE3A-4B88-BF33-2F2C08E30E19}"/>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The two sources provide operational records and citizen satisfaction evidence.</a:t>
            </a:r>
          </a:p>
        </p:txBody>
      </p:sp>
      <p:sp>
        <p:nvSpPr>
          <p:cNvPr id="15" name="text-43">
            <a:extLst xmlns:a="http://schemas.openxmlformats.org/drawingml/2006/main">
              <a:ext uri="{FF2B5EF4-FFF2-40B4-BE49-F238E27FC236}">
                <a16:creationId xmlns:a16="http://schemas.microsoft.com/office/drawing/2014/main" id="{FA58ED49-994F-433E-A4D2-2F581DCAB815}"/>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We use 1,885 monthly cells and keep 2024 for the final forecast test.</a:t>
            </a:r>
          </a:p>
        </p:txBody>
      </p:sp>
    </p:spTree>
    <p:extLst>
      <p:ext uri="{BB962C8B-B14F-4D97-AF65-F5344CB8AC3E}">
        <p14:creationId xmlns:p14="http://schemas.microsoft.com/office/powerpoint/2010/main" val="1229167721"/>
      </p:ext>
    </p:extLst>
  </p:cSld>
</p:sld>
</file>

<file path=ppt/slides/slide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6" name="text-44">
            <a:extLst xmlns:a="http://schemas.openxmlformats.org/drawingml/2006/main">
              <a:ext uri="{FF2B5EF4-FFF2-40B4-BE49-F238E27FC236}">
                <a16:creationId xmlns:a16="http://schemas.microsoft.com/office/drawing/2014/main" id="{43C585C6-4380-464C-B29E-06FF93A550DB}"/>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3   Pipeline and model settings   12 marks</a:t>
            </a:r>
          </a:p>
        </p:txBody>
      </p:sp>
      <p:sp>
        <p:nvSpPr>
          <p:cNvPr id="2" name="text-45">
            <a:extLst xmlns:a="http://schemas.openxmlformats.org/drawingml/2006/main">
              <a:ext uri="{FF2B5EF4-FFF2-40B4-BE49-F238E27FC236}">
                <a16:creationId xmlns:a16="http://schemas.microsoft.com/office/drawing/2014/main" id="{4E95CB48-8AE6-4927-B346-39D59F191ACB}"/>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Implementation methodology</a:t>
            </a:r>
          </a:p>
        </p:txBody>
      </p:sp>
      <p:sp>
        <p:nvSpPr>
          <p:cNvPr id="3" name="rule-46">
            <a:extLst xmlns:a="http://schemas.openxmlformats.org/drawingml/2006/main">
              <a:ext uri="{FF2B5EF4-FFF2-40B4-BE49-F238E27FC236}">
                <a16:creationId xmlns:a16="http://schemas.microsoft.com/office/drawing/2014/main" id="{6BCA9611-A288-4050-837F-8441DEA1AE4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47">
            <a:extLst xmlns:a="http://schemas.openxmlformats.org/drawingml/2006/main">
              <a:ext uri="{FF2B5EF4-FFF2-40B4-BE49-F238E27FC236}">
                <a16:creationId xmlns:a16="http://schemas.microsoft.com/office/drawing/2014/main" id="{9D3DB990-96E8-4849-AC8A-2D56EFBBFD14}"/>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48">
            <a:extLst xmlns:a="http://schemas.openxmlformats.org/drawingml/2006/main">
              <a:ext uri="{FF2B5EF4-FFF2-40B4-BE49-F238E27FC236}">
                <a16:creationId xmlns:a16="http://schemas.microsoft.com/office/drawing/2014/main" id="{BC8C8E8E-B84C-45E7-A253-161C889F1A27}"/>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04 / 10</a:t>
            </a:r>
          </a:p>
        </p:txBody>
      </p:sp>
      <p:sp>
        <p:nvSpPr>
          <p:cNvPr id="6" name="pipeline-stage-1">
            <a:extLst xmlns:a="http://schemas.openxmlformats.org/drawingml/2006/main">
              <a:ext uri="{FF2B5EF4-FFF2-40B4-BE49-F238E27FC236}">
                <a16:creationId xmlns:a16="http://schemas.microsoft.com/office/drawing/2014/main" id="{7DE91F27-2695-478B-8E13-EB9C68DC7A12}"/>
              </a:ext>
            </a:extLst>
          </p:cNvPr>
          <p:cNvSpPr>
            <a:spLocks xmlns:a="http://schemas.openxmlformats.org/drawingml/2006/main" noGrp="1"/>
          </p:cNvSpPr>
          <p:nvPr/>
        </p:nvSpPr>
        <p:spPr>
          <a:xfrm xmlns:a="http://schemas.openxmlformats.org/drawingml/2006/main">
            <a:off x="609600" y="1790700"/>
            <a:ext cx="2381250" cy="1066800"/>
          </a:xfrm>
          <a:prstGeom xmlns:a="http://schemas.openxmlformats.org/drawingml/2006/main" prst="rect">
            <a:avLst/>
          </a:prstGeom>
          <a:solidFill xmlns:a="http://schemas.openxmlformats.org/drawingml/2006/main">
            <a:srgbClr val="111C2C"/>
          </a:solidFill>
          <a:ln xmlns:a="http://schemas.openxmlformats.org/drawingml/2006/main" w="9525">
            <a:solidFill>
              <a:srgbClr val="294158"/>
            </a:solidFill>
            <a:prstDash val="solid"/>
          </a:ln>
        </p:spPr>
      </p:sp>
      <p:sp>
        <p:nvSpPr>
          <p:cNvPr id="7" name="text-49">
            <a:extLst xmlns:a="http://schemas.openxmlformats.org/drawingml/2006/main">
              <a:ext uri="{FF2B5EF4-FFF2-40B4-BE49-F238E27FC236}">
                <a16:creationId xmlns:a16="http://schemas.microsoft.com/office/drawing/2014/main" id="{1DA6EF82-F9D6-4B6A-8279-561DFF30D77C}"/>
              </a:ext>
            </a:extLst>
          </p:cNvPr>
          <p:cNvSpPr>
            <a:spLocks xmlns:a="http://schemas.openxmlformats.org/drawingml/2006/main" noGrp="1"/>
          </p:cNvSpPr>
          <p:nvPr/>
        </p:nvSpPr>
        <p:spPr>
          <a:xfrm xmlns:a="http://schemas.openxmlformats.org/drawingml/2006/main">
            <a:off x="742950" y="191452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4CC9F0"/>
                </a:solidFill>
              </a:defRPr>
            </a:defPPr>
            <a:lvl1pPr>
              <a:defRPr sz="1725" b="1">
                <a:solidFill>
                  <a:srgbClr val="4CC9F0"/>
                </a:solidFill>
              </a:defRPr>
            </a:lvl1pPr>
            <a:lvl2pPr>
              <a:defRPr sz="1725" b="1">
                <a:solidFill>
                  <a:srgbClr val="4CC9F0"/>
                </a:solidFill>
              </a:defRPr>
            </a:lvl2pPr>
            <a:lvl3pPr>
              <a:defRPr sz="1725" b="1">
                <a:solidFill>
                  <a:srgbClr val="4CC9F0"/>
                </a:solidFill>
              </a:defRPr>
            </a:lvl3pPr>
            <a:lvl4pPr>
              <a:defRPr sz="1725" b="1">
                <a:solidFill>
                  <a:srgbClr val="4CC9F0"/>
                </a:solidFill>
              </a:defRPr>
            </a:lvl4pPr>
            <a:lvl5pPr>
              <a:defRPr sz="1725" b="1">
                <a:solidFill>
                  <a:srgbClr val="4CC9F0"/>
                </a:solidFill>
              </a:defRPr>
            </a:lvl5pPr>
            <a:lvl6pPr>
              <a:defRPr sz="1725" b="1">
                <a:solidFill>
                  <a:srgbClr val="4CC9F0"/>
                </a:solidFill>
              </a:defRPr>
            </a:lvl6pPr>
            <a:lvl7pPr>
              <a:defRPr sz="1725" b="1">
                <a:solidFill>
                  <a:srgbClr val="4CC9F0"/>
                </a:solidFill>
              </a:defRPr>
            </a:lvl7pPr>
            <a:lvl8pPr>
              <a:defRPr sz="1725" b="1">
                <a:solidFill>
                  <a:srgbClr val="4CC9F0"/>
                </a:solidFill>
              </a:defRPr>
            </a:lvl8pPr>
            <a:lvl9pPr>
              <a:defRPr sz="1725" b="1">
                <a:solidFill>
                  <a:srgbClr val="4CC9F0"/>
                </a:solidFill>
              </a:defRPr>
            </a:lvl9pPr>
          </a:lstStyle>
          <a:p xmlns:a="http://schemas.openxmlformats.org/drawingml/2006/main">
            <a:pPr>
              <a:defRPr sz="1725" b="1">
                <a:solidFill>
                  <a:srgbClr val="4CC9F0"/>
                </a:solidFill>
              </a:defRPr>
            </a:pPr>
            <a:r>
              <a:rPr sz="1725" b="1">
                <a:solidFill>
                  <a:srgbClr val="4CC9F0"/>
                </a:solidFill>
              </a:rPr>
              <a:t>01  Source data</a:t>
            </a:r>
          </a:p>
        </p:txBody>
      </p:sp>
      <p:sp>
        <p:nvSpPr>
          <p:cNvPr id="8" name="text-50">
            <a:extLst xmlns:a="http://schemas.openxmlformats.org/drawingml/2006/main">
              <a:ext uri="{FF2B5EF4-FFF2-40B4-BE49-F238E27FC236}">
                <a16:creationId xmlns:a16="http://schemas.microsoft.com/office/drawing/2014/main" id="{CBF7FB1F-A66C-4782-8D37-BC6A09981C6F}"/>
              </a:ext>
            </a:extLst>
          </p:cNvPr>
          <p:cNvSpPr>
            <a:spLocks xmlns:a="http://schemas.openxmlformats.org/drawingml/2006/main" noGrp="1"/>
          </p:cNvSpPr>
          <p:nvPr/>
        </p:nvSpPr>
        <p:spPr>
          <a:xfrm xmlns:a="http://schemas.openxmlformats.org/drawingml/2006/main">
            <a:off x="742950" y="2305050"/>
            <a:ext cx="2133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F0F6FC"/>
                </a:solidFill>
              </a:defRPr>
            </a:defPPr>
            <a:lvl1pPr>
              <a:defRPr sz="1575" b="0">
                <a:solidFill>
                  <a:srgbClr val="F0F6FC"/>
                </a:solidFill>
              </a:defRPr>
            </a:lvl1pPr>
            <a:lvl2pPr>
              <a:defRPr sz="1575" b="0">
                <a:solidFill>
                  <a:srgbClr val="F0F6FC"/>
                </a:solidFill>
              </a:defRPr>
            </a:lvl2pPr>
            <a:lvl3pPr>
              <a:defRPr sz="1575" b="0">
                <a:solidFill>
                  <a:srgbClr val="F0F6FC"/>
                </a:solidFill>
              </a:defRPr>
            </a:lvl3pPr>
            <a:lvl4pPr>
              <a:defRPr sz="1575" b="0">
                <a:solidFill>
                  <a:srgbClr val="F0F6FC"/>
                </a:solidFill>
              </a:defRPr>
            </a:lvl4pPr>
            <a:lvl5pPr>
              <a:defRPr sz="1575" b="0">
                <a:solidFill>
                  <a:srgbClr val="F0F6FC"/>
                </a:solidFill>
              </a:defRPr>
            </a:lvl5pPr>
            <a:lvl6pPr>
              <a:defRPr sz="1575" b="0">
                <a:solidFill>
                  <a:srgbClr val="F0F6FC"/>
                </a:solidFill>
              </a:defRPr>
            </a:lvl6pPr>
            <a:lvl7pPr>
              <a:defRPr sz="1575" b="0">
                <a:solidFill>
                  <a:srgbClr val="F0F6FC"/>
                </a:solidFill>
              </a:defRPr>
            </a:lvl7pPr>
            <a:lvl8pPr>
              <a:defRPr sz="1575" b="0">
                <a:solidFill>
                  <a:srgbClr val="F0F6FC"/>
                </a:solidFill>
              </a:defRPr>
            </a:lvl8pPr>
            <a:lvl9pPr>
              <a:defRPr sz="1575" b="0">
                <a:solidFill>
                  <a:srgbClr val="F0F6FC"/>
                </a:solidFill>
              </a:defRPr>
            </a:lvl9pPr>
          </a:lstStyle>
          <a:p xmlns:a="http://schemas.openxmlformats.org/drawingml/2006/main">
            <a:pPr>
              <a:defRPr sz="1575" b="0">
                <a:solidFill>
                  <a:srgbClr val="F0F6FC"/>
                </a:solidFill>
              </a:defRPr>
            </a:pPr>
            <a:r>
              <a:rPr sz="1575" b="0">
                <a:solidFill>
                  <a:srgbClr val="F0F6FC"/>
                </a:solidFill>
              </a:rPr>
              <a:t>311 requests and</a:t>
            </a:r>
          </a:p>
          <a:p xmlns:a="http://schemas.openxmlformats.org/drawingml/2006/main">
            <a:pPr>
              <a:defRPr sz="1575" b="0">
                <a:solidFill>
                  <a:srgbClr val="F0F6FC"/>
                </a:solidFill>
              </a:defRPr>
            </a:pPr>
            <a:r>
              <a:rPr sz="1575" b="0">
                <a:solidFill>
                  <a:srgbClr val="F0F6FC"/>
                </a:solidFill>
              </a:rPr>
              <a:t>RSAT surveys</a:t>
            </a:r>
          </a:p>
        </p:txBody>
      </p:sp>
      <p:sp>
        <p:nvSpPr>
          <p:cNvPr id="9" name="pipeline-connector-0">
            <a:extLst xmlns:a="http://schemas.openxmlformats.org/drawingml/2006/main">
              <a:ext uri="{FF2B5EF4-FFF2-40B4-BE49-F238E27FC236}">
                <a16:creationId xmlns:a16="http://schemas.microsoft.com/office/drawing/2014/main" id="{A5654ADB-7514-43F3-B687-0C6F3C1185C2}"/>
              </a:ext>
            </a:extLst>
          </p:cNvPr>
          <p:cNvSpPr>
            <a:spLocks xmlns:a="http://schemas.openxmlformats.org/drawingml/2006/main" noGrp="1"/>
          </p:cNvSpPr>
          <p:nvPr/>
        </p:nvSpPr>
        <p:spPr>
          <a:xfrm xmlns:a="http://schemas.openxmlformats.org/drawingml/2006/main">
            <a:off x="3114675" y="2219325"/>
            <a:ext cx="228600" cy="180975"/>
          </a:xfrm>
          <a:prstGeom xmlns:a="http://schemas.openxmlformats.org/drawingml/2006/main" prst="rightArrow">
            <a:avLst/>
          </a:prstGeom>
          <a:solidFill xmlns:a="http://schemas.openxmlformats.org/drawingml/2006/main">
            <a:srgbClr val="4CC9F0"/>
          </a:solidFill>
          <a:ln xmlns:a="http://schemas.openxmlformats.org/drawingml/2006/main" w="0">
            <a:noFill/>
            <a:prstDash val="solid"/>
          </a:ln>
        </p:spPr>
      </p:sp>
      <p:sp>
        <p:nvSpPr>
          <p:cNvPr id="10" name="pipeline-stage-2">
            <a:extLst xmlns:a="http://schemas.openxmlformats.org/drawingml/2006/main">
              <a:ext uri="{FF2B5EF4-FFF2-40B4-BE49-F238E27FC236}">
                <a16:creationId xmlns:a16="http://schemas.microsoft.com/office/drawing/2014/main" id="{7B851FCE-CF11-4276-BF92-24581D5509F6}"/>
              </a:ext>
            </a:extLst>
          </p:cNvPr>
          <p:cNvSpPr>
            <a:spLocks xmlns:a="http://schemas.openxmlformats.org/drawingml/2006/main" noGrp="1"/>
          </p:cNvSpPr>
          <p:nvPr/>
        </p:nvSpPr>
        <p:spPr>
          <a:xfrm xmlns:a="http://schemas.openxmlformats.org/drawingml/2006/main">
            <a:off x="3448050" y="1790700"/>
            <a:ext cx="2381250" cy="1066800"/>
          </a:xfrm>
          <a:prstGeom xmlns:a="http://schemas.openxmlformats.org/drawingml/2006/main" prst="rect">
            <a:avLst/>
          </a:prstGeom>
          <a:solidFill xmlns:a="http://schemas.openxmlformats.org/drawingml/2006/main">
            <a:srgbClr val="111C2C"/>
          </a:solidFill>
          <a:ln xmlns:a="http://schemas.openxmlformats.org/drawingml/2006/main" w="9525">
            <a:solidFill>
              <a:srgbClr val="294158"/>
            </a:solidFill>
            <a:prstDash val="solid"/>
          </a:ln>
        </p:spPr>
      </p:sp>
      <p:sp>
        <p:nvSpPr>
          <p:cNvPr id="11" name="text-51">
            <a:extLst xmlns:a="http://schemas.openxmlformats.org/drawingml/2006/main">
              <a:ext uri="{FF2B5EF4-FFF2-40B4-BE49-F238E27FC236}">
                <a16:creationId xmlns:a16="http://schemas.microsoft.com/office/drawing/2014/main" id="{31FD24A9-6D0E-4DD6-9308-A3BC5C3E00DB}"/>
              </a:ext>
            </a:extLst>
          </p:cNvPr>
          <p:cNvSpPr>
            <a:spLocks xmlns:a="http://schemas.openxmlformats.org/drawingml/2006/main" noGrp="1"/>
          </p:cNvSpPr>
          <p:nvPr/>
        </p:nvSpPr>
        <p:spPr>
          <a:xfrm xmlns:a="http://schemas.openxmlformats.org/drawingml/2006/main">
            <a:off x="3581400" y="191452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4CC9F0"/>
                </a:solidFill>
              </a:defRPr>
            </a:defPPr>
            <a:lvl1pPr>
              <a:defRPr sz="1725" b="1">
                <a:solidFill>
                  <a:srgbClr val="4CC9F0"/>
                </a:solidFill>
              </a:defRPr>
            </a:lvl1pPr>
            <a:lvl2pPr>
              <a:defRPr sz="1725" b="1">
                <a:solidFill>
                  <a:srgbClr val="4CC9F0"/>
                </a:solidFill>
              </a:defRPr>
            </a:lvl2pPr>
            <a:lvl3pPr>
              <a:defRPr sz="1725" b="1">
                <a:solidFill>
                  <a:srgbClr val="4CC9F0"/>
                </a:solidFill>
              </a:defRPr>
            </a:lvl3pPr>
            <a:lvl4pPr>
              <a:defRPr sz="1725" b="1">
                <a:solidFill>
                  <a:srgbClr val="4CC9F0"/>
                </a:solidFill>
              </a:defRPr>
            </a:lvl4pPr>
            <a:lvl5pPr>
              <a:defRPr sz="1725" b="1">
                <a:solidFill>
                  <a:srgbClr val="4CC9F0"/>
                </a:solidFill>
              </a:defRPr>
            </a:lvl5pPr>
            <a:lvl6pPr>
              <a:defRPr sz="1725" b="1">
                <a:solidFill>
                  <a:srgbClr val="4CC9F0"/>
                </a:solidFill>
              </a:defRPr>
            </a:lvl6pPr>
            <a:lvl7pPr>
              <a:defRPr sz="1725" b="1">
                <a:solidFill>
                  <a:srgbClr val="4CC9F0"/>
                </a:solidFill>
              </a:defRPr>
            </a:lvl7pPr>
            <a:lvl8pPr>
              <a:defRPr sz="1725" b="1">
                <a:solidFill>
                  <a:srgbClr val="4CC9F0"/>
                </a:solidFill>
              </a:defRPr>
            </a:lvl8pPr>
            <a:lvl9pPr>
              <a:defRPr sz="1725" b="1">
                <a:solidFill>
                  <a:srgbClr val="4CC9F0"/>
                </a:solidFill>
              </a:defRPr>
            </a:lvl9pPr>
          </a:lstStyle>
          <a:p xmlns:a="http://schemas.openxmlformats.org/drawingml/2006/main">
            <a:pPr>
              <a:defRPr sz="1725" b="1">
                <a:solidFill>
                  <a:srgbClr val="4CC9F0"/>
                </a:solidFill>
              </a:defRPr>
            </a:pPr>
            <a:r>
              <a:rPr sz="1725" b="1">
                <a:solidFill>
                  <a:srgbClr val="4CC9F0"/>
                </a:solidFill>
              </a:rPr>
              <a:t>02  Features</a:t>
            </a:r>
          </a:p>
        </p:txBody>
      </p:sp>
      <p:sp>
        <p:nvSpPr>
          <p:cNvPr id="12" name="text-52">
            <a:extLst xmlns:a="http://schemas.openxmlformats.org/drawingml/2006/main">
              <a:ext uri="{FF2B5EF4-FFF2-40B4-BE49-F238E27FC236}">
                <a16:creationId xmlns:a16="http://schemas.microsoft.com/office/drawing/2014/main" id="{6DED7660-8A03-4195-AF15-F8DC426268DC}"/>
              </a:ext>
            </a:extLst>
          </p:cNvPr>
          <p:cNvSpPr>
            <a:spLocks xmlns:a="http://schemas.openxmlformats.org/drawingml/2006/main" noGrp="1"/>
          </p:cNvSpPr>
          <p:nvPr/>
        </p:nvSpPr>
        <p:spPr>
          <a:xfrm xmlns:a="http://schemas.openxmlformats.org/drawingml/2006/main">
            <a:off x="3581400" y="2305050"/>
            <a:ext cx="2133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F0F6FC"/>
                </a:solidFill>
              </a:defRPr>
            </a:defPPr>
            <a:lvl1pPr>
              <a:defRPr sz="1575" b="0">
                <a:solidFill>
                  <a:srgbClr val="F0F6FC"/>
                </a:solidFill>
              </a:defRPr>
            </a:lvl1pPr>
            <a:lvl2pPr>
              <a:defRPr sz="1575" b="0">
                <a:solidFill>
                  <a:srgbClr val="F0F6FC"/>
                </a:solidFill>
              </a:defRPr>
            </a:lvl2pPr>
            <a:lvl3pPr>
              <a:defRPr sz="1575" b="0">
                <a:solidFill>
                  <a:srgbClr val="F0F6FC"/>
                </a:solidFill>
              </a:defRPr>
            </a:lvl3pPr>
            <a:lvl4pPr>
              <a:defRPr sz="1575" b="0">
                <a:solidFill>
                  <a:srgbClr val="F0F6FC"/>
                </a:solidFill>
              </a:defRPr>
            </a:lvl4pPr>
            <a:lvl5pPr>
              <a:defRPr sz="1575" b="0">
                <a:solidFill>
                  <a:srgbClr val="F0F6FC"/>
                </a:solidFill>
              </a:defRPr>
            </a:lvl5pPr>
            <a:lvl6pPr>
              <a:defRPr sz="1575" b="0">
                <a:solidFill>
                  <a:srgbClr val="F0F6FC"/>
                </a:solidFill>
              </a:defRPr>
            </a:lvl6pPr>
            <a:lvl7pPr>
              <a:defRPr sz="1575" b="0">
                <a:solidFill>
                  <a:srgbClr val="F0F6FC"/>
                </a:solidFill>
              </a:defRPr>
            </a:lvl7pPr>
            <a:lvl8pPr>
              <a:defRPr sz="1575" b="0">
                <a:solidFill>
                  <a:srgbClr val="F0F6FC"/>
                </a:solidFill>
              </a:defRPr>
            </a:lvl8pPr>
            <a:lvl9pPr>
              <a:defRPr sz="1575" b="0">
                <a:solidFill>
                  <a:srgbClr val="F0F6FC"/>
                </a:solidFill>
              </a:defRPr>
            </a:lvl9pPr>
          </a:lstStyle>
          <a:p xmlns:a="http://schemas.openxmlformats.org/drawingml/2006/main">
            <a:pPr>
              <a:defRPr sz="1575" b="0">
                <a:solidFill>
                  <a:srgbClr val="F0F6FC"/>
                </a:solidFill>
              </a:defRPr>
            </a:pPr>
            <a:r>
              <a:rPr sz="1575" b="0">
                <a:solidFill>
                  <a:srgbClr val="F0F6FC"/>
                </a:solidFill>
              </a:rPr>
              <a:t>Structured, VADER,</a:t>
            </a:r>
          </a:p>
          <a:p xmlns:a="http://schemas.openxmlformats.org/drawingml/2006/main">
            <a:pPr>
              <a:defRPr sz="1575" b="0">
                <a:solidFill>
                  <a:srgbClr val="F0F6FC"/>
                </a:solidFill>
              </a:defRPr>
            </a:pPr>
            <a:r>
              <a:rPr sz="1575" b="0">
                <a:solidFill>
                  <a:srgbClr val="F0F6FC"/>
                </a:solidFill>
              </a:rPr>
              <a:t>topics and ABSA</a:t>
            </a:r>
          </a:p>
        </p:txBody>
      </p:sp>
      <p:sp>
        <p:nvSpPr>
          <p:cNvPr id="13" name="pipeline-connector-1">
            <a:extLst xmlns:a="http://schemas.openxmlformats.org/drawingml/2006/main">
              <a:ext uri="{FF2B5EF4-FFF2-40B4-BE49-F238E27FC236}">
                <a16:creationId xmlns:a16="http://schemas.microsoft.com/office/drawing/2014/main" id="{3C8441F6-2154-49B0-B988-A6C3F48F236B}"/>
              </a:ext>
            </a:extLst>
          </p:cNvPr>
          <p:cNvSpPr>
            <a:spLocks xmlns:a="http://schemas.openxmlformats.org/drawingml/2006/main" noGrp="1"/>
          </p:cNvSpPr>
          <p:nvPr/>
        </p:nvSpPr>
        <p:spPr>
          <a:xfrm xmlns:a="http://schemas.openxmlformats.org/drawingml/2006/main">
            <a:off x="5953125" y="2219325"/>
            <a:ext cx="228600" cy="180975"/>
          </a:xfrm>
          <a:prstGeom xmlns:a="http://schemas.openxmlformats.org/drawingml/2006/main" prst="rightArrow">
            <a:avLst/>
          </a:prstGeom>
          <a:solidFill xmlns:a="http://schemas.openxmlformats.org/drawingml/2006/main">
            <a:srgbClr val="4CC9F0"/>
          </a:solidFill>
          <a:ln xmlns:a="http://schemas.openxmlformats.org/drawingml/2006/main" w="0">
            <a:noFill/>
            <a:prstDash val="solid"/>
          </a:ln>
        </p:spPr>
      </p:sp>
      <p:sp>
        <p:nvSpPr>
          <p:cNvPr id="14" name="pipeline-stage-3">
            <a:extLst xmlns:a="http://schemas.openxmlformats.org/drawingml/2006/main">
              <a:ext uri="{FF2B5EF4-FFF2-40B4-BE49-F238E27FC236}">
                <a16:creationId xmlns:a16="http://schemas.microsoft.com/office/drawing/2014/main" id="{DADCE373-271F-49D7-B00C-5D05F7770825}"/>
              </a:ext>
            </a:extLst>
          </p:cNvPr>
          <p:cNvSpPr>
            <a:spLocks xmlns:a="http://schemas.openxmlformats.org/drawingml/2006/main" noGrp="1"/>
          </p:cNvSpPr>
          <p:nvPr/>
        </p:nvSpPr>
        <p:spPr>
          <a:xfrm xmlns:a="http://schemas.openxmlformats.org/drawingml/2006/main">
            <a:off x="6286500" y="1790700"/>
            <a:ext cx="2381250" cy="1066800"/>
          </a:xfrm>
          <a:prstGeom xmlns:a="http://schemas.openxmlformats.org/drawingml/2006/main" prst="rect">
            <a:avLst/>
          </a:prstGeom>
          <a:solidFill xmlns:a="http://schemas.openxmlformats.org/drawingml/2006/main">
            <a:srgbClr val="111C2C"/>
          </a:solidFill>
          <a:ln xmlns:a="http://schemas.openxmlformats.org/drawingml/2006/main" w="9525">
            <a:solidFill>
              <a:srgbClr val="294158"/>
            </a:solidFill>
            <a:prstDash val="solid"/>
          </a:ln>
        </p:spPr>
      </p:sp>
      <p:sp>
        <p:nvSpPr>
          <p:cNvPr id="15" name="text-53">
            <a:extLst xmlns:a="http://schemas.openxmlformats.org/drawingml/2006/main">
              <a:ext uri="{FF2B5EF4-FFF2-40B4-BE49-F238E27FC236}">
                <a16:creationId xmlns:a16="http://schemas.microsoft.com/office/drawing/2014/main" id="{05EAC70B-E947-4A21-AB4B-BA5A3644FFC1}"/>
              </a:ext>
            </a:extLst>
          </p:cNvPr>
          <p:cNvSpPr>
            <a:spLocks xmlns:a="http://schemas.openxmlformats.org/drawingml/2006/main" noGrp="1"/>
          </p:cNvSpPr>
          <p:nvPr/>
        </p:nvSpPr>
        <p:spPr>
          <a:xfrm xmlns:a="http://schemas.openxmlformats.org/drawingml/2006/main">
            <a:off x="6419850" y="191452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4CC9F0"/>
                </a:solidFill>
              </a:defRPr>
            </a:defPPr>
            <a:lvl1pPr>
              <a:defRPr sz="1725" b="1">
                <a:solidFill>
                  <a:srgbClr val="4CC9F0"/>
                </a:solidFill>
              </a:defRPr>
            </a:lvl1pPr>
            <a:lvl2pPr>
              <a:defRPr sz="1725" b="1">
                <a:solidFill>
                  <a:srgbClr val="4CC9F0"/>
                </a:solidFill>
              </a:defRPr>
            </a:lvl2pPr>
            <a:lvl3pPr>
              <a:defRPr sz="1725" b="1">
                <a:solidFill>
                  <a:srgbClr val="4CC9F0"/>
                </a:solidFill>
              </a:defRPr>
            </a:lvl3pPr>
            <a:lvl4pPr>
              <a:defRPr sz="1725" b="1">
                <a:solidFill>
                  <a:srgbClr val="4CC9F0"/>
                </a:solidFill>
              </a:defRPr>
            </a:lvl4pPr>
            <a:lvl5pPr>
              <a:defRPr sz="1725" b="1">
                <a:solidFill>
                  <a:srgbClr val="4CC9F0"/>
                </a:solidFill>
              </a:defRPr>
            </a:lvl5pPr>
            <a:lvl6pPr>
              <a:defRPr sz="1725" b="1">
                <a:solidFill>
                  <a:srgbClr val="4CC9F0"/>
                </a:solidFill>
              </a:defRPr>
            </a:lvl6pPr>
            <a:lvl7pPr>
              <a:defRPr sz="1725" b="1">
                <a:solidFill>
                  <a:srgbClr val="4CC9F0"/>
                </a:solidFill>
              </a:defRPr>
            </a:lvl7pPr>
            <a:lvl8pPr>
              <a:defRPr sz="1725" b="1">
                <a:solidFill>
                  <a:srgbClr val="4CC9F0"/>
                </a:solidFill>
              </a:defRPr>
            </a:lvl8pPr>
            <a:lvl9pPr>
              <a:defRPr sz="1725" b="1">
                <a:solidFill>
                  <a:srgbClr val="4CC9F0"/>
                </a:solidFill>
              </a:defRPr>
            </a:lvl9pPr>
          </a:lstStyle>
          <a:p xmlns:a="http://schemas.openxmlformats.org/drawingml/2006/main">
            <a:pPr>
              <a:defRPr sz="1725" b="1">
                <a:solidFill>
                  <a:srgbClr val="4CC9F0"/>
                </a:solidFill>
              </a:defRPr>
            </a:pPr>
            <a:r>
              <a:rPr sz="1725" b="1">
                <a:solidFill>
                  <a:srgbClr val="4CC9F0"/>
                </a:solidFill>
              </a:rPr>
              <a:t>03  Forecast</a:t>
            </a:r>
          </a:p>
        </p:txBody>
      </p:sp>
      <p:sp>
        <p:nvSpPr>
          <p:cNvPr id="16" name="text-54">
            <a:extLst xmlns:a="http://schemas.openxmlformats.org/drawingml/2006/main">
              <a:ext uri="{FF2B5EF4-FFF2-40B4-BE49-F238E27FC236}">
                <a16:creationId xmlns:a16="http://schemas.microsoft.com/office/drawing/2014/main" id="{CE76E1F3-74A0-4162-B0C6-56496F46CA4D}"/>
              </a:ext>
            </a:extLst>
          </p:cNvPr>
          <p:cNvSpPr>
            <a:spLocks xmlns:a="http://schemas.openxmlformats.org/drawingml/2006/main" noGrp="1"/>
          </p:cNvSpPr>
          <p:nvPr/>
        </p:nvSpPr>
        <p:spPr>
          <a:xfrm xmlns:a="http://schemas.openxmlformats.org/drawingml/2006/main">
            <a:off x="6419850" y="2305050"/>
            <a:ext cx="2133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F0F6FC"/>
                </a:solidFill>
              </a:defRPr>
            </a:defPPr>
            <a:lvl1pPr>
              <a:defRPr sz="1575" b="0">
                <a:solidFill>
                  <a:srgbClr val="F0F6FC"/>
                </a:solidFill>
              </a:defRPr>
            </a:lvl1pPr>
            <a:lvl2pPr>
              <a:defRPr sz="1575" b="0">
                <a:solidFill>
                  <a:srgbClr val="F0F6FC"/>
                </a:solidFill>
              </a:defRPr>
            </a:lvl2pPr>
            <a:lvl3pPr>
              <a:defRPr sz="1575" b="0">
                <a:solidFill>
                  <a:srgbClr val="F0F6FC"/>
                </a:solidFill>
              </a:defRPr>
            </a:lvl3pPr>
            <a:lvl4pPr>
              <a:defRPr sz="1575" b="0">
                <a:solidFill>
                  <a:srgbClr val="F0F6FC"/>
                </a:solidFill>
              </a:defRPr>
            </a:lvl4pPr>
            <a:lvl5pPr>
              <a:defRPr sz="1575" b="0">
                <a:solidFill>
                  <a:srgbClr val="F0F6FC"/>
                </a:solidFill>
              </a:defRPr>
            </a:lvl5pPr>
            <a:lvl6pPr>
              <a:defRPr sz="1575" b="0">
                <a:solidFill>
                  <a:srgbClr val="F0F6FC"/>
                </a:solidFill>
              </a:defRPr>
            </a:lvl6pPr>
            <a:lvl7pPr>
              <a:defRPr sz="1575" b="0">
                <a:solidFill>
                  <a:srgbClr val="F0F6FC"/>
                </a:solidFill>
              </a:defRPr>
            </a:lvl7pPr>
            <a:lvl8pPr>
              <a:defRPr sz="1575" b="0">
                <a:solidFill>
                  <a:srgbClr val="F0F6FC"/>
                </a:solidFill>
              </a:defRPr>
            </a:lvl8pPr>
            <a:lvl9pPr>
              <a:defRPr sz="1575" b="0">
                <a:solidFill>
                  <a:srgbClr val="F0F6FC"/>
                </a:solidFill>
              </a:defRPr>
            </a:lvl9pPr>
          </a:lstStyle>
          <a:p xmlns:a="http://schemas.openxmlformats.org/drawingml/2006/main">
            <a:pPr>
              <a:defRPr sz="1575" b="0">
                <a:solidFill>
                  <a:srgbClr val="F0F6FC"/>
                </a:solidFill>
              </a:defRPr>
            </a:pPr>
            <a:r>
              <a:rPr sz="1575" b="0">
                <a:solidFill>
                  <a:srgbClr val="F0F6FC"/>
                </a:solidFill>
              </a:rPr>
              <a:t>Month-t inputs</a:t>
            </a:r>
          </a:p>
          <a:p xmlns:a="http://schemas.openxmlformats.org/drawingml/2006/main">
            <a:pPr>
              <a:defRPr sz="1575" b="0">
                <a:solidFill>
                  <a:srgbClr val="F0F6FC"/>
                </a:solidFill>
              </a:defRPr>
            </a:pPr>
            <a:r>
              <a:rPr sz="1575" b="0">
                <a:solidFill>
                  <a:srgbClr val="F0F6FC"/>
                </a:solidFill>
              </a:rPr>
              <a:t>predict month t+1</a:t>
            </a:r>
          </a:p>
        </p:txBody>
      </p:sp>
      <p:sp>
        <p:nvSpPr>
          <p:cNvPr id="17" name="pipeline-connector-2">
            <a:extLst xmlns:a="http://schemas.openxmlformats.org/drawingml/2006/main">
              <a:ext uri="{FF2B5EF4-FFF2-40B4-BE49-F238E27FC236}">
                <a16:creationId xmlns:a16="http://schemas.microsoft.com/office/drawing/2014/main" id="{52E730B0-8C30-48A8-996B-B549CC748B55}"/>
              </a:ext>
            </a:extLst>
          </p:cNvPr>
          <p:cNvSpPr>
            <a:spLocks xmlns:a="http://schemas.openxmlformats.org/drawingml/2006/main" noGrp="1"/>
          </p:cNvSpPr>
          <p:nvPr/>
        </p:nvSpPr>
        <p:spPr>
          <a:xfrm xmlns:a="http://schemas.openxmlformats.org/drawingml/2006/main">
            <a:off x="8791575" y="2219325"/>
            <a:ext cx="228600" cy="180975"/>
          </a:xfrm>
          <a:prstGeom xmlns:a="http://schemas.openxmlformats.org/drawingml/2006/main" prst="rightArrow">
            <a:avLst/>
          </a:prstGeom>
          <a:solidFill xmlns:a="http://schemas.openxmlformats.org/drawingml/2006/main">
            <a:srgbClr val="4CC9F0"/>
          </a:solidFill>
          <a:ln xmlns:a="http://schemas.openxmlformats.org/drawingml/2006/main" w="0">
            <a:noFill/>
            <a:prstDash val="solid"/>
          </a:ln>
        </p:spPr>
      </p:sp>
      <p:sp>
        <p:nvSpPr>
          <p:cNvPr id="18" name="pipeline-stage-4">
            <a:extLst xmlns:a="http://schemas.openxmlformats.org/drawingml/2006/main">
              <a:ext uri="{FF2B5EF4-FFF2-40B4-BE49-F238E27FC236}">
                <a16:creationId xmlns:a16="http://schemas.microsoft.com/office/drawing/2014/main" id="{810FE8AD-25C0-459A-80DF-D37BA866E612}"/>
              </a:ext>
            </a:extLst>
          </p:cNvPr>
          <p:cNvSpPr>
            <a:spLocks xmlns:a="http://schemas.openxmlformats.org/drawingml/2006/main" noGrp="1"/>
          </p:cNvSpPr>
          <p:nvPr/>
        </p:nvSpPr>
        <p:spPr>
          <a:xfrm xmlns:a="http://schemas.openxmlformats.org/drawingml/2006/main">
            <a:off x="9124950" y="1790700"/>
            <a:ext cx="2381250" cy="1066800"/>
          </a:xfrm>
          <a:prstGeom xmlns:a="http://schemas.openxmlformats.org/drawingml/2006/main" prst="rect">
            <a:avLst/>
          </a:prstGeom>
          <a:solidFill xmlns:a="http://schemas.openxmlformats.org/drawingml/2006/main">
            <a:srgbClr val="111C2C"/>
          </a:solidFill>
          <a:ln xmlns:a="http://schemas.openxmlformats.org/drawingml/2006/main" w="9525">
            <a:solidFill>
              <a:srgbClr val="294158"/>
            </a:solidFill>
            <a:prstDash val="solid"/>
          </a:ln>
        </p:spPr>
      </p:sp>
      <p:sp>
        <p:nvSpPr>
          <p:cNvPr id="19" name="text-55">
            <a:extLst xmlns:a="http://schemas.openxmlformats.org/drawingml/2006/main">
              <a:ext uri="{FF2B5EF4-FFF2-40B4-BE49-F238E27FC236}">
                <a16:creationId xmlns:a16="http://schemas.microsoft.com/office/drawing/2014/main" id="{30279E51-A585-4594-8416-83A055C6297D}"/>
              </a:ext>
            </a:extLst>
          </p:cNvPr>
          <p:cNvSpPr>
            <a:spLocks xmlns:a="http://schemas.openxmlformats.org/drawingml/2006/main" noGrp="1"/>
          </p:cNvSpPr>
          <p:nvPr/>
        </p:nvSpPr>
        <p:spPr>
          <a:xfrm xmlns:a="http://schemas.openxmlformats.org/drawingml/2006/main">
            <a:off x="9258300" y="191452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4CC9F0"/>
                </a:solidFill>
              </a:defRPr>
            </a:defPPr>
            <a:lvl1pPr>
              <a:defRPr sz="1725" b="1">
                <a:solidFill>
                  <a:srgbClr val="4CC9F0"/>
                </a:solidFill>
              </a:defRPr>
            </a:lvl1pPr>
            <a:lvl2pPr>
              <a:defRPr sz="1725" b="1">
                <a:solidFill>
                  <a:srgbClr val="4CC9F0"/>
                </a:solidFill>
              </a:defRPr>
            </a:lvl2pPr>
            <a:lvl3pPr>
              <a:defRPr sz="1725" b="1">
                <a:solidFill>
                  <a:srgbClr val="4CC9F0"/>
                </a:solidFill>
              </a:defRPr>
            </a:lvl3pPr>
            <a:lvl4pPr>
              <a:defRPr sz="1725" b="1">
                <a:solidFill>
                  <a:srgbClr val="4CC9F0"/>
                </a:solidFill>
              </a:defRPr>
            </a:lvl4pPr>
            <a:lvl5pPr>
              <a:defRPr sz="1725" b="1">
                <a:solidFill>
                  <a:srgbClr val="4CC9F0"/>
                </a:solidFill>
              </a:defRPr>
            </a:lvl5pPr>
            <a:lvl6pPr>
              <a:defRPr sz="1725" b="1">
                <a:solidFill>
                  <a:srgbClr val="4CC9F0"/>
                </a:solidFill>
              </a:defRPr>
            </a:lvl6pPr>
            <a:lvl7pPr>
              <a:defRPr sz="1725" b="1">
                <a:solidFill>
                  <a:srgbClr val="4CC9F0"/>
                </a:solidFill>
              </a:defRPr>
            </a:lvl7pPr>
            <a:lvl8pPr>
              <a:defRPr sz="1725" b="1">
                <a:solidFill>
                  <a:srgbClr val="4CC9F0"/>
                </a:solidFill>
              </a:defRPr>
            </a:lvl8pPr>
            <a:lvl9pPr>
              <a:defRPr sz="1725" b="1">
                <a:solidFill>
                  <a:srgbClr val="4CC9F0"/>
                </a:solidFill>
              </a:defRPr>
            </a:lvl9pPr>
          </a:lstStyle>
          <a:p xmlns:a="http://schemas.openxmlformats.org/drawingml/2006/main">
            <a:pPr>
              <a:defRPr sz="1725" b="1">
                <a:solidFill>
                  <a:srgbClr val="4CC9F0"/>
                </a:solidFill>
              </a:defRPr>
            </a:pPr>
            <a:r>
              <a:rPr sz="1725" b="1">
                <a:solidFill>
                  <a:srgbClr val="4CC9F0"/>
                </a:solidFill>
              </a:rPr>
              <a:t>04  Evaluate</a:t>
            </a:r>
          </a:p>
        </p:txBody>
      </p:sp>
      <p:sp>
        <p:nvSpPr>
          <p:cNvPr id="20" name="text-56">
            <a:extLst xmlns:a="http://schemas.openxmlformats.org/drawingml/2006/main">
              <a:ext uri="{FF2B5EF4-FFF2-40B4-BE49-F238E27FC236}">
                <a16:creationId xmlns:a16="http://schemas.microsoft.com/office/drawing/2014/main" id="{BF4FBEC6-777C-4447-8FF2-88486EE02DC5}"/>
              </a:ext>
            </a:extLst>
          </p:cNvPr>
          <p:cNvSpPr>
            <a:spLocks xmlns:a="http://schemas.openxmlformats.org/drawingml/2006/main" noGrp="1"/>
          </p:cNvSpPr>
          <p:nvPr/>
        </p:nvSpPr>
        <p:spPr>
          <a:xfrm xmlns:a="http://schemas.openxmlformats.org/drawingml/2006/main">
            <a:off x="9258300" y="2305050"/>
            <a:ext cx="2133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F0F6FC"/>
                </a:solidFill>
              </a:defRPr>
            </a:defPPr>
            <a:lvl1pPr>
              <a:defRPr sz="1575" b="0">
                <a:solidFill>
                  <a:srgbClr val="F0F6FC"/>
                </a:solidFill>
              </a:defRPr>
            </a:lvl1pPr>
            <a:lvl2pPr>
              <a:defRPr sz="1575" b="0">
                <a:solidFill>
                  <a:srgbClr val="F0F6FC"/>
                </a:solidFill>
              </a:defRPr>
            </a:lvl2pPr>
            <a:lvl3pPr>
              <a:defRPr sz="1575" b="0">
                <a:solidFill>
                  <a:srgbClr val="F0F6FC"/>
                </a:solidFill>
              </a:defRPr>
            </a:lvl3pPr>
            <a:lvl4pPr>
              <a:defRPr sz="1575" b="0">
                <a:solidFill>
                  <a:srgbClr val="F0F6FC"/>
                </a:solidFill>
              </a:defRPr>
            </a:lvl4pPr>
            <a:lvl5pPr>
              <a:defRPr sz="1575" b="0">
                <a:solidFill>
                  <a:srgbClr val="F0F6FC"/>
                </a:solidFill>
              </a:defRPr>
            </a:lvl5pPr>
            <a:lvl6pPr>
              <a:defRPr sz="1575" b="0">
                <a:solidFill>
                  <a:srgbClr val="F0F6FC"/>
                </a:solidFill>
              </a:defRPr>
            </a:lvl6pPr>
            <a:lvl7pPr>
              <a:defRPr sz="1575" b="0">
                <a:solidFill>
                  <a:srgbClr val="F0F6FC"/>
                </a:solidFill>
              </a:defRPr>
            </a:lvl7pPr>
            <a:lvl8pPr>
              <a:defRPr sz="1575" b="0">
                <a:solidFill>
                  <a:srgbClr val="F0F6FC"/>
                </a:solidFill>
              </a:defRPr>
            </a:lvl8pPr>
            <a:lvl9pPr>
              <a:defRPr sz="1575" b="0">
                <a:solidFill>
                  <a:srgbClr val="F0F6FC"/>
                </a:solidFill>
              </a:defRPr>
            </a:lvl9pPr>
          </a:lstStyle>
          <a:p xmlns:a="http://schemas.openxmlformats.org/drawingml/2006/main">
            <a:pPr>
              <a:defRPr sz="1575" b="0">
                <a:solidFill>
                  <a:srgbClr val="F0F6FC"/>
                </a:solidFill>
              </a:defRPr>
            </a:pPr>
            <a:r>
              <a:rPr sz="1575" b="0">
                <a:solidFill>
                  <a:srgbClr val="F0F6FC"/>
                </a:solidFill>
              </a:rPr>
              <a:t>2024 test cells</a:t>
            </a:r>
          </a:p>
          <a:p xmlns:a="http://schemas.openxmlformats.org/drawingml/2006/main">
            <a:pPr>
              <a:defRPr sz="1575" b="0">
                <a:solidFill>
                  <a:srgbClr val="F0F6FC"/>
                </a:solidFill>
              </a:defRPr>
            </a:pPr>
            <a:r>
              <a:rPr sz="1575" b="0">
                <a:solidFill>
                  <a:srgbClr val="F0F6FC"/>
                </a:solidFill>
              </a:rPr>
              <a:t>and dashboard queue</a:t>
            </a:r>
          </a:p>
        </p:txBody>
      </p:sp>
      <p:graphicFrame>
        <p:nvGraphicFramePr>
          <p:cNvPr id="21" name="">
            <a:extLst xmlns:a="http://schemas.openxmlformats.org/drawingml/2006/main">
              <a:ext uri="{FF2B5EF4-FFF2-40B4-BE49-F238E27FC236}">
                <a16:creationId xmlns:a16="http://schemas.microsoft.com/office/drawing/2014/main" id="{F17CC12A-D604-4495-A859-04E74C378033}"/>
              </a:ext>
            </a:extLst>
          </p:cNvPr>
          <p:cNvGraphicFramePr/>
          <p:nvPr/>
        </p:nvGraphicFramePr>
        <p:xfrm>
          <a:off xmlns:a="http://schemas.openxmlformats.org/drawingml/2006/main" x="609600" y="3181350"/>
          <a:ext xmlns:a="http://schemas.openxmlformats.org/drawingml/2006/main" cx="10972800" cy="1809750"/>
        </p:xfrm>
        <a:graphic xmlns:a="http://schemas.openxmlformats.org/drawingml/2006/main">
          <a:graphicData uri="http://schemas.openxmlformats.org/drawingml/2006/table">
            <a:tbl>
              <a:tblPr/>
              <a:tblGrid>
                <a:gridCol w="2762250"/>
                <a:gridCol w="8210550"/>
              </a:tblGrid>
              <a:tr h="452438">
                <a:tc>
                  <a:txBody>
                    <a:bodyPr/>
                    <a:lstStyle/>
                    <a:p>
                      <a:r>
                        <a:rPr sz="1500" b="1">
                          <a:solidFill>
                            <a:srgbClr val="4CC9F0"/>
                          </a:solidFill>
                        </a:rPr>
                        <a:t>Model / method</a:t>
                      </a:r>
                    </a:p>
                  </a:txBody>
                  <a:tcPr marL="114300" marR="95250" marT="57150" marB="57150" anchor="ctr">
                    <a:lnL w="9525">
                      <a:solidFill>
                        <a:srgbClr val="294158"/>
                      </a:solidFill>
                      <a:prstDash val="solid"/>
                    </a:lnL>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00" b="1">
                          <a:solidFill>
                            <a:srgbClr val="4CC9F0"/>
                          </a:solidFill>
                        </a:rPr>
                        <a:t>Implemented settings</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r>
              <a:tr h="452438">
                <a:tc>
                  <a:txBody>
                    <a:bodyPr/>
                    <a:lstStyle/>
                    <a:p>
                      <a:r>
                        <a:rPr sz="1500" b="0">
                          <a:solidFill>
                            <a:srgbClr val="F0F6FC"/>
                          </a:solidFill>
                        </a:rPr>
                        <a:t>LightGBM</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100 trees; depth 6; learning rate 0.05; row/feature sample 0.85 / 0.90</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452438">
                <a:tc>
                  <a:txBody>
                    <a:bodyPr/>
                    <a:lstStyle/>
                    <a:p>
                      <a:r>
                        <a:rPr sz="1500" b="0">
                          <a:solidFill>
                            <a:srgbClr val="F0F6FC"/>
                          </a:solidFill>
                        </a:rPr>
                        <a:t>DistilBERT</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500" b="0">
                          <a:solidFill>
                            <a:srgbClr val="F0F6FC"/>
                          </a:solidFill>
                        </a:rPr>
                        <a:t>4 epochs; batch 16; maximum length 64; learning rate 2e-5</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r h="452438">
                <a:tc>
                  <a:txBody>
                    <a:bodyPr/>
                    <a:lstStyle/>
                    <a:p>
                      <a:r>
                        <a:rPr sz="1500" b="0">
                          <a:solidFill>
                            <a:srgbClr val="F0F6FC"/>
                          </a:solidFill>
                        </a:rPr>
                        <a:t>Topics and comparisons</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10 LDA topics; 14 BERTopic clusters; Ridge and Random Forest</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bl>
          </a:graphicData>
        </a:graphic>
      </p:graphicFrame>
      <p:sp>
        <p:nvSpPr>
          <p:cNvPr id="22" name="text-57">
            <a:extLst xmlns:a="http://schemas.openxmlformats.org/drawingml/2006/main">
              <a:ext uri="{FF2B5EF4-FFF2-40B4-BE49-F238E27FC236}">
                <a16:creationId xmlns:a16="http://schemas.microsoft.com/office/drawing/2014/main" id="{D313ABD0-AC58-43DC-9AC4-ADA3EF2B8AC1}"/>
              </a:ext>
            </a:extLst>
          </p:cNvPr>
          <p:cNvSpPr>
            <a:spLocks xmlns:a="http://schemas.openxmlformats.org/drawingml/2006/main" noGrp="1"/>
          </p:cNvSpPr>
          <p:nvPr/>
        </p:nvSpPr>
        <p:spPr>
          <a:xfrm xmlns:a="http://schemas.openxmlformats.org/drawingml/2006/main">
            <a:off x="609600" y="51720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F6BD60"/>
                </a:solidFill>
              </a:defRPr>
            </a:defPPr>
            <a:lvl1pPr>
              <a:defRPr sz="1575" b="0">
                <a:solidFill>
                  <a:srgbClr val="F6BD60"/>
                </a:solidFill>
              </a:defRPr>
            </a:lvl1pPr>
            <a:lvl2pPr>
              <a:defRPr sz="1575" b="0">
                <a:solidFill>
                  <a:srgbClr val="F6BD60"/>
                </a:solidFill>
              </a:defRPr>
            </a:lvl2pPr>
            <a:lvl3pPr>
              <a:defRPr sz="1575" b="0">
                <a:solidFill>
                  <a:srgbClr val="F6BD60"/>
                </a:solidFill>
              </a:defRPr>
            </a:lvl3pPr>
            <a:lvl4pPr>
              <a:defRPr sz="1575" b="0">
                <a:solidFill>
                  <a:srgbClr val="F6BD60"/>
                </a:solidFill>
              </a:defRPr>
            </a:lvl4pPr>
            <a:lvl5pPr>
              <a:defRPr sz="1575" b="0">
                <a:solidFill>
                  <a:srgbClr val="F6BD60"/>
                </a:solidFill>
              </a:defRPr>
            </a:lvl5pPr>
            <a:lvl6pPr>
              <a:defRPr sz="1575" b="0">
                <a:solidFill>
                  <a:srgbClr val="F6BD60"/>
                </a:solidFill>
              </a:defRPr>
            </a:lvl6pPr>
            <a:lvl7pPr>
              <a:defRPr sz="1575" b="0">
                <a:solidFill>
                  <a:srgbClr val="F6BD60"/>
                </a:solidFill>
              </a:defRPr>
            </a:lvl7pPr>
            <a:lvl8pPr>
              <a:defRPr sz="1575" b="0">
                <a:solidFill>
                  <a:srgbClr val="F6BD60"/>
                </a:solidFill>
              </a:defRPr>
            </a:lvl8pPr>
            <a:lvl9pPr>
              <a:defRPr sz="1575" b="0">
                <a:solidFill>
                  <a:srgbClr val="F6BD60"/>
                </a:solidFill>
              </a:defRPr>
            </a:lvl9pPr>
          </a:lstStyle>
          <a:p xmlns:a="http://schemas.openxmlformats.org/drawingml/2006/main">
            <a:pPr>
              <a:defRPr sz="1575" b="0">
                <a:solidFill>
                  <a:srgbClr val="F6BD60"/>
                </a:solidFill>
              </a:defRPr>
            </a:pPr>
            <a:r>
              <a:rPr sz="1575" b="0">
                <a:solidFill>
                  <a:srgbClr val="F6BD60"/>
                </a:solidFill>
              </a:rPr>
              <a:t>Controls: training-only topic fitting, separate duplicate-text groups, one-month lag.</a:t>
            </a:r>
          </a:p>
        </p:txBody>
      </p:sp>
      <p:sp>
        <p:nvSpPr>
          <p:cNvPr id="23" name="rule-58">
            <a:extLst xmlns:a="http://schemas.openxmlformats.org/drawingml/2006/main">
              <a:ext uri="{FF2B5EF4-FFF2-40B4-BE49-F238E27FC236}">
                <a16:creationId xmlns:a16="http://schemas.microsoft.com/office/drawing/2014/main" id="{103EF3AA-E53C-4B44-A718-0D7076D07CC1}"/>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24" name="text-59">
            <a:extLst xmlns:a="http://schemas.openxmlformats.org/drawingml/2006/main">
              <a:ext uri="{FF2B5EF4-FFF2-40B4-BE49-F238E27FC236}">
                <a16:creationId xmlns:a16="http://schemas.microsoft.com/office/drawing/2014/main" id="{18200F4E-5CFA-4C13-B728-E85D745C5FE4}"/>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We compare structured models with models that also use language features.</a:t>
            </a:r>
          </a:p>
        </p:txBody>
      </p:sp>
      <p:sp>
        <p:nvSpPr>
          <p:cNvPr id="25" name="text-60">
            <a:extLst xmlns:a="http://schemas.openxmlformats.org/drawingml/2006/main">
              <a:ext uri="{FF2B5EF4-FFF2-40B4-BE49-F238E27FC236}">
                <a16:creationId xmlns:a16="http://schemas.microsoft.com/office/drawing/2014/main" id="{F181F945-E822-4BA4-BAEB-A7525737910F}"/>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Topics use training text only, and every forecast uses the previous month’s inputs.</a:t>
            </a:r>
          </a:p>
        </p:txBody>
      </p:sp>
    </p:spTree>
    <p:extLst>
      <p:ext uri="{BB962C8B-B14F-4D97-AF65-F5344CB8AC3E}">
        <p14:creationId xmlns:p14="http://schemas.microsoft.com/office/powerpoint/2010/main" val="619334743"/>
      </p:ext>
    </p:extLst>
  </p:cSld>
</p:sld>
</file>

<file path=ppt/slides/slide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1" name="text-61">
            <a:extLst xmlns:a="http://schemas.openxmlformats.org/drawingml/2006/main">
              <a:ext uri="{FF2B5EF4-FFF2-40B4-BE49-F238E27FC236}">
                <a16:creationId xmlns:a16="http://schemas.microsoft.com/office/drawing/2014/main" id="{E7D0DCB9-3BBC-4E21-8655-1E9A1DA07DB8}"/>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4   Metrics, units and compute cost   8 marks</a:t>
            </a:r>
          </a:p>
        </p:txBody>
      </p:sp>
      <p:sp>
        <p:nvSpPr>
          <p:cNvPr id="2" name="text-62">
            <a:extLst xmlns:a="http://schemas.openxmlformats.org/drawingml/2006/main">
              <a:ext uri="{FF2B5EF4-FFF2-40B4-BE49-F238E27FC236}">
                <a16:creationId xmlns:a16="http://schemas.microsoft.com/office/drawing/2014/main" id="{AB40D182-5557-4021-AC67-E4A9C3C417D6}"/>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Parameters measured</a:t>
            </a:r>
          </a:p>
        </p:txBody>
      </p:sp>
      <p:sp>
        <p:nvSpPr>
          <p:cNvPr id="3" name="rule-63">
            <a:extLst xmlns:a="http://schemas.openxmlformats.org/drawingml/2006/main">
              <a:ext uri="{FF2B5EF4-FFF2-40B4-BE49-F238E27FC236}">
                <a16:creationId xmlns:a16="http://schemas.microsoft.com/office/drawing/2014/main" id="{987C1AAA-9C8B-4A8F-9FC5-B129C20C835D}"/>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64">
            <a:extLst xmlns:a="http://schemas.openxmlformats.org/drawingml/2006/main">
              <a:ext uri="{FF2B5EF4-FFF2-40B4-BE49-F238E27FC236}">
                <a16:creationId xmlns:a16="http://schemas.microsoft.com/office/drawing/2014/main" id="{A2A1168F-166A-4166-BFD8-5D8E37F1F279}"/>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65">
            <a:extLst xmlns:a="http://schemas.openxmlformats.org/drawingml/2006/main">
              <a:ext uri="{FF2B5EF4-FFF2-40B4-BE49-F238E27FC236}">
                <a16:creationId xmlns:a16="http://schemas.microsoft.com/office/drawing/2014/main" id="{9113EFF4-D6C2-41F3-972C-42BD244D8A2B}"/>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05 / 10</a:t>
            </a:r>
          </a:p>
        </p:txBody>
      </p:sp>
      <p:graphicFrame>
        <p:nvGraphicFramePr>
          <p:cNvPr id="6" name="">
            <a:extLst xmlns:a="http://schemas.openxmlformats.org/drawingml/2006/main">
              <a:ext uri="{FF2B5EF4-FFF2-40B4-BE49-F238E27FC236}">
                <a16:creationId xmlns:a16="http://schemas.microsoft.com/office/drawing/2014/main" id="{F80CE570-E0F8-4E96-B615-5AD3B8876060}"/>
              </a:ext>
            </a:extLst>
          </p:cNvPr>
          <p:cNvGraphicFramePr/>
          <p:nvPr/>
        </p:nvGraphicFramePr>
        <p:xfrm>
          <a:off xmlns:a="http://schemas.openxmlformats.org/drawingml/2006/main" x="609600" y="1685925"/>
          <a:ext xmlns:a="http://schemas.openxmlformats.org/drawingml/2006/main" cx="10972800" cy="3143250"/>
        </p:xfrm>
        <a:graphic xmlns:a="http://schemas.openxmlformats.org/drawingml/2006/main">
          <a:graphicData uri="http://schemas.openxmlformats.org/drawingml/2006/table">
            <a:tbl>
              <a:tblPr/>
              <a:tblGrid>
                <a:gridCol w="2952750"/>
                <a:gridCol w="8020050"/>
              </a:tblGrid>
              <a:tr h="523875">
                <a:tc>
                  <a:txBody>
                    <a:bodyPr/>
                    <a:lstStyle/>
                    <a:p>
                      <a:r>
                        <a:rPr sz="1650" b="1">
                          <a:solidFill>
                            <a:srgbClr val="4CC9F0"/>
                          </a:solidFill>
                        </a:rPr>
                        <a:t>Evaluation</a:t>
                      </a:r>
                    </a:p>
                  </a:txBody>
                  <a:tcPr marL="114300" marR="95250" marT="57150" marB="57150" anchor="ctr">
                    <a:lnL w="9525">
                      <a:solidFill>
                        <a:srgbClr val="294158"/>
                      </a:solidFill>
                      <a:prstDash val="solid"/>
                    </a:lnL>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650" b="1">
                          <a:solidFill>
                            <a:srgbClr val="4CC9F0"/>
                          </a:solidFill>
                        </a:rPr>
                        <a:t>Measure and current evidence</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r>
              <a:tr h="523875">
                <a:tc>
                  <a:txBody>
                    <a:bodyPr/>
                    <a:lstStyle/>
                    <a:p>
                      <a:r>
                        <a:rPr sz="1650" b="0">
                          <a:solidFill>
                            <a:srgbClr val="F0F6FC"/>
                          </a:solidFill>
                        </a:rPr>
                        <a:t>Forecast quality</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650" b="0">
                          <a:solidFill>
                            <a:srgbClr val="F0F6FC"/>
                          </a:solidFill>
                        </a:rPr>
                        <a:t>R², MAE and RMSE for delay (hours) and repeat rate (0-1)</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523875">
                <a:tc>
                  <a:txBody>
                    <a:bodyPr/>
                    <a:lstStyle/>
                    <a:p>
                      <a:r>
                        <a:rPr sz="1650" b="0">
                          <a:solidFill>
                            <a:srgbClr val="F0F6FC"/>
                          </a:solidFill>
                        </a:rPr>
                        <a:t>Sentiment and topics</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650" b="0">
                          <a:solidFill>
                            <a:srgbClr val="F0F6FC"/>
                          </a:solidFill>
                        </a:rPr>
                        <a:t>VADER accuracy 0.6846; negative F1 0.8138; LDA coherence 0.4675</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r h="523875">
                <a:tc>
                  <a:txBody>
                    <a:bodyPr/>
                    <a:lstStyle/>
                    <a:p>
                      <a:r>
                        <a:rPr sz="1650" b="0">
                          <a:solidFill>
                            <a:srgbClr val="F0F6FC"/>
                          </a:solidFill>
                        </a:rPr>
                        <a:t>Grievance classification</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650" b="0">
                          <a:solidFill>
                            <a:srgbClr val="F0F6FC"/>
                          </a:solidFill>
                        </a:rPr>
                        <a:t>Macro-F1: rule 0.1668; TF-IDF 0.1420; DistilBERT 0.1191</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523875">
                <a:tc>
                  <a:txBody>
                    <a:bodyPr/>
                    <a:lstStyle/>
                    <a:p>
                      <a:r>
                        <a:rPr sz="1650" b="0">
                          <a:solidFill>
                            <a:srgbClr val="F0F6FC"/>
                          </a:solidFill>
                        </a:rPr>
                        <a:t>Stability and queue quality</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650" b="0">
                          <a:solidFill>
                            <a:srgbClr val="F0F6FC"/>
                          </a:solidFill>
                        </a:rPr>
                        <a:t>5 seeds; 2,000 bootstrap samples; Precision@k, lift and NDCG</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r h="523875">
                <a:tc>
                  <a:txBody>
                    <a:bodyPr/>
                    <a:lstStyle/>
                    <a:p>
                      <a:r>
                        <a:rPr sz="1650" b="0">
                          <a:solidFill>
                            <a:srgbClr val="F0F6FC"/>
                          </a:solidFill>
                        </a:rPr>
                        <a:t>Compute cost</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650" b="0">
                          <a:solidFill>
                            <a:srgbClr val="F0F6FC"/>
                          </a:solidFill>
                        </a:rPr>
                        <a:t>DistilBERT: 13.41 minutes on CPU for the recorded 4-epoch run</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bl>
          </a:graphicData>
        </a:graphic>
      </p:graphicFrame>
      <p:sp>
        <p:nvSpPr>
          <p:cNvPr id="7" name="text-66">
            <a:extLst xmlns:a="http://schemas.openxmlformats.org/drawingml/2006/main">
              <a:ext uri="{FF2B5EF4-FFF2-40B4-BE49-F238E27FC236}">
                <a16:creationId xmlns:a16="http://schemas.microsoft.com/office/drawing/2014/main" id="{461493AE-965D-4698-BA13-5F0359170E1B}"/>
              </a:ext>
            </a:extLst>
          </p:cNvPr>
          <p:cNvSpPr>
            <a:spLocks xmlns:a="http://schemas.openxmlformats.org/drawingml/2006/main" noGrp="1"/>
          </p:cNvSpPr>
          <p:nvPr/>
        </p:nvSpPr>
        <p:spPr>
          <a:xfrm xmlns:a="http://schemas.openxmlformats.org/drawingml/2006/main">
            <a:off x="609600" y="50673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6BD60"/>
                </a:solidFill>
              </a:defRPr>
            </a:defPPr>
            <a:lvl1pPr>
              <a:defRPr sz="1650" b="0">
                <a:solidFill>
                  <a:srgbClr val="F6BD60"/>
                </a:solidFill>
              </a:defRPr>
            </a:lvl1pPr>
            <a:lvl2pPr>
              <a:defRPr sz="1650" b="0">
                <a:solidFill>
                  <a:srgbClr val="F6BD60"/>
                </a:solidFill>
              </a:defRPr>
            </a:lvl2pPr>
            <a:lvl3pPr>
              <a:defRPr sz="1650" b="0">
                <a:solidFill>
                  <a:srgbClr val="F6BD60"/>
                </a:solidFill>
              </a:defRPr>
            </a:lvl3pPr>
            <a:lvl4pPr>
              <a:defRPr sz="1650" b="0">
                <a:solidFill>
                  <a:srgbClr val="F6BD60"/>
                </a:solidFill>
              </a:defRPr>
            </a:lvl4pPr>
            <a:lvl5pPr>
              <a:defRPr sz="1650" b="0">
                <a:solidFill>
                  <a:srgbClr val="F6BD60"/>
                </a:solidFill>
              </a:defRPr>
            </a:lvl5pPr>
            <a:lvl6pPr>
              <a:defRPr sz="1650" b="0">
                <a:solidFill>
                  <a:srgbClr val="F6BD60"/>
                </a:solidFill>
              </a:defRPr>
            </a:lvl6pPr>
            <a:lvl7pPr>
              <a:defRPr sz="1650" b="0">
                <a:solidFill>
                  <a:srgbClr val="F6BD60"/>
                </a:solidFill>
              </a:defRPr>
            </a:lvl7pPr>
            <a:lvl8pPr>
              <a:defRPr sz="1650" b="0">
                <a:solidFill>
                  <a:srgbClr val="F6BD60"/>
                </a:solidFill>
              </a:defRPr>
            </a:lvl8pPr>
            <a:lvl9pPr>
              <a:defRPr sz="1650" b="0">
                <a:solidFill>
                  <a:srgbClr val="F6BD60"/>
                </a:solidFill>
              </a:defRPr>
            </a:lvl9pPr>
          </a:lstStyle>
          <a:p xmlns:a="http://schemas.openxmlformats.org/drawingml/2006/main">
            <a:pPr>
              <a:defRPr sz="1650" b="0">
                <a:solidFill>
                  <a:srgbClr val="F6BD60"/>
                </a:solidFill>
              </a:defRPr>
            </a:pPr>
            <a:r>
              <a:rPr sz="1650" b="0">
                <a:solidFill>
                  <a:srgbClr val="F6BD60"/>
                </a:solidFill>
              </a:rPr>
              <a:t>Baselines: structured models, previous-month outcome and previous-year same-month outcome.</a:t>
            </a:r>
          </a:p>
        </p:txBody>
      </p:sp>
      <p:sp>
        <p:nvSpPr>
          <p:cNvPr id="8" name="rule-67">
            <a:extLst xmlns:a="http://schemas.openxmlformats.org/drawingml/2006/main">
              <a:ext uri="{FF2B5EF4-FFF2-40B4-BE49-F238E27FC236}">
                <a16:creationId xmlns:a16="http://schemas.microsoft.com/office/drawing/2014/main" id="{7A5A6039-AB09-4101-B97B-64D01BB1C33C}"/>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9" name="text-68">
            <a:extLst xmlns:a="http://schemas.openxmlformats.org/drawingml/2006/main">
              <a:ext uri="{FF2B5EF4-FFF2-40B4-BE49-F238E27FC236}">
                <a16:creationId xmlns:a16="http://schemas.microsoft.com/office/drawing/2014/main" id="{DE4B4B41-26A2-452D-8633-130372071F11}"/>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We measure prediction errors, NLP quality, stability and dashboard ranking quality.</a:t>
            </a:r>
          </a:p>
        </p:txBody>
      </p:sp>
      <p:sp>
        <p:nvSpPr>
          <p:cNvPr id="10" name="text-69">
            <a:extLst xmlns:a="http://schemas.openxmlformats.org/drawingml/2006/main">
              <a:ext uri="{FF2B5EF4-FFF2-40B4-BE49-F238E27FC236}">
                <a16:creationId xmlns:a16="http://schemas.microsoft.com/office/drawing/2014/main" id="{0AF3C2B7-4235-41DF-8719-1E539064170A}"/>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The recorded transformer run took 13.41 minutes on CPU.</a:t>
            </a:r>
          </a:p>
        </p:txBody>
      </p:sp>
    </p:spTree>
    <p:extLst>
      <p:ext uri="{BB962C8B-B14F-4D97-AF65-F5344CB8AC3E}">
        <p14:creationId xmlns:p14="http://schemas.microsoft.com/office/powerpoint/2010/main" val="1998909748"/>
      </p:ext>
    </p:extLst>
  </p:cSld>
</p:sld>
</file>

<file path=ppt/slides/slide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4" name="text-70">
            <a:extLst xmlns:a="http://schemas.openxmlformats.org/drawingml/2006/main">
              <a:ext uri="{FF2B5EF4-FFF2-40B4-BE49-F238E27FC236}">
                <a16:creationId xmlns:a16="http://schemas.microsoft.com/office/drawing/2014/main" id="{5D3FCF38-4C4D-4234-A553-DBA1B4DBD2E2}"/>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5   Held-out 2024 forecast comparison   12 marks</a:t>
            </a:r>
          </a:p>
        </p:txBody>
      </p:sp>
      <p:sp>
        <p:nvSpPr>
          <p:cNvPr id="2" name="text-71">
            <a:extLst xmlns:a="http://schemas.openxmlformats.org/drawingml/2006/main">
              <a:ext uri="{FF2B5EF4-FFF2-40B4-BE49-F238E27FC236}">
                <a16:creationId xmlns:a16="http://schemas.microsoft.com/office/drawing/2014/main" id="{A401BB4B-1B58-4ED5-8120-AC6E645AD779}"/>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Result analysis with graphs</a:t>
            </a:r>
          </a:p>
        </p:txBody>
      </p:sp>
      <p:sp>
        <p:nvSpPr>
          <p:cNvPr id="3" name="rule-72">
            <a:extLst xmlns:a="http://schemas.openxmlformats.org/drawingml/2006/main">
              <a:ext uri="{FF2B5EF4-FFF2-40B4-BE49-F238E27FC236}">
                <a16:creationId xmlns:a16="http://schemas.microsoft.com/office/drawing/2014/main" id="{94755AF3-A602-4624-8316-EF1916B4083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73">
            <a:extLst xmlns:a="http://schemas.openxmlformats.org/drawingml/2006/main">
              <a:ext uri="{FF2B5EF4-FFF2-40B4-BE49-F238E27FC236}">
                <a16:creationId xmlns:a16="http://schemas.microsoft.com/office/drawing/2014/main" id="{35C32011-9636-426B-A414-0C789AEEB6E9}"/>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74">
            <a:extLst xmlns:a="http://schemas.openxmlformats.org/drawingml/2006/main">
              <a:ext uri="{FF2B5EF4-FFF2-40B4-BE49-F238E27FC236}">
                <a16:creationId xmlns:a16="http://schemas.microsoft.com/office/drawing/2014/main" id="{695200BA-0EBB-42A4-A6DF-0A906FCF5490}"/>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06 / 10</a:t>
            </a:r>
          </a:p>
        </p:txBody>
      </p:sp>
      <p:graphicFrame>
        <p:nvGraphicFramePr>
          <p:cNvPr id="6" name="Chart">
            <a:extLst xmlns:a="http://schemas.openxmlformats.org/drawingml/2006/main">
              <a:ext uri="{FF2B5EF4-FFF2-40B4-BE49-F238E27FC236}">
                <a16:creationId xmlns:a16="http://schemas.microsoft.com/office/drawing/2014/main" id="{00C12587-B827-4A71-B1D8-962F7F1788E9}"/>
              </a:ext>
            </a:extLst>
          </p:cNvPr>
          <p:cNvGraphicFramePr/>
          <p:nvPr/>
        </p:nvGraphicFramePr>
        <p:xfrm>
          <a:off xmlns:a="http://schemas.openxmlformats.org/drawingml/2006/main" x="609600" y="1714500"/>
          <a:ext xmlns:a="http://schemas.openxmlformats.org/drawingml/2006/main" cx="7696200" cy="3476625"/>
        </p:xfrm>
        <a:graphic xmlns:a="http://schemas.openxmlformats.org/drawingml/2006/main">
          <a:graphicData uri="http://schemas.openxmlformats.org/drawingml/2006/chart">
            <c:chart xmlns:r="http://schemas.openxmlformats.org/officeDocument/2006/relationships" xmlns:c="http://schemas.openxmlformats.org/drawingml/2006/chart" r:id="R09512954556f41f9"/>
          </a:graphicData>
        </a:graphic>
      </p:graphicFrame>
      <p:sp>
        <p:nvSpPr>
          <p:cNvPr id="7" name="text-75">
            <a:extLst xmlns:a="http://schemas.openxmlformats.org/drawingml/2006/main">
              <a:ext uri="{FF2B5EF4-FFF2-40B4-BE49-F238E27FC236}">
                <a16:creationId xmlns:a16="http://schemas.microsoft.com/office/drawing/2014/main" id="{6791469C-B55A-43B6-B784-F070DC1D4AED}"/>
              </a:ext>
            </a:extLst>
          </p:cNvPr>
          <p:cNvSpPr>
            <a:spLocks xmlns:a="http://schemas.openxmlformats.org/drawingml/2006/main" noGrp="1"/>
          </p:cNvSpPr>
          <p:nvPr/>
        </p:nvSpPr>
        <p:spPr>
          <a:xfrm xmlns:a="http://schemas.openxmlformats.org/drawingml/2006/main">
            <a:off x="8715375" y="1885950"/>
            <a:ext cx="2667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4CC9F0"/>
                </a:solidFill>
              </a:defRPr>
            </a:defPPr>
            <a:lvl1pPr>
              <a:defRPr sz="2175" b="1">
                <a:solidFill>
                  <a:srgbClr val="4CC9F0"/>
                </a:solidFill>
              </a:defRPr>
            </a:lvl1pPr>
            <a:lvl2pPr>
              <a:defRPr sz="2175" b="1">
                <a:solidFill>
                  <a:srgbClr val="4CC9F0"/>
                </a:solidFill>
              </a:defRPr>
            </a:lvl2pPr>
            <a:lvl3pPr>
              <a:defRPr sz="2175" b="1">
                <a:solidFill>
                  <a:srgbClr val="4CC9F0"/>
                </a:solidFill>
              </a:defRPr>
            </a:lvl3pPr>
            <a:lvl4pPr>
              <a:defRPr sz="2175" b="1">
                <a:solidFill>
                  <a:srgbClr val="4CC9F0"/>
                </a:solidFill>
              </a:defRPr>
            </a:lvl4pPr>
            <a:lvl5pPr>
              <a:defRPr sz="2175" b="1">
                <a:solidFill>
                  <a:srgbClr val="4CC9F0"/>
                </a:solidFill>
              </a:defRPr>
            </a:lvl5pPr>
            <a:lvl6pPr>
              <a:defRPr sz="2175" b="1">
                <a:solidFill>
                  <a:srgbClr val="4CC9F0"/>
                </a:solidFill>
              </a:defRPr>
            </a:lvl6pPr>
            <a:lvl7pPr>
              <a:defRPr sz="2175" b="1">
                <a:solidFill>
                  <a:srgbClr val="4CC9F0"/>
                </a:solidFill>
              </a:defRPr>
            </a:lvl7pPr>
            <a:lvl8pPr>
              <a:defRPr sz="2175" b="1">
                <a:solidFill>
                  <a:srgbClr val="4CC9F0"/>
                </a:solidFill>
              </a:defRPr>
            </a:lvl8pPr>
            <a:lvl9pPr>
              <a:defRPr sz="2175" b="1">
                <a:solidFill>
                  <a:srgbClr val="4CC9F0"/>
                </a:solidFill>
              </a:defRPr>
            </a:lvl9pPr>
          </a:lstStyle>
          <a:p xmlns:a="http://schemas.openxmlformats.org/drawingml/2006/main">
            <a:pPr>
              <a:defRPr sz="2175" b="1">
                <a:solidFill>
                  <a:srgbClr val="4CC9F0"/>
                </a:solidFill>
              </a:defRPr>
            </a:pPr>
            <a:r>
              <a:rPr sz="2175" b="1">
                <a:solidFill>
                  <a:srgbClr val="4CC9F0"/>
                </a:solidFill>
              </a:rPr>
              <a:t>Delay</a:t>
            </a:r>
          </a:p>
        </p:txBody>
      </p:sp>
      <p:sp>
        <p:nvSpPr>
          <p:cNvPr id="8" name="text-76">
            <a:extLst xmlns:a="http://schemas.openxmlformats.org/drawingml/2006/main">
              <a:ext uri="{FF2B5EF4-FFF2-40B4-BE49-F238E27FC236}">
                <a16:creationId xmlns:a16="http://schemas.microsoft.com/office/drawing/2014/main" id="{E5681E7E-6B27-410C-8AE9-7EB108BA8714}"/>
              </a:ext>
            </a:extLst>
          </p:cNvPr>
          <p:cNvSpPr>
            <a:spLocks xmlns:a="http://schemas.openxmlformats.org/drawingml/2006/main" noGrp="1"/>
          </p:cNvSpPr>
          <p:nvPr/>
        </p:nvSpPr>
        <p:spPr>
          <a:xfrm xmlns:a="http://schemas.openxmlformats.org/drawingml/2006/main">
            <a:off x="8715375" y="2381250"/>
            <a:ext cx="2714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B8C7D6"/>
                </a:solidFill>
              </a:defRPr>
            </a:defPPr>
            <a:lvl1pPr>
              <a:defRPr sz="1950" b="0">
                <a:solidFill>
                  <a:srgbClr val="B8C7D6"/>
                </a:solidFill>
              </a:defRPr>
            </a:lvl1pPr>
            <a:lvl2pPr>
              <a:defRPr sz="1950" b="0">
                <a:solidFill>
                  <a:srgbClr val="B8C7D6"/>
                </a:solidFill>
              </a:defRPr>
            </a:lvl2pPr>
            <a:lvl3pPr>
              <a:defRPr sz="1950" b="0">
                <a:solidFill>
                  <a:srgbClr val="B8C7D6"/>
                </a:solidFill>
              </a:defRPr>
            </a:lvl3pPr>
            <a:lvl4pPr>
              <a:defRPr sz="1950" b="0">
                <a:solidFill>
                  <a:srgbClr val="B8C7D6"/>
                </a:solidFill>
              </a:defRPr>
            </a:lvl4pPr>
            <a:lvl5pPr>
              <a:defRPr sz="1950" b="0">
                <a:solidFill>
                  <a:srgbClr val="B8C7D6"/>
                </a:solidFill>
              </a:defRPr>
            </a:lvl5pPr>
            <a:lvl6pPr>
              <a:defRPr sz="1950" b="0">
                <a:solidFill>
                  <a:srgbClr val="B8C7D6"/>
                </a:solidFill>
              </a:defRPr>
            </a:lvl6pPr>
            <a:lvl7pPr>
              <a:defRPr sz="1950" b="0">
                <a:solidFill>
                  <a:srgbClr val="B8C7D6"/>
                </a:solidFill>
              </a:defRPr>
            </a:lvl7pPr>
            <a:lvl8pPr>
              <a:defRPr sz="1950" b="0">
                <a:solidFill>
                  <a:srgbClr val="B8C7D6"/>
                </a:solidFill>
              </a:defRPr>
            </a:lvl8pPr>
            <a:lvl9pPr>
              <a:defRPr sz="1950" b="0">
                <a:solidFill>
                  <a:srgbClr val="B8C7D6"/>
                </a:solidFill>
              </a:defRPr>
            </a:lvl9pPr>
          </a:lstStyle>
          <a:p xmlns:a="http://schemas.openxmlformats.org/drawingml/2006/main">
            <a:pPr>
              <a:defRPr sz="1950" b="0">
                <a:solidFill>
                  <a:srgbClr val="B8C7D6"/>
                </a:solidFill>
              </a:defRPr>
            </a:pPr>
            <a:r>
              <a:rPr sz="1950" b="0">
                <a:solidFill>
                  <a:srgbClr val="B8C7D6"/>
                </a:solidFill>
              </a:rPr>
              <a:t>Adding all language and survey features reduced R² by 0.1264.</a:t>
            </a:r>
          </a:p>
        </p:txBody>
      </p:sp>
      <p:sp>
        <p:nvSpPr>
          <p:cNvPr id="9" name="text-77">
            <a:extLst xmlns:a="http://schemas.openxmlformats.org/drawingml/2006/main">
              <a:ext uri="{FF2B5EF4-FFF2-40B4-BE49-F238E27FC236}">
                <a16:creationId xmlns:a16="http://schemas.microsoft.com/office/drawing/2014/main" id="{F54AE3D0-1562-4646-8829-E7F69B4F7280}"/>
              </a:ext>
            </a:extLst>
          </p:cNvPr>
          <p:cNvSpPr>
            <a:spLocks xmlns:a="http://schemas.openxmlformats.org/drawingml/2006/main" noGrp="1"/>
          </p:cNvSpPr>
          <p:nvPr/>
        </p:nvSpPr>
        <p:spPr>
          <a:xfrm xmlns:a="http://schemas.openxmlformats.org/drawingml/2006/main">
            <a:off x="8715375" y="3686175"/>
            <a:ext cx="2714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F6BD60"/>
                </a:solidFill>
              </a:defRPr>
            </a:defPPr>
            <a:lvl1pPr>
              <a:defRPr sz="2175" b="1">
                <a:solidFill>
                  <a:srgbClr val="F6BD60"/>
                </a:solidFill>
              </a:defRPr>
            </a:lvl1pPr>
            <a:lvl2pPr>
              <a:defRPr sz="2175" b="1">
                <a:solidFill>
                  <a:srgbClr val="F6BD60"/>
                </a:solidFill>
              </a:defRPr>
            </a:lvl2pPr>
            <a:lvl3pPr>
              <a:defRPr sz="2175" b="1">
                <a:solidFill>
                  <a:srgbClr val="F6BD60"/>
                </a:solidFill>
              </a:defRPr>
            </a:lvl3pPr>
            <a:lvl4pPr>
              <a:defRPr sz="2175" b="1">
                <a:solidFill>
                  <a:srgbClr val="F6BD60"/>
                </a:solidFill>
              </a:defRPr>
            </a:lvl4pPr>
            <a:lvl5pPr>
              <a:defRPr sz="2175" b="1">
                <a:solidFill>
                  <a:srgbClr val="F6BD60"/>
                </a:solidFill>
              </a:defRPr>
            </a:lvl5pPr>
            <a:lvl6pPr>
              <a:defRPr sz="2175" b="1">
                <a:solidFill>
                  <a:srgbClr val="F6BD60"/>
                </a:solidFill>
              </a:defRPr>
            </a:lvl6pPr>
            <a:lvl7pPr>
              <a:defRPr sz="2175" b="1">
                <a:solidFill>
                  <a:srgbClr val="F6BD60"/>
                </a:solidFill>
              </a:defRPr>
            </a:lvl7pPr>
            <a:lvl8pPr>
              <a:defRPr sz="2175" b="1">
                <a:solidFill>
                  <a:srgbClr val="F6BD60"/>
                </a:solidFill>
              </a:defRPr>
            </a:lvl8pPr>
            <a:lvl9pPr>
              <a:defRPr sz="2175" b="1">
                <a:solidFill>
                  <a:srgbClr val="F6BD60"/>
                </a:solidFill>
              </a:defRPr>
            </a:lvl9pPr>
          </a:lstStyle>
          <a:p xmlns:a="http://schemas.openxmlformats.org/drawingml/2006/main">
            <a:pPr>
              <a:defRPr sz="2175" b="1">
                <a:solidFill>
                  <a:srgbClr val="F6BD60"/>
                </a:solidFill>
              </a:defRPr>
            </a:pPr>
            <a:r>
              <a:rPr sz="2175" b="1">
                <a:solidFill>
                  <a:srgbClr val="F6BD60"/>
                </a:solidFill>
              </a:rPr>
              <a:t>Repeat rate</a:t>
            </a:r>
          </a:p>
        </p:txBody>
      </p:sp>
      <p:sp>
        <p:nvSpPr>
          <p:cNvPr id="10" name="text-78">
            <a:extLst xmlns:a="http://schemas.openxmlformats.org/drawingml/2006/main">
              <a:ext uri="{FF2B5EF4-FFF2-40B4-BE49-F238E27FC236}">
                <a16:creationId xmlns:a16="http://schemas.microsoft.com/office/drawing/2014/main" id="{1CE3EE09-C6B5-4E40-A374-F905EBEAC91E}"/>
              </a:ext>
            </a:extLst>
          </p:cNvPr>
          <p:cNvSpPr>
            <a:spLocks xmlns:a="http://schemas.openxmlformats.org/drawingml/2006/main" noGrp="1"/>
          </p:cNvSpPr>
          <p:nvPr/>
        </p:nvSpPr>
        <p:spPr>
          <a:xfrm xmlns:a="http://schemas.openxmlformats.org/drawingml/2006/main">
            <a:off x="8715375" y="4181475"/>
            <a:ext cx="2714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B8C7D6"/>
                </a:solidFill>
              </a:defRPr>
            </a:defPPr>
            <a:lvl1pPr>
              <a:defRPr sz="1950" b="0">
                <a:solidFill>
                  <a:srgbClr val="B8C7D6"/>
                </a:solidFill>
              </a:defRPr>
            </a:lvl1pPr>
            <a:lvl2pPr>
              <a:defRPr sz="1950" b="0">
                <a:solidFill>
                  <a:srgbClr val="B8C7D6"/>
                </a:solidFill>
              </a:defRPr>
            </a:lvl2pPr>
            <a:lvl3pPr>
              <a:defRPr sz="1950" b="0">
                <a:solidFill>
                  <a:srgbClr val="B8C7D6"/>
                </a:solidFill>
              </a:defRPr>
            </a:lvl3pPr>
            <a:lvl4pPr>
              <a:defRPr sz="1950" b="0">
                <a:solidFill>
                  <a:srgbClr val="B8C7D6"/>
                </a:solidFill>
              </a:defRPr>
            </a:lvl4pPr>
            <a:lvl5pPr>
              <a:defRPr sz="1950" b="0">
                <a:solidFill>
                  <a:srgbClr val="B8C7D6"/>
                </a:solidFill>
              </a:defRPr>
            </a:lvl5pPr>
            <a:lvl6pPr>
              <a:defRPr sz="1950" b="0">
                <a:solidFill>
                  <a:srgbClr val="B8C7D6"/>
                </a:solidFill>
              </a:defRPr>
            </a:lvl6pPr>
            <a:lvl7pPr>
              <a:defRPr sz="1950" b="0">
                <a:solidFill>
                  <a:srgbClr val="B8C7D6"/>
                </a:solidFill>
              </a:defRPr>
            </a:lvl7pPr>
            <a:lvl8pPr>
              <a:defRPr sz="1950" b="0">
                <a:solidFill>
                  <a:srgbClr val="B8C7D6"/>
                </a:solidFill>
              </a:defRPr>
            </a:lvl8pPr>
            <a:lvl9pPr>
              <a:defRPr sz="1950" b="0">
                <a:solidFill>
                  <a:srgbClr val="B8C7D6"/>
                </a:solidFill>
              </a:defRPr>
            </a:lvl9pPr>
          </a:lstStyle>
          <a:p xmlns:a="http://schemas.openxmlformats.org/drawingml/2006/main">
            <a:pPr>
              <a:defRPr sz="1950" b="0">
                <a:solidFill>
                  <a:srgbClr val="B8C7D6"/>
                </a:solidFill>
              </a:defRPr>
            </a:pPr>
            <a:r>
              <a:rPr sz="1950" b="0">
                <a:solidFill>
                  <a:srgbClr val="B8C7D6"/>
                </a:solidFill>
              </a:rPr>
              <a:t>The R² change was only +0.0017. Persistence scored higher.</a:t>
            </a:r>
          </a:p>
        </p:txBody>
      </p:sp>
      <p:sp>
        <p:nvSpPr>
          <p:cNvPr id="11" name="rule-79">
            <a:extLst xmlns:a="http://schemas.openxmlformats.org/drawingml/2006/main">
              <a:ext uri="{FF2B5EF4-FFF2-40B4-BE49-F238E27FC236}">
                <a16:creationId xmlns:a16="http://schemas.microsoft.com/office/drawing/2014/main" id="{7AC38A99-4198-4934-9B7C-1882F97FE259}"/>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12" name="text-80">
            <a:extLst xmlns:a="http://schemas.openxmlformats.org/drawingml/2006/main">
              <a:ext uri="{FF2B5EF4-FFF2-40B4-BE49-F238E27FC236}">
                <a16:creationId xmlns:a16="http://schemas.microsoft.com/office/drawing/2014/main" id="{84827BDF-4D92-4849-8E39-485C295F0881}"/>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The previous-month baseline performed best for both outcomes.</a:t>
            </a:r>
          </a:p>
        </p:txBody>
      </p:sp>
      <p:sp>
        <p:nvSpPr>
          <p:cNvPr id="13" name="text-81">
            <a:extLst xmlns:a="http://schemas.openxmlformats.org/drawingml/2006/main">
              <a:ext uri="{FF2B5EF4-FFF2-40B4-BE49-F238E27FC236}">
                <a16:creationId xmlns:a16="http://schemas.microsoft.com/office/drawing/2014/main" id="{B8B81DAE-7582-44D3-8BEF-E180EA50784D}"/>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Adding all NLP features reduced delay performance and barely changed repeat prediction.</a:t>
            </a:r>
          </a:p>
        </p:txBody>
      </p:sp>
    </p:spTree>
    <p:extLst>
      <p:ext uri="{BB962C8B-B14F-4D97-AF65-F5344CB8AC3E}">
        <p14:creationId xmlns:p14="http://schemas.microsoft.com/office/powerpoint/2010/main" val="416142485"/>
      </p:ext>
    </p:extLst>
  </p:cSld>
</p:sld>
</file>

<file path=ppt/slides/slide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2" name="text-82">
            <a:extLst xmlns:a="http://schemas.openxmlformats.org/drawingml/2006/main">
              <a:ext uri="{FF2B5EF4-FFF2-40B4-BE49-F238E27FC236}">
                <a16:creationId xmlns:a16="http://schemas.microsoft.com/office/drawing/2014/main" id="{00D8DFA7-EE3F-4BD1-89C0-5B3D27ED4636}"/>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5   Error measures and uncertainty   continued</a:t>
            </a:r>
          </a:p>
        </p:txBody>
      </p:sp>
      <p:sp>
        <p:nvSpPr>
          <p:cNvPr id="2" name="text-83">
            <a:extLst xmlns:a="http://schemas.openxmlformats.org/drawingml/2006/main">
              <a:ext uri="{FF2B5EF4-FFF2-40B4-BE49-F238E27FC236}">
                <a16:creationId xmlns:a16="http://schemas.microsoft.com/office/drawing/2014/main" id="{B230E8F5-24C5-4508-9FA7-7345CDDE690E}"/>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Result analysis with tables</a:t>
            </a:r>
          </a:p>
        </p:txBody>
      </p:sp>
      <p:sp>
        <p:nvSpPr>
          <p:cNvPr id="3" name="rule-84">
            <a:extLst xmlns:a="http://schemas.openxmlformats.org/drawingml/2006/main">
              <a:ext uri="{FF2B5EF4-FFF2-40B4-BE49-F238E27FC236}">
                <a16:creationId xmlns:a16="http://schemas.microsoft.com/office/drawing/2014/main" id="{FA553E66-AC3A-4E9D-AF63-230F3728520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85">
            <a:extLst xmlns:a="http://schemas.openxmlformats.org/drawingml/2006/main">
              <a:ext uri="{FF2B5EF4-FFF2-40B4-BE49-F238E27FC236}">
                <a16:creationId xmlns:a16="http://schemas.microsoft.com/office/drawing/2014/main" id="{447B8858-6B2D-4D49-AE5C-16770E130022}"/>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86">
            <a:extLst xmlns:a="http://schemas.openxmlformats.org/drawingml/2006/main">
              <a:ext uri="{FF2B5EF4-FFF2-40B4-BE49-F238E27FC236}">
                <a16:creationId xmlns:a16="http://schemas.microsoft.com/office/drawing/2014/main" id="{34D0BDCC-4711-4B32-9EEE-8C41FB227796}"/>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07 / 10</a:t>
            </a:r>
          </a:p>
        </p:txBody>
      </p:sp>
      <p:graphicFrame>
        <p:nvGraphicFramePr>
          <p:cNvPr id="6" name="">
            <a:extLst xmlns:a="http://schemas.openxmlformats.org/drawingml/2006/main">
              <a:ext uri="{FF2B5EF4-FFF2-40B4-BE49-F238E27FC236}">
                <a16:creationId xmlns:a16="http://schemas.microsoft.com/office/drawing/2014/main" id="{55B341A9-93E6-451C-BFF2-7AD18C6F5F34}"/>
              </a:ext>
            </a:extLst>
          </p:cNvPr>
          <p:cNvGraphicFramePr/>
          <p:nvPr/>
        </p:nvGraphicFramePr>
        <p:xfrm>
          <a:off xmlns:a="http://schemas.openxmlformats.org/drawingml/2006/main" x="609600" y="1704975"/>
          <a:ext xmlns:a="http://schemas.openxmlformats.org/drawingml/2006/main" cx="10972800" cy="1428750"/>
        </p:xfrm>
        <a:graphic xmlns:a="http://schemas.openxmlformats.org/drawingml/2006/main">
          <a:graphicData uri="http://schemas.openxmlformats.org/drawingml/2006/table">
            <a:tbl>
              <a:tblPr/>
              <a:tblGrid>
                <a:gridCol w="3067050"/>
                <a:gridCol w="2686050"/>
                <a:gridCol w="2686050"/>
                <a:gridCol w="2533650"/>
              </a:tblGrid>
              <a:tr h="476250">
                <a:tc>
                  <a:txBody>
                    <a:bodyPr/>
                    <a:lstStyle/>
                    <a:p>
                      <a:r>
                        <a:rPr sz="1575" b="1">
                          <a:solidFill>
                            <a:srgbClr val="4CC9F0"/>
                          </a:solidFill>
                        </a:rPr>
                        <a:t>Target / LightGBM</a:t>
                      </a:r>
                    </a:p>
                  </a:txBody>
                  <a:tcPr marL="114300" marR="95250" marT="57150" marB="57150" anchor="ctr">
                    <a:lnL w="9525">
                      <a:solidFill>
                        <a:srgbClr val="294158"/>
                      </a:solidFill>
                      <a:prstDash val="solid"/>
                    </a:lnL>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75" b="1">
                          <a:solidFill>
                            <a:srgbClr val="4CC9F0"/>
                          </a:solidFill>
                        </a:rPr>
                        <a:t>MAE: structured</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75" b="1">
                          <a:solidFill>
                            <a:srgbClr val="4CC9F0"/>
                          </a:solidFill>
                        </a:rPr>
                        <a:t>MAE: augmented</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75" b="1">
                          <a:solidFill>
                            <a:srgbClr val="4CC9F0"/>
                          </a:solidFill>
                        </a:rPr>
                        <a:t>Paired-error p</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r>
              <a:tr h="476250">
                <a:tc>
                  <a:txBody>
                    <a:bodyPr/>
                    <a:lstStyle/>
                    <a:p>
                      <a:r>
                        <a:rPr sz="1575" b="0">
                          <a:solidFill>
                            <a:srgbClr val="F0F6FC"/>
                          </a:solidFill>
                        </a:rPr>
                        <a:t>Delay (hours)</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75" b="0">
                          <a:solidFill>
                            <a:srgbClr val="F0F6FC"/>
                          </a:solidFill>
                        </a:rPr>
                        <a:t>56.1839</a:t>
                      </a:r>
                    </a:p>
                  </a:txBody>
                  <a:tcPr marL="114300" marR="95250" marT="57150" marB="57150" anchor="ctr">
                    <a:lnR w="9525">
                      <a:solidFill>
                        <a:srgbClr val="294158"/>
                      </a:solidFill>
                      <a:prstDash val="solid"/>
                    </a:lnR>
                    <a:lnB w="9525">
                      <a:solidFill>
                        <a:srgbClr val="294158"/>
                      </a:solidFill>
                      <a:prstDash val="solid"/>
                    </a:lnB>
                    <a:solidFill>
                      <a:srgbClr val="111C2C"/>
                    </a:solidFill>
                  </a:tcPr>
                </a:tc>
                <a:tc>
                  <a:txBody>
                    <a:bodyPr/>
                    <a:lstStyle/>
                    <a:p>
                      <a:r>
                        <a:rPr sz="1575" b="0">
                          <a:solidFill>
                            <a:srgbClr val="F0F6FC"/>
                          </a:solidFill>
                        </a:rPr>
                        <a:t>60.2874</a:t>
                      </a:r>
                    </a:p>
                  </a:txBody>
                  <a:tcPr marL="114300" marR="95250" marT="57150" marB="57150" anchor="ctr">
                    <a:lnR w="9525">
                      <a:solidFill>
                        <a:srgbClr val="294158"/>
                      </a:solidFill>
                      <a:prstDash val="solid"/>
                    </a:lnR>
                    <a:lnB w="9525">
                      <a:solidFill>
                        <a:srgbClr val="294158"/>
                      </a:solidFill>
                      <a:prstDash val="solid"/>
                    </a:lnB>
                    <a:solidFill>
                      <a:srgbClr val="111C2C"/>
                    </a:solidFill>
                  </a:tcPr>
                </a:tc>
                <a:tc>
                  <a:txBody>
                    <a:bodyPr/>
                    <a:lstStyle/>
                    <a:p>
                      <a:r>
                        <a:rPr sz="1575" b="0">
                          <a:solidFill>
                            <a:srgbClr val="F0F6FC"/>
                          </a:solidFill>
                        </a:rPr>
                        <a:t>0.1363</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476250">
                <a:tc>
                  <a:txBody>
                    <a:bodyPr/>
                    <a:lstStyle/>
                    <a:p>
                      <a:r>
                        <a:rPr sz="1575" b="0">
                          <a:solidFill>
                            <a:srgbClr val="F0F6FC"/>
                          </a:solidFill>
                        </a:rPr>
                        <a:t>Repeat rate (0-1)</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575" b="0">
                          <a:solidFill>
                            <a:srgbClr val="F0F6FC"/>
                          </a:solidFill>
                        </a:rPr>
                        <a:t>0.0370</a:t>
                      </a:r>
                    </a:p>
                  </a:txBody>
                  <a:tcPr marL="114300" marR="95250" marT="57150" marB="57150" anchor="ctr">
                    <a:lnR w="9525">
                      <a:solidFill>
                        <a:srgbClr val="294158"/>
                      </a:solidFill>
                      <a:prstDash val="solid"/>
                    </a:lnR>
                    <a:lnB w="9525">
                      <a:solidFill>
                        <a:srgbClr val="294158"/>
                      </a:solidFill>
                      <a:prstDash val="solid"/>
                    </a:lnB>
                    <a:solidFill>
                      <a:srgbClr val="0B1220"/>
                    </a:solidFill>
                  </a:tcPr>
                </a:tc>
                <a:tc>
                  <a:txBody>
                    <a:bodyPr/>
                    <a:lstStyle/>
                    <a:p>
                      <a:r>
                        <a:rPr sz="1575" b="0">
                          <a:solidFill>
                            <a:srgbClr val="F0F6FC"/>
                          </a:solidFill>
                        </a:rPr>
                        <a:t>0.0354</a:t>
                      </a:r>
                    </a:p>
                  </a:txBody>
                  <a:tcPr marL="114300" marR="95250" marT="57150" marB="57150" anchor="ctr">
                    <a:lnR w="9525">
                      <a:solidFill>
                        <a:srgbClr val="294158"/>
                      </a:solidFill>
                      <a:prstDash val="solid"/>
                    </a:lnR>
                    <a:lnB w="9525">
                      <a:solidFill>
                        <a:srgbClr val="294158"/>
                      </a:solidFill>
                      <a:prstDash val="solid"/>
                    </a:lnB>
                    <a:solidFill>
                      <a:srgbClr val="0B1220"/>
                    </a:solidFill>
                  </a:tcPr>
                </a:tc>
                <a:tc>
                  <a:txBody>
                    <a:bodyPr/>
                    <a:lstStyle/>
                    <a:p>
                      <a:r>
                        <a:rPr sz="1575" b="0">
                          <a:solidFill>
                            <a:srgbClr val="F0F6FC"/>
                          </a:solidFill>
                        </a:rPr>
                        <a:t>0.05281</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bl>
          </a:graphicData>
        </a:graphic>
      </p:graphicFrame>
      <p:sp>
        <p:nvSpPr>
          <p:cNvPr id="7" name="text-87">
            <a:extLst xmlns:a="http://schemas.openxmlformats.org/drawingml/2006/main">
              <a:ext uri="{FF2B5EF4-FFF2-40B4-BE49-F238E27FC236}">
                <a16:creationId xmlns:a16="http://schemas.microsoft.com/office/drawing/2014/main" id="{BC7C8D69-BBC3-4F72-8A24-3699F71836A9}"/>
              </a:ext>
            </a:extLst>
          </p:cNvPr>
          <p:cNvSpPr>
            <a:spLocks xmlns:a="http://schemas.openxmlformats.org/drawingml/2006/main" noGrp="1"/>
          </p:cNvSpPr>
          <p:nvPr/>
        </p:nvSpPr>
        <p:spPr>
          <a:xfrm xmlns:a="http://schemas.openxmlformats.org/drawingml/2006/main">
            <a:off x="609600" y="34766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4CC9F0"/>
                </a:solidFill>
              </a:defRPr>
            </a:defPPr>
            <a:lvl1pPr>
              <a:defRPr sz="2175" b="1">
                <a:solidFill>
                  <a:srgbClr val="4CC9F0"/>
                </a:solidFill>
              </a:defRPr>
            </a:lvl1pPr>
            <a:lvl2pPr>
              <a:defRPr sz="2175" b="1">
                <a:solidFill>
                  <a:srgbClr val="4CC9F0"/>
                </a:solidFill>
              </a:defRPr>
            </a:lvl2pPr>
            <a:lvl3pPr>
              <a:defRPr sz="2175" b="1">
                <a:solidFill>
                  <a:srgbClr val="4CC9F0"/>
                </a:solidFill>
              </a:defRPr>
            </a:lvl3pPr>
            <a:lvl4pPr>
              <a:defRPr sz="2175" b="1">
                <a:solidFill>
                  <a:srgbClr val="4CC9F0"/>
                </a:solidFill>
              </a:defRPr>
            </a:lvl4pPr>
            <a:lvl5pPr>
              <a:defRPr sz="2175" b="1">
                <a:solidFill>
                  <a:srgbClr val="4CC9F0"/>
                </a:solidFill>
              </a:defRPr>
            </a:lvl5pPr>
            <a:lvl6pPr>
              <a:defRPr sz="2175" b="1">
                <a:solidFill>
                  <a:srgbClr val="4CC9F0"/>
                </a:solidFill>
              </a:defRPr>
            </a:lvl6pPr>
            <a:lvl7pPr>
              <a:defRPr sz="2175" b="1">
                <a:solidFill>
                  <a:srgbClr val="4CC9F0"/>
                </a:solidFill>
              </a:defRPr>
            </a:lvl7pPr>
            <a:lvl8pPr>
              <a:defRPr sz="2175" b="1">
                <a:solidFill>
                  <a:srgbClr val="4CC9F0"/>
                </a:solidFill>
              </a:defRPr>
            </a:lvl8pPr>
            <a:lvl9pPr>
              <a:defRPr sz="2175" b="1">
                <a:solidFill>
                  <a:srgbClr val="4CC9F0"/>
                </a:solidFill>
              </a:defRPr>
            </a:lvl9pPr>
          </a:lstStyle>
          <a:p xmlns:a="http://schemas.openxmlformats.org/drawingml/2006/main">
            <a:pPr>
              <a:defRPr sz="2175" b="1">
                <a:solidFill>
                  <a:srgbClr val="4CC9F0"/>
                </a:solidFill>
              </a:defRPr>
            </a:pPr>
            <a:r>
              <a:rPr sz="2175" b="1">
                <a:solidFill>
                  <a:srgbClr val="4CC9F0"/>
                </a:solidFill>
              </a:rPr>
              <a:t>Five-seed robustness</a:t>
            </a:r>
          </a:p>
        </p:txBody>
      </p:sp>
      <p:graphicFrame>
        <p:nvGraphicFramePr>
          <p:cNvPr id="8" name="">
            <a:extLst xmlns:a="http://schemas.openxmlformats.org/drawingml/2006/main">
              <a:ext uri="{FF2B5EF4-FFF2-40B4-BE49-F238E27FC236}">
                <a16:creationId xmlns:a16="http://schemas.microsoft.com/office/drawing/2014/main" id="{C8906040-7FDD-4B42-A018-4872E1B60131}"/>
              </a:ext>
            </a:extLst>
          </p:cNvPr>
          <p:cNvGraphicFramePr/>
          <p:nvPr/>
        </p:nvGraphicFramePr>
        <p:xfrm>
          <a:off xmlns:a="http://schemas.openxmlformats.org/drawingml/2006/main" x="609600" y="3952875"/>
          <a:ext xmlns:a="http://schemas.openxmlformats.org/drawingml/2006/main" cx="10972800" cy="1314450"/>
        </p:xfrm>
        <a:graphic xmlns:a="http://schemas.openxmlformats.org/drawingml/2006/main">
          <a:graphicData uri="http://schemas.openxmlformats.org/drawingml/2006/table">
            <a:tbl>
              <a:tblPr/>
              <a:tblGrid>
                <a:gridCol w="3067050"/>
                <a:gridCol w="4210050"/>
                <a:gridCol w="3695700"/>
              </a:tblGrid>
              <a:tr h="438150">
                <a:tc>
                  <a:txBody>
                    <a:bodyPr/>
                    <a:lstStyle/>
                    <a:p>
                      <a:r>
                        <a:rPr sz="1650" b="1">
                          <a:solidFill>
                            <a:srgbClr val="4CC9F0"/>
                          </a:solidFill>
                        </a:rPr>
                        <a:t>Outcome</a:t>
                      </a:r>
                    </a:p>
                  </a:txBody>
                  <a:tcPr marL="114300" marR="95250" marT="57150" marB="57150" anchor="ctr">
                    <a:lnL w="9525">
                      <a:solidFill>
                        <a:srgbClr val="294158"/>
                      </a:solidFill>
                      <a:prstDash val="solid"/>
                    </a:lnL>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650" b="1">
                          <a:solidFill>
                            <a:srgbClr val="4CC9F0"/>
                          </a:solidFill>
                        </a:rPr>
                        <a:t>Mean ΔR² ± SD</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650" b="1">
                          <a:solidFill>
                            <a:srgbClr val="4CC9F0"/>
                          </a:solidFill>
                        </a:rPr>
                        <a:t>95% bootstrap interval</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r>
              <a:tr h="438150">
                <a:tc>
                  <a:txBody>
                    <a:bodyPr/>
                    <a:lstStyle/>
                    <a:p>
                      <a:r>
                        <a:rPr sz="1650" b="0">
                          <a:solidFill>
                            <a:srgbClr val="F0F6FC"/>
                          </a:solidFill>
                        </a:rPr>
                        <a:t>Delay</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650" b="0">
                          <a:solidFill>
                            <a:srgbClr val="F0F6FC"/>
                          </a:solidFill>
                        </a:rPr>
                        <a:t>−0.1396 ± 0.0158</a:t>
                      </a:r>
                    </a:p>
                  </a:txBody>
                  <a:tcPr marL="114300" marR="95250" marT="57150" marB="57150" anchor="ctr">
                    <a:lnR w="9525">
                      <a:solidFill>
                        <a:srgbClr val="294158"/>
                      </a:solidFill>
                      <a:prstDash val="solid"/>
                    </a:lnR>
                    <a:lnB w="9525">
                      <a:solidFill>
                        <a:srgbClr val="294158"/>
                      </a:solidFill>
                      <a:prstDash val="solid"/>
                    </a:lnB>
                    <a:solidFill>
                      <a:srgbClr val="111C2C"/>
                    </a:solidFill>
                  </a:tcPr>
                </a:tc>
                <a:tc>
                  <a:txBody>
                    <a:bodyPr/>
                    <a:lstStyle/>
                    <a:p>
                      <a:r>
                        <a:rPr sz="1650" b="0">
                          <a:solidFill>
                            <a:srgbClr val="F0F6FC"/>
                          </a:solidFill>
                        </a:rPr>
                        <a:t>[−0.2282, −0.0402]</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438150">
                <a:tc>
                  <a:txBody>
                    <a:bodyPr/>
                    <a:lstStyle/>
                    <a:p>
                      <a:r>
                        <a:rPr sz="1650" b="0">
                          <a:solidFill>
                            <a:srgbClr val="F0F6FC"/>
                          </a:solidFill>
                        </a:rPr>
                        <a:t>Repeat rate</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650" b="0">
                          <a:solidFill>
                            <a:srgbClr val="F0F6FC"/>
                          </a:solidFill>
                        </a:rPr>
                        <a:t>−0.0008 ± 0.0017</a:t>
                      </a:r>
                    </a:p>
                  </a:txBody>
                  <a:tcPr marL="114300" marR="95250" marT="57150" marB="57150" anchor="ctr">
                    <a:lnR w="9525">
                      <a:solidFill>
                        <a:srgbClr val="294158"/>
                      </a:solidFill>
                      <a:prstDash val="solid"/>
                    </a:lnR>
                    <a:lnB w="9525">
                      <a:solidFill>
                        <a:srgbClr val="294158"/>
                      </a:solidFill>
                      <a:prstDash val="solid"/>
                    </a:lnB>
                    <a:solidFill>
                      <a:srgbClr val="0B1220"/>
                    </a:solidFill>
                  </a:tcPr>
                </a:tc>
                <a:tc>
                  <a:txBody>
                    <a:bodyPr/>
                    <a:lstStyle/>
                    <a:p>
                      <a:r>
                        <a:rPr sz="1650" b="0">
                          <a:solidFill>
                            <a:srgbClr val="F0F6FC"/>
                          </a:solidFill>
                        </a:rPr>
                        <a:t>[−0.0070, +0.0060]</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bl>
          </a:graphicData>
        </a:graphic>
      </p:graphicFrame>
      <p:sp>
        <p:nvSpPr>
          <p:cNvPr id="9" name="rule-88">
            <a:extLst xmlns:a="http://schemas.openxmlformats.org/drawingml/2006/main">
              <a:ext uri="{FF2B5EF4-FFF2-40B4-BE49-F238E27FC236}">
                <a16:creationId xmlns:a16="http://schemas.microsoft.com/office/drawing/2014/main" id="{4BED8D32-5567-4182-8E3A-FAE8001D4BDB}"/>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10" name="text-89">
            <a:extLst xmlns:a="http://schemas.openxmlformats.org/drawingml/2006/main">
              <a:ext uri="{FF2B5EF4-FFF2-40B4-BE49-F238E27FC236}">
                <a16:creationId xmlns:a16="http://schemas.microsoft.com/office/drawing/2014/main" id="{BA9CE835-495E-4D9D-91DD-72AC057CF65A}"/>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The delay error increased, while the repeat-rate change remained small.</a:t>
            </a:r>
          </a:p>
        </p:txBody>
      </p:sp>
      <p:sp>
        <p:nvSpPr>
          <p:cNvPr id="11" name="text-90">
            <a:extLst xmlns:a="http://schemas.openxmlformats.org/drawingml/2006/main">
              <a:ext uri="{FF2B5EF4-FFF2-40B4-BE49-F238E27FC236}">
                <a16:creationId xmlns:a16="http://schemas.microsoft.com/office/drawing/2014/main" id="{67F6740B-C2B4-461B-A9E5-CDA5A3908DD2}"/>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The p-values compare paired absolute errors, rather than testing the R² change directly.</a:t>
            </a:r>
          </a:p>
        </p:txBody>
      </p:sp>
    </p:spTree>
    <p:extLst>
      <p:ext uri="{BB962C8B-B14F-4D97-AF65-F5344CB8AC3E}">
        <p14:creationId xmlns:p14="http://schemas.microsoft.com/office/powerpoint/2010/main" val="1457073009"/>
      </p:ext>
    </p:extLst>
  </p:cSld>
</p:sld>
</file>

<file path=ppt/slides/slide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5" name="text-91">
            <a:extLst xmlns:a="http://schemas.openxmlformats.org/drawingml/2006/main">
              <a:ext uri="{FF2B5EF4-FFF2-40B4-BE49-F238E27FC236}">
                <a16:creationId xmlns:a16="http://schemas.microsoft.com/office/drawing/2014/main" id="{40EE764D-D218-47D2-9B26-00594817911E}"/>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CRITERIA 1 AND 3   Working system and applied output</a:t>
            </a:r>
          </a:p>
        </p:txBody>
      </p:sp>
      <p:sp>
        <p:nvSpPr>
          <p:cNvPr id="2" name="text-92">
            <a:extLst xmlns:a="http://schemas.openxmlformats.org/drawingml/2006/main">
              <a:ext uri="{FF2B5EF4-FFF2-40B4-BE49-F238E27FC236}">
                <a16:creationId xmlns:a16="http://schemas.microsoft.com/office/drawing/2014/main" id="{FBF5B9AC-94AD-41DA-A5D8-956BE8BDB864}"/>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Dashboard implementation &amp; demonstration</a:t>
            </a:r>
          </a:p>
        </p:txBody>
      </p:sp>
      <p:sp>
        <p:nvSpPr>
          <p:cNvPr id="3" name="rule-93">
            <a:extLst xmlns:a="http://schemas.openxmlformats.org/drawingml/2006/main">
              <a:ext uri="{FF2B5EF4-FFF2-40B4-BE49-F238E27FC236}">
                <a16:creationId xmlns:a16="http://schemas.microsoft.com/office/drawing/2014/main" id="{BB08B258-B241-4F7D-91B1-4B72ED44FAA6}"/>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94">
            <a:extLst xmlns:a="http://schemas.openxmlformats.org/drawingml/2006/main">
              <a:ext uri="{FF2B5EF4-FFF2-40B4-BE49-F238E27FC236}">
                <a16:creationId xmlns:a16="http://schemas.microsoft.com/office/drawing/2014/main" id="{FC634003-44DC-41BD-A0B7-52ECDF609991}"/>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95">
            <a:extLst xmlns:a="http://schemas.openxmlformats.org/drawingml/2006/main">
              <a:ext uri="{FF2B5EF4-FFF2-40B4-BE49-F238E27FC236}">
                <a16:creationId xmlns:a16="http://schemas.microsoft.com/office/drawing/2014/main" id="{CBCD5494-CCCF-40BD-B071-322EF0C98574}"/>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08 / 10</a:t>
            </a:r>
          </a:p>
        </p:txBody>
      </p:sp>
      <p:sp>
        <p:nvSpPr>
          <p:cNvPr id="6" name="text-96">
            <a:extLst xmlns:a="http://schemas.openxmlformats.org/drawingml/2006/main">
              <a:ext uri="{FF2B5EF4-FFF2-40B4-BE49-F238E27FC236}">
                <a16:creationId xmlns:a16="http://schemas.microsoft.com/office/drawing/2014/main" id="{F15859CA-0772-4495-B3ED-6450316F2BCA}"/>
              </a:ext>
            </a:extLst>
          </p:cNvPr>
          <p:cNvSpPr>
            <a:spLocks xmlns:a="http://schemas.openxmlformats.org/drawingml/2006/main" noGrp="1"/>
          </p:cNvSpPr>
          <p:nvPr/>
        </p:nvSpPr>
        <p:spPr>
          <a:xfrm xmlns:a="http://schemas.openxmlformats.org/drawingml/2006/main">
            <a:off x="609600" y="1762125"/>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4CC9F0"/>
                </a:solidFill>
              </a:defRPr>
            </a:defPPr>
            <a:lvl1pPr>
              <a:defRPr sz="2025" b="1">
                <a:solidFill>
                  <a:srgbClr val="4CC9F0"/>
                </a:solidFill>
              </a:defRPr>
            </a:lvl1pPr>
            <a:lvl2pPr>
              <a:defRPr sz="2025" b="1">
                <a:solidFill>
                  <a:srgbClr val="4CC9F0"/>
                </a:solidFill>
              </a:defRPr>
            </a:lvl2pPr>
            <a:lvl3pPr>
              <a:defRPr sz="2025" b="1">
                <a:solidFill>
                  <a:srgbClr val="4CC9F0"/>
                </a:solidFill>
              </a:defRPr>
            </a:lvl3pPr>
            <a:lvl4pPr>
              <a:defRPr sz="2025" b="1">
                <a:solidFill>
                  <a:srgbClr val="4CC9F0"/>
                </a:solidFill>
              </a:defRPr>
            </a:lvl4pPr>
            <a:lvl5pPr>
              <a:defRPr sz="2025" b="1">
                <a:solidFill>
                  <a:srgbClr val="4CC9F0"/>
                </a:solidFill>
              </a:defRPr>
            </a:lvl5pPr>
            <a:lvl6pPr>
              <a:defRPr sz="2025" b="1">
                <a:solidFill>
                  <a:srgbClr val="4CC9F0"/>
                </a:solidFill>
              </a:defRPr>
            </a:lvl6pPr>
            <a:lvl7pPr>
              <a:defRPr sz="2025" b="1">
                <a:solidFill>
                  <a:srgbClr val="4CC9F0"/>
                </a:solidFill>
              </a:defRPr>
            </a:lvl7pPr>
            <a:lvl8pPr>
              <a:defRPr sz="2025" b="1">
                <a:solidFill>
                  <a:srgbClr val="4CC9F0"/>
                </a:solidFill>
              </a:defRPr>
            </a:lvl8pPr>
            <a:lvl9pPr>
              <a:defRPr sz="2025" b="1">
                <a:solidFill>
                  <a:srgbClr val="4CC9F0"/>
                </a:solidFill>
              </a:defRPr>
            </a:lvl9pPr>
          </a:lstStyle>
          <a:p xmlns:a="http://schemas.openxmlformats.org/drawingml/2006/main">
            <a:pPr>
              <a:defRPr sz="2025" b="1">
                <a:solidFill>
                  <a:srgbClr val="4CC9F0"/>
                </a:solidFill>
              </a:defRPr>
            </a:pPr>
            <a:r>
              <a:rPr sz="2025" b="1">
                <a:solidFill>
                  <a:srgbClr val="4CC9F0"/>
                </a:solidFill>
              </a:rPr>
              <a:t>Municipal Operations</a:t>
            </a:r>
          </a:p>
        </p:txBody>
      </p:sp>
      <p:sp>
        <p:nvSpPr>
          <p:cNvPr id="7" name="text-97">
            <a:extLst xmlns:a="http://schemas.openxmlformats.org/drawingml/2006/main">
              <a:ext uri="{FF2B5EF4-FFF2-40B4-BE49-F238E27FC236}">
                <a16:creationId xmlns:a16="http://schemas.microsoft.com/office/drawing/2014/main" id="{7BCA6F96-2455-478C-A786-7D04E70D0E0A}"/>
              </a:ext>
            </a:extLst>
          </p:cNvPr>
          <p:cNvSpPr>
            <a:spLocks xmlns:a="http://schemas.openxmlformats.org/drawingml/2006/main" noGrp="1"/>
          </p:cNvSpPr>
          <p:nvPr/>
        </p:nvSpPr>
        <p:spPr>
          <a:xfrm xmlns:a="http://schemas.openxmlformats.org/drawingml/2006/main">
            <a:off x="609600" y="2219325"/>
            <a:ext cx="5238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B8C7D6"/>
                </a:solidFill>
              </a:defRPr>
            </a:defPPr>
            <a:lvl1pPr>
              <a:defRPr sz="1875" b="0">
                <a:solidFill>
                  <a:srgbClr val="B8C7D6"/>
                </a:solidFill>
              </a:defRPr>
            </a:lvl1pPr>
            <a:lvl2pPr>
              <a:defRPr sz="1875" b="0">
                <a:solidFill>
                  <a:srgbClr val="B8C7D6"/>
                </a:solidFill>
              </a:defRPr>
            </a:lvl2pPr>
            <a:lvl3pPr>
              <a:defRPr sz="1875" b="0">
                <a:solidFill>
                  <a:srgbClr val="B8C7D6"/>
                </a:solidFill>
              </a:defRPr>
            </a:lvl3pPr>
            <a:lvl4pPr>
              <a:defRPr sz="1875" b="0">
                <a:solidFill>
                  <a:srgbClr val="B8C7D6"/>
                </a:solidFill>
              </a:defRPr>
            </a:lvl4pPr>
            <a:lvl5pPr>
              <a:defRPr sz="1875" b="0">
                <a:solidFill>
                  <a:srgbClr val="B8C7D6"/>
                </a:solidFill>
              </a:defRPr>
            </a:lvl5pPr>
            <a:lvl6pPr>
              <a:defRPr sz="1875" b="0">
                <a:solidFill>
                  <a:srgbClr val="B8C7D6"/>
                </a:solidFill>
              </a:defRPr>
            </a:lvl6pPr>
            <a:lvl7pPr>
              <a:defRPr sz="1875" b="0">
                <a:solidFill>
                  <a:srgbClr val="B8C7D6"/>
                </a:solidFill>
              </a:defRPr>
            </a:lvl7pPr>
            <a:lvl8pPr>
              <a:defRPr sz="1875" b="0">
                <a:solidFill>
                  <a:srgbClr val="B8C7D6"/>
                </a:solidFill>
              </a:defRPr>
            </a:lvl8pPr>
            <a:lvl9pPr>
              <a:defRPr sz="1875" b="0">
                <a:solidFill>
                  <a:srgbClr val="B8C7D6"/>
                </a:solidFill>
              </a:defRPr>
            </a:lvl9pPr>
          </a:lstStyle>
          <a:p xmlns:a="http://schemas.openxmlformats.org/drawingml/2006/main">
            <a:pPr>
              <a:defRPr sz="1875" b="0">
                <a:solidFill>
                  <a:srgbClr val="B8C7D6"/>
                </a:solidFill>
              </a:defRPr>
            </a:pPr>
            <a:r>
              <a:rPr sz="1875" b="0">
                <a:solidFill>
                  <a:srgbClr val="B8C7D6"/>
                </a:solidFill>
              </a:rPr>
              <a:t>Filter by borough, service and month.</a:t>
            </a:r>
          </a:p>
          <a:p xmlns:a="http://schemas.openxmlformats.org/drawingml/2006/main">
            <a:pPr>
              <a:defRPr sz="1875" b="0">
                <a:solidFill>
                  <a:srgbClr val="B8C7D6"/>
                </a:solidFill>
              </a:defRPr>
            </a:pPr>
            <a:r>
              <a:rPr sz="1875" b="0">
                <a:solidFill>
                  <a:srgbClr val="B8C7D6"/>
                </a:solidFill>
              </a:rPr>
              <a:t>Review priority cells and trends.</a:t>
            </a:r>
          </a:p>
          <a:p xmlns:a="http://schemas.openxmlformats.org/drawingml/2006/main">
            <a:pPr>
              <a:defRPr sz="1875" b="0">
                <a:solidFill>
                  <a:srgbClr val="B8C7D6"/>
                </a:solidFill>
              </a:defRPr>
            </a:pPr>
            <a:r>
              <a:rPr sz="1875" b="0">
                <a:solidFill>
                  <a:srgbClr val="B8C7D6"/>
                </a:solidFill>
              </a:rPr>
              <a:t>Compare performance and model evidence.</a:t>
            </a:r>
          </a:p>
          <a:p xmlns:a="http://schemas.openxmlformats.org/drawingml/2006/main">
            <a:pPr>
              <a:defRPr sz="1875" b="0">
                <a:solidFill>
                  <a:srgbClr val="B8C7D6"/>
                </a:solidFill>
              </a:defRPr>
            </a:pPr>
            <a:r>
              <a:rPr sz="1875" b="0">
                <a:solidFill>
                  <a:srgbClr val="B8C7D6"/>
                </a:solidFill>
              </a:rPr>
              <a:t>Download a queue for staff review.</a:t>
            </a:r>
          </a:p>
        </p:txBody>
      </p:sp>
      <p:sp>
        <p:nvSpPr>
          <p:cNvPr id="8" name="text-98">
            <a:extLst xmlns:a="http://schemas.openxmlformats.org/drawingml/2006/main">
              <a:ext uri="{FF2B5EF4-FFF2-40B4-BE49-F238E27FC236}">
                <a16:creationId xmlns:a16="http://schemas.microsoft.com/office/drawing/2014/main" id="{BF5275A7-F158-4958-8FE5-6887C100EAC5}"/>
              </a:ext>
            </a:extLst>
          </p:cNvPr>
          <p:cNvSpPr>
            <a:spLocks xmlns:a="http://schemas.openxmlformats.org/drawingml/2006/main" noGrp="1"/>
          </p:cNvSpPr>
          <p:nvPr/>
        </p:nvSpPr>
        <p:spPr>
          <a:xfrm xmlns:a="http://schemas.openxmlformats.org/drawingml/2006/main">
            <a:off x="6305550" y="1762125"/>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F6BD60"/>
                </a:solidFill>
              </a:defRPr>
            </a:defPPr>
            <a:lvl1pPr>
              <a:defRPr sz="2025" b="1">
                <a:solidFill>
                  <a:srgbClr val="F6BD60"/>
                </a:solidFill>
              </a:defRPr>
            </a:lvl1pPr>
            <a:lvl2pPr>
              <a:defRPr sz="2025" b="1">
                <a:solidFill>
                  <a:srgbClr val="F6BD60"/>
                </a:solidFill>
              </a:defRPr>
            </a:lvl2pPr>
            <a:lvl3pPr>
              <a:defRPr sz="2025" b="1">
                <a:solidFill>
                  <a:srgbClr val="F6BD60"/>
                </a:solidFill>
              </a:defRPr>
            </a:lvl3pPr>
            <a:lvl4pPr>
              <a:defRPr sz="2025" b="1">
                <a:solidFill>
                  <a:srgbClr val="F6BD60"/>
                </a:solidFill>
              </a:defRPr>
            </a:lvl4pPr>
            <a:lvl5pPr>
              <a:defRPr sz="2025" b="1">
                <a:solidFill>
                  <a:srgbClr val="F6BD60"/>
                </a:solidFill>
              </a:defRPr>
            </a:lvl5pPr>
            <a:lvl6pPr>
              <a:defRPr sz="2025" b="1">
                <a:solidFill>
                  <a:srgbClr val="F6BD60"/>
                </a:solidFill>
              </a:defRPr>
            </a:lvl6pPr>
            <a:lvl7pPr>
              <a:defRPr sz="2025" b="1">
                <a:solidFill>
                  <a:srgbClr val="F6BD60"/>
                </a:solidFill>
              </a:defRPr>
            </a:lvl7pPr>
            <a:lvl8pPr>
              <a:defRPr sz="2025" b="1">
                <a:solidFill>
                  <a:srgbClr val="F6BD60"/>
                </a:solidFill>
              </a:defRPr>
            </a:lvl8pPr>
            <a:lvl9pPr>
              <a:defRPr sz="2025" b="1">
                <a:solidFill>
                  <a:srgbClr val="F6BD60"/>
                </a:solidFill>
              </a:defRPr>
            </a:lvl9pPr>
          </a:lstStyle>
          <a:p xmlns:a="http://schemas.openxmlformats.org/drawingml/2006/main">
            <a:pPr>
              <a:defRPr sz="2025" b="1">
                <a:solidFill>
                  <a:srgbClr val="F6BD60"/>
                </a:solidFill>
              </a:defRPr>
            </a:pPr>
            <a:r>
              <a:rPr sz="2025" b="1">
                <a:solidFill>
                  <a:srgbClr val="F6BD60"/>
                </a:solidFill>
              </a:rPr>
              <a:t>Resident View</a:t>
            </a:r>
          </a:p>
        </p:txBody>
      </p:sp>
      <p:sp>
        <p:nvSpPr>
          <p:cNvPr id="9" name="text-99">
            <a:extLst xmlns:a="http://schemas.openxmlformats.org/drawingml/2006/main">
              <a:ext uri="{FF2B5EF4-FFF2-40B4-BE49-F238E27FC236}">
                <a16:creationId xmlns:a16="http://schemas.microsoft.com/office/drawing/2014/main" id="{025AABAF-58F1-4352-B5A6-9939872F187D}"/>
              </a:ext>
            </a:extLst>
          </p:cNvPr>
          <p:cNvSpPr>
            <a:spLocks xmlns:a="http://schemas.openxmlformats.org/drawingml/2006/main" noGrp="1"/>
          </p:cNvSpPr>
          <p:nvPr/>
        </p:nvSpPr>
        <p:spPr>
          <a:xfrm xmlns:a="http://schemas.openxmlformats.org/drawingml/2006/main">
            <a:off x="6305550" y="2219325"/>
            <a:ext cx="5238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B8C7D6"/>
                </a:solidFill>
              </a:defRPr>
            </a:defPPr>
            <a:lvl1pPr>
              <a:defRPr sz="1875" b="0">
                <a:solidFill>
                  <a:srgbClr val="B8C7D6"/>
                </a:solidFill>
              </a:defRPr>
            </a:lvl1pPr>
            <a:lvl2pPr>
              <a:defRPr sz="1875" b="0">
                <a:solidFill>
                  <a:srgbClr val="B8C7D6"/>
                </a:solidFill>
              </a:defRPr>
            </a:lvl2pPr>
            <a:lvl3pPr>
              <a:defRPr sz="1875" b="0">
                <a:solidFill>
                  <a:srgbClr val="B8C7D6"/>
                </a:solidFill>
              </a:defRPr>
            </a:lvl3pPr>
            <a:lvl4pPr>
              <a:defRPr sz="1875" b="0">
                <a:solidFill>
                  <a:srgbClr val="B8C7D6"/>
                </a:solidFill>
              </a:defRPr>
            </a:lvl4pPr>
            <a:lvl5pPr>
              <a:defRPr sz="1875" b="0">
                <a:solidFill>
                  <a:srgbClr val="B8C7D6"/>
                </a:solidFill>
              </a:defRPr>
            </a:lvl5pPr>
            <a:lvl6pPr>
              <a:defRPr sz="1875" b="0">
                <a:solidFill>
                  <a:srgbClr val="B8C7D6"/>
                </a:solidFill>
              </a:defRPr>
            </a:lvl6pPr>
            <a:lvl7pPr>
              <a:defRPr sz="1875" b="0">
                <a:solidFill>
                  <a:srgbClr val="B8C7D6"/>
                </a:solidFill>
              </a:defRPr>
            </a:lvl7pPr>
            <a:lvl8pPr>
              <a:defRPr sz="1875" b="0">
                <a:solidFill>
                  <a:srgbClr val="B8C7D6"/>
                </a:solidFill>
              </a:defRPr>
            </a:lvl8pPr>
            <a:lvl9pPr>
              <a:defRPr sz="1875" b="0">
                <a:solidFill>
                  <a:srgbClr val="B8C7D6"/>
                </a:solidFill>
              </a:defRPr>
            </a:lvl9pPr>
          </a:lstStyle>
          <a:p xmlns:a="http://schemas.openxmlformats.org/drawingml/2006/main">
            <a:pPr>
              <a:defRPr sz="1875" b="0">
                <a:solidFill>
                  <a:srgbClr val="B8C7D6"/>
                </a:solidFill>
              </a:defRPr>
            </a:pPr>
            <a:r>
              <a:rPr sz="1875" b="0">
                <a:solidFill>
                  <a:srgbClr val="B8C7D6"/>
                </a:solidFill>
              </a:rPr>
              <a:t>Read historical service summaries.</a:t>
            </a:r>
          </a:p>
          <a:p xmlns:a="http://schemas.openxmlformats.org/drawingml/2006/main">
            <a:pPr>
              <a:defRPr sz="1875" b="0">
                <a:solidFill>
                  <a:srgbClr val="B8C7D6"/>
                </a:solidFill>
              </a:defRPr>
            </a:pPr>
            <a:r>
              <a:rPr sz="1875" b="0">
                <a:solidFill>
                  <a:srgbClr val="B8C7D6"/>
                </a:solidFill>
              </a:rPr>
              <a:t>Understand delay and repeat indicators.</a:t>
            </a:r>
          </a:p>
          <a:p xmlns:a="http://schemas.openxmlformats.org/drawingml/2006/main">
            <a:pPr>
              <a:defRPr sz="1875" b="0">
                <a:solidFill>
                  <a:srgbClr val="B8C7D6"/>
                </a:solidFill>
              </a:defRPr>
            </a:pPr>
            <a:r>
              <a:rPr sz="1875" b="0">
                <a:solidFill>
                  <a:srgbClr val="B8C7D6"/>
                </a:solidFill>
              </a:rPr>
              <a:t>Compare aggregate service performance.</a:t>
            </a:r>
          </a:p>
          <a:p xmlns:a="http://schemas.openxmlformats.org/drawingml/2006/main">
            <a:pPr>
              <a:defRPr sz="1875" b="0">
                <a:solidFill>
                  <a:srgbClr val="B8C7D6"/>
                </a:solidFill>
              </a:defRPr>
            </a:pPr>
            <a:r>
              <a:rPr sz="1875" b="0">
                <a:solidFill>
                  <a:srgbClr val="B8C7D6"/>
                </a:solidFill>
              </a:rPr>
              <a:t>Keep personal ticket details private.</a:t>
            </a:r>
          </a:p>
        </p:txBody>
      </p:sp>
      <p:sp>
        <p:nvSpPr>
          <p:cNvPr id="10" name="text-100">
            <a:extLst xmlns:a="http://schemas.openxmlformats.org/drawingml/2006/main">
              <a:ext uri="{FF2B5EF4-FFF2-40B4-BE49-F238E27FC236}">
                <a16:creationId xmlns:a16="http://schemas.microsoft.com/office/drawing/2014/main" id="{B51CB20C-E9B4-49A8-B226-CF4F07FCC08B}"/>
              </a:ext>
            </a:extLst>
          </p:cNvPr>
          <p:cNvSpPr>
            <a:spLocks xmlns:a="http://schemas.openxmlformats.org/drawingml/2006/main" noGrp="1"/>
          </p:cNvSpPr>
          <p:nvPr/>
        </p:nvSpPr>
        <p:spPr>
          <a:xfrm xmlns:a="http://schemas.openxmlformats.org/drawingml/2006/main">
            <a:off x="609600" y="4048125"/>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F0F6FC"/>
                </a:solidFill>
              </a:defRPr>
            </a:defPPr>
            <a:lvl1pPr>
              <a:defRPr sz="2025" b="1">
                <a:solidFill>
                  <a:srgbClr val="F0F6FC"/>
                </a:solidFill>
              </a:defRPr>
            </a:lvl1pPr>
            <a:lvl2pPr>
              <a:defRPr sz="2025" b="1">
                <a:solidFill>
                  <a:srgbClr val="F0F6FC"/>
                </a:solidFill>
              </a:defRPr>
            </a:lvl2pPr>
            <a:lvl3pPr>
              <a:defRPr sz="2025" b="1">
                <a:solidFill>
                  <a:srgbClr val="F0F6FC"/>
                </a:solidFill>
              </a:defRPr>
            </a:lvl3pPr>
            <a:lvl4pPr>
              <a:defRPr sz="2025" b="1">
                <a:solidFill>
                  <a:srgbClr val="F0F6FC"/>
                </a:solidFill>
              </a:defRPr>
            </a:lvl4pPr>
            <a:lvl5pPr>
              <a:defRPr sz="2025" b="1">
                <a:solidFill>
                  <a:srgbClr val="F0F6FC"/>
                </a:solidFill>
              </a:defRPr>
            </a:lvl5pPr>
            <a:lvl6pPr>
              <a:defRPr sz="2025" b="1">
                <a:solidFill>
                  <a:srgbClr val="F0F6FC"/>
                </a:solidFill>
              </a:defRPr>
            </a:lvl6pPr>
            <a:lvl7pPr>
              <a:defRPr sz="2025" b="1">
                <a:solidFill>
                  <a:srgbClr val="F0F6FC"/>
                </a:solidFill>
              </a:defRPr>
            </a:lvl7pPr>
            <a:lvl8pPr>
              <a:defRPr sz="2025" b="1">
                <a:solidFill>
                  <a:srgbClr val="F0F6FC"/>
                </a:solidFill>
              </a:defRPr>
            </a:lvl8pPr>
            <a:lvl9pPr>
              <a:defRPr sz="2025" b="1">
                <a:solidFill>
                  <a:srgbClr val="F0F6FC"/>
                </a:solidFill>
              </a:defRPr>
            </a:lvl9pPr>
          </a:lstStyle>
          <a:p xmlns:a="http://schemas.openxmlformats.org/drawingml/2006/main">
            <a:pPr>
              <a:defRPr sz="2025" b="1">
                <a:solidFill>
                  <a:srgbClr val="F0F6FC"/>
                </a:solidFill>
              </a:defRPr>
            </a:pPr>
            <a:r>
              <a:rPr sz="2025" b="1">
                <a:solidFill>
                  <a:srgbClr val="F0F6FC"/>
                </a:solidFill>
              </a:rPr>
              <a:t>Held-out priority queue evaluation</a:t>
            </a:r>
          </a:p>
        </p:txBody>
      </p:sp>
      <p:graphicFrame>
        <p:nvGraphicFramePr>
          <p:cNvPr id="11" name="">
            <a:extLst xmlns:a="http://schemas.openxmlformats.org/drawingml/2006/main">
              <a:ext uri="{FF2B5EF4-FFF2-40B4-BE49-F238E27FC236}">
                <a16:creationId xmlns:a16="http://schemas.microsoft.com/office/drawing/2014/main" id="{E8EDE97F-1FCA-40D2-95B6-1D9901955C7B}"/>
              </a:ext>
            </a:extLst>
          </p:cNvPr>
          <p:cNvGraphicFramePr/>
          <p:nvPr/>
        </p:nvGraphicFramePr>
        <p:xfrm>
          <a:off xmlns:a="http://schemas.openxmlformats.org/drawingml/2006/main" x="609600" y="4476750"/>
          <a:ext xmlns:a="http://schemas.openxmlformats.org/drawingml/2006/main" cx="10972800" cy="952500"/>
        </p:xfrm>
        <a:graphic xmlns:a="http://schemas.openxmlformats.org/drawingml/2006/main">
          <a:graphicData uri="http://schemas.openxmlformats.org/drawingml/2006/table">
            <a:tbl>
              <a:tblPr/>
              <a:tblGrid>
                <a:gridCol w="2571750"/>
                <a:gridCol w="2686050"/>
                <a:gridCol w="3067050"/>
                <a:gridCol w="2647950"/>
              </a:tblGrid>
              <a:tr h="317500">
                <a:tc>
                  <a:txBody>
                    <a:bodyPr/>
                    <a:lstStyle/>
                    <a:p>
                      <a:r>
                        <a:rPr sz="1500" b="1">
                          <a:solidFill>
                            <a:srgbClr val="4CC9F0"/>
                          </a:solidFill>
                        </a:rPr>
                        <a:t>Queue size k</a:t>
                      </a:r>
                    </a:p>
                  </a:txBody>
                  <a:tcPr marL="114300" marR="95250" marT="57150" marB="57150" anchor="ctr">
                    <a:lnL w="9525">
                      <a:solidFill>
                        <a:srgbClr val="294158"/>
                      </a:solidFill>
                      <a:prstDash val="solid"/>
                    </a:lnL>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00" b="1">
                          <a:solidFill>
                            <a:srgbClr val="4CC9F0"/>
                          </a:solidFill>
                        </a:rPr>
                        <a:t>Precision@k</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00" b="1">
                          <a:solidFill>
                            <a:srgbClr val="4CC9F0"/>
                          </a:solidFill>
                        </a:rPr>
                        <a:t>Lift over random</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00" b="1">
                          <a:solidFill>
                            <a:srgbClr val="4CC9F0"/>
                          </a:solidFill>
                        </a:rPr>
                        <a:t>NDCG@k</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r>
              <a:tr h="317500">
                <a:tc>
                  <a:txBody>
                    <a:bodyPr/>
                    <a:lstStyle/>
                    <a:p>
                      <a:r>
                        <a:rPr sz="1500" b="0">
                          <a:solidFill>
                            <a:srgbClr val="F0F6FC"/>
                          </a:solidFill>
                        </a:rPr>
                        <a:t>10</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0.100</a:t>
                      </a:r>
                    </a:p>
                  </a:txBody>
                  <a:tcPr marL="114300" marR="95250" marT="57150" marB="57150" anchor="ctr">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9.94×</a:t>
                      </a:r>
                    </a:p>
                  </a:txBody>
                  <a:tcPr marL="114300" marR="95250" marT="57150" marB="57150" anchor="ctr">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0.859</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317500">
                <a:tc>
                  <a:txBody>
                    <a:bodyPr/>
                    <a:lstStyle/>
                    <a:p>
                      <a:r>
                        <a:rPr sz="1500" b="0">
                          <a:solidFill>
                            <a:srgbClr val="F0F6FC"/>
                          </a:solidFill>
                        </a:rPr>
                        <a:t>99</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500" b="0">
                          <a:solidFill>
                            <a:srgbClr val="F0F6FC"/>
                          </a:solidFill>
                        </a:rPr>
                        <a:t>0.485</a:t>
                      </a:r>
                    </a:p>
                  </a:txBody>
                  <a:tcPr marL="114300" marR="95250" marT="57150" marB="57150" anchor="ctr">
                    <a:lnR w="9525">
                      <a:solidFill>
                        <a:srgbClr val="294158"/>
                      </a:solidFill>
                      <a:prstDash val="solid"/>
                    </a:lnR>
                    <a:lnB w="9525">
                      <a:solidFill>
                        <a:srgbClr val="294158"/>
                      </a:solidFill>
                      <a:prstDash val="solid"/>
                    </a:lnB>
                    <a:solidFill>
                      <a:srgbClr val="0B1220"/>
                    </a:solidFill>
                  </a:tcPr>
                </a:tc>
                <a:tc>
                  <a:txBody>
                    <a:bodyPr/>
                    <a:lstStyle/>
                    <a:p>
                      <a:r>
                        <a:rPr sz="1500" b="0">
                          <a:solidFill>
                            <a:srgbClr val="F0F6FC"/>
                          </a:solidFill>
                        </a:rPr>
                        <a:t>4.87×</a:t>
                      </a:r>
                    </a:p>
                  </a:txBody>
                  <a:tcPr marL="114300" marR="95250" marT="57150" marB="57150" anchor="ctr">
                    <a:lnR w="9525">
                      <a:solidFill>
                        <a:srgbClr val="294158"/>
                      </a:solidFill>
                      <a:prstDash val="solid"/>
                    </a:lnR>
                    <a:lnB w="9525">
                      <a:solidFill>
                        <a:srgbClr val="294158"/>
                      </a:solidFill>
                      <a:prstDash val="solid"/>
                    </a:lnB>
                    <a:solidFill>
                      <a:srgbClr val="0B1220"/>
                    </a:solidFill>
                  </a:tcPr>
                </a:tc>
                <a:tc>
                  <a:txBody>
                    <a:bodyPr/>
                    <a:lstStyle/>
                    <a:p>
                      <a:r>
                        <a:rPr sz="1500" b="0">
                          <a:solidFill>
                            <a:srgbClr val="F0F6FC"/>
                          </a:solidFill>
                        </a:rPr>
                        <a:t>0.898</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bl>
          </a:graphicData>
        </a:graphic>
      </p:graphicFrame>
      <p:sp>
        <p:nvSpPr>
          <p:cNvPr id="12" name="rule-101">
            <a:extLst xmlns:a="http://schemas.openxmlformats.org/drawingml/2006/main">
              <a:ext uri="{FF2B5EF4-FFF2-40B4-BE49-F238E27FC236}">
                <a16:creationId xmlns:a16="http://schemas.microsoft.com/office/drawing/2014/main" id="{297ABB28-FE30-4E14-8A71-EC00CE50C2D3}"/>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13" name="text-102">
            <a:extLst xmlns:a="http://schemas.openxmlformats.org/drawingml/2006/main">
              <a:ext uri="{FF2B5EF4-FFF2-40B4-BE49-F238E27FC236}">
                <a16:creationId xmlns:a16="http://schemas.microsoft.com/office/drawing/2014/main" id="{1A4E2C9E-CE1D-49AE-BB0D-80BE335A453B}"/>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Staff can use the queue to decide which service areas need closer review.</a:t>
            </a:r>
          </a:p>
        </p:txBody>
      </p:sp>
      <p:sp>
        <p:nvSpPr>
          <p:cNvPr id="14" name="text-103">
            <a:extLst xmlns:a="http://schemas.openxmlformats.org/drawingml/2006/main">
              <a:ext uri="{FF2B5EF4-FFF2-40B4-BE49-F238E27FC236}">
                <a16:creationId xmlns:a16="http://schemas.microsoft.com/office/drawing/2014/main" id="{CE127772-5962-4102-96AD-BF2985310C6D}"/>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Residents see simple summaries, and both views protect personal information.</a:t>
            </a:r>
          </a:p>
        </p:txBody>
      </p:sp>
    </p:spTree>
    <p:extLst>
      <p:ext uri="{BB962C8B-B14F-4D97-AF65-F5344CB8AC3E}">
        <p14:creationId xmlns:p14="http://schemas.microsoft.com/office/powerpoint/2010/main" val="1704999510"/>
      </p:ext>
    </p:extLst>
  </p:cSld>
</p:sld>
</file>

<file path=ppt/slides/slide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4" name="text-104">
            <a:extLst xmlns:a="http://schemas.openxmlformats.org/drawingml/2006/main">
              <a:ext uri="{FF2B5EF4-FFF2-40B4-BE49-F238E27FC236}">
                <a16:creationId xmlns:a16="http://schemas.microsoft.com/office/drawing/2014/main" id="{3BC8E678-607E-44C5-A4DD-0C5FA031CCBD}"/>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6   Findings, limitations and next work   6 marks</a:t>
            </a:r>
          </a:p>
        </p:txBody>
      </p:sp>
      <p:sp>
        <p:nvSpPr>
          <p:cNvPr id="2" name="text-105">
            <a:extLst xmlns:a="http://schemas.openxmlformats.org/drawingml/2006/main">
              <a:ext uri="{FF2B5EF4-FFF2-40B4-BE49-F238E27FC236}">
                <a16:creationId xmlns:a16="http://schemas.microsoft.com/office/drawing/2014/main" id="{FA9BBF72-2A8F-4C41-A901-492F60080B73}"/>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Conclusion &amp; future enhancement</a:t>
            </a:r>
          </a:p>
        </p:txBody>
      </p:sp>
      <p:sp>
        <p:nvSpPr>
          <p:cNvPr id="3" name="rule-106">
            <a:extLst xmlns:a="http://schemas.openxmlformats.org/drawingml/2006/main">
              <a:ext uri="{FF2B5EF4-FFF2-40B4-BE49-F238E27FC236}">
                <a16:creationId xmlns:a16="http://schemas.microsoft.com/office/drawing/2014/main" id="{5B0BF853-B013-42BD-BFE1-84322320C286}"/>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107">
            <a:extLst xmlns:a="http://schemas.openxmlformats.org/drawingml/2006/main">
              <a:ext uri="{FF2B5EF4-FFF2-40B4-BE49-F238E27FC236}">
                <a16:creationId xmlns:a16="http://schemas.microsoft.com/office/drawing/2014/main" id="{1E478D46-2313-4B36-AB97-53A232518699}"/>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108">
            <a:extLst xmlns:a="http://schemas.openxmlformats.org/drawingml/2006/main">
              <a:ext uri="{FF2B5EF4-FFF2-40B4-BE49-F238E27FC236}">
                <a16:creationId xmlns:a16="http://schemas.microsoft.com/office/drawing/2014/main" id="{7D233715-E398-477D-8F90-38BC535E6840}"/>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09 / 10</a:t>
            </a:r>
          </a:p>
        </p:txBody>
      </p:sp>
      <p:sp>
        <p:nvSpPr>
          <p:cNvPr id="6" name="text-109">
            <a:extLst xmlns:a="http://schemas.openxmlformats.org/drawingml/2006/main">
              <a:ext uri="{FF2B5EF4-FFF2-40B4-BE49-F238E27FC236}">
                <a16:creationId xmlns:a16="http://schemas.microsoft.com/office/drawing/2014/main" id="{987E2E02-EB8C-4F7B-A06A-8DE17948B7DD}"/>
              </a:ext>
            </a:extLst>
          </p:cNvPr>
          <p:cNvSpPr>
            <a:spLocks xmlns:a="http://schemas.openxmlformats.org/drawingml/2006/main" noGrp="1"/>
          </p:cNvSpPr>
          <p:nvPr/>
        </p:nvSpPr>
        <p:spPr>
          <a:xfrm xmlns:a="http://schemas.openxmlformats.org/drawingml/2006/main">
            <a:off x="609600" y="1704975"/>
            <a:ext cx="109061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F0F6FC"/>
                </a:solidFill>
              </a:defRPr>
            </a:defPPr>
            <a:lvl1pPr>
              <a:defRPr sz="2400" b="1">
                <a:solidFill>
                  <a:srgbClr val="F0F6FC"/>
                </a:solidFill>
              </a:defRPr>
            </a:lvl1pPr>
            <a:lvl2pPr>
              <a:defRPr sz="2400" b="1">
                <a:solidFill>
                  <a:srgbClr val="F0F6FC"/>
                </a:solidFill>
              </a:defRPr>
            </a:lvl2pPr>
            <a:lvl3pPr>
              <a:defRPr sz="2400" b="1">
                <a:solidFill>
                  <a:srgbClr val="F0F6FC"/>
                </a:solidFill>
              </a:defRPr>
            </a:lvl3pPr>
            <a:lvl4pPr>
              <a:defRPr sz="2400" b="1">
                <a:solidFill>
                  <a:srgbClr val="F0F6FC"/>
                </a:solidFill>
              </a:defRPr>
            </a:lvl4pPr>
            <a:lvl5pPr>
              <a:defRPr sz="2400" b="1">
                <a:solidFill>
                  <a:srgbClr val="F0F6FC"/>
                </a:solidFill>
              </a:defRPr>
            </a:lvl5pPr>
            <a:lvl6pPr>
              <a:defRPr sz="2400" b="1">
                <a:solidFill>
                  <a:srgbClr val="F0F6FC"/>
                </a:solidFill>
              </a:defRPr>
            </a:lvl6pPr>
            <a:lvl7pPr>
              <a:defRPr sz="2400" b="1">
                <a:solidFill>
                  <a:srgbClr val="F0F6FC"/>
                </a:solidFill>
              </a:defRPr>
            </a:lvl7pPr>
            <a:lvl8pPr>
              <a:defRPr sz="2400" b="1">
                <a:solidFill>
                  <a:srgbClr val="F0F6FC"/>
                </a:solidFill>
              </a:defRPr>
            </a:lvl8pPr>
            <a:lvl9pPr>
              <a:defRPr sz="2400" b="1">
                <a:solidFill>
                  <a:srgbClr val="F0F6FC"/>
                </a:solidFill>
              </a:defRPr>
            </a:lvl9pPr>
          </a:lstStyle>
          <a:p xmlns:a="http://schemas.openxmlformats.org/drawingml/2006/main">
            <a:pPr>
              <a:defRPr sz="2400" b="1">
                <a:solidFill>
                  <a:srgbClr val="F0F6FC"/>
                </a:solidFill>
              </a:defRPr>
            </a:pPr>
            <a:r>
              <a:rPr sz="2400" b="1">
                <a:solidFill>
                  <a:srgbClr val="F0F6FC"/>
                </a:solidFill>
              </a:rPr>
              <a:t>Language and satisfaction features did not consistently improve</a:t>
            </a:r>
          </a:p>
          <a:p xmlns:a="http://schemas.openxmlformats.org/drawingml/2006/main">
            <a:pPr>
              <a:defRPr sz="2400" b="1">
                <a:solidFill>
                  <a:srgbClr val="F0F6FC"/>
                </a:solidFill>
              </a:defRPr>
            </a:pPr>
            <a:r>
              <a:rPr sz="2400" b="1">
                <a:solidFill>
                  <a:srgbClr val="F0F6FC"/>
                </a:solidFill>
              </a:rPr>
              <a:t>one-month-ahead prediction over the strongest temporal baseline.</a:t>
            </a:r>
          </a:p>
        </p:txBody>
      </p:sp>
      <p:sp>
        <p:nvSpPr>
          <p:cNvPr id="7" name="text-110">
            <a:extLst xmlns:a="http://schemas.openxmlformats.org/drawingml/2006/main">
              <a:ext uri="{FF2B5EF4-FFF2-40B4-BE49-F238E27FC236}">
                <a16:creationId xmlns:a16="http://schemas.microsoft.com/office/drawing/2014/main" id="{F7AF5BD1-F707-41AC-94B0-697386D57246}"/>
              </a:ext>
            </a:extLst>
          </p:cNvPr>
          <p:cNvSpPr>
            <a:spLocks xmlns:a="http://schemas.openxmlformats.org/drawingml/2006/main" noGrp="1"/>
          </p:cNvSpPr>
          <p:nvPr/>
        </p:nvSpPr>
        <p:spPr>
          <a:xfrm xmlns:a="http://schemas.openxmlformats.org/drawingml/2006/main">
            <a:off x="609600" y="2886075"/>
            <a:ext cx="5286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B8C7D6"/>
                </a:solidFill>
              </a:defRPr>
            </a:defPPr>
            <a:lvl1pPr>
              <a:defRPr sz="2025" b="1">
                <a:solidFill>
                  <a:srgbClr val="B8C7D6"/>
                </a:solidFill>
              </a:defRPr>
            </a:lvl1pPr>
            <a:lvl2pPr>
              <a:defRPr sz="2025" b="1">
                <a:solidFill>
                  <a:srgbClr val="B8C7D6"/>
                </a:solidFill>
              </a:defRPr>
            </a:lvl2pPr>
            <a:lvl3pPr>
              <a:defRPr sz="2025" b="1">
                <a:solidFill>
                  <a:srgbClr val="B8C7D6"/>
                </a:solidFill>
              </a:defRPr>
            </a:lvl3pPr>
            <a:lvl4pPr>
              <a:defRPr sz="2025" b="1">
                <a:solidFill>
                  <a:srgbClr val="B8C7D6"/>
                </a:solidFill>
              </a:defRPr>
            </a:lvl4pPr>
            <a:lvl5pPr>
              <a:defRPr sz="2025" b="1">
                <a:solidFill>
                  <a:srgbClr val="B8C7D6"/>
                </a:solidFill>
              </a:defRPr>
            </a:lvl5pPr>
            <a:lvl6pPr>
              <a:defRPr sz="2025" b="1">
                <a:solidFill>
                  <a:srgbClr val="B8C7D6"/>
                </a:solidFill>
              </a:defRPr>
            </a:lvl6pPr>
            <a:lvl7pPr>
              <a:defRPr sz="2025" b="1">
                <a:solidFill>
                  <a:srgbClr val="B8C7D6"/>
                </a:solidFill>
              </a:defRPr>
            </a:lvl7pPr>
            <a:lvl8pPr>
              <a:defRPr sz="2025" b="1">
                <a:solidFill>
                  <a:srgbClr val="B8C7D6"/>
                </a:solidFill>
              </a:defRPr>
            </a:lvl8pPr>
            <a:lvl9pPr>
              <a:defRPr sz="2025" b="1">
                <a:solidFill>
                  <a:srgbClr val="B8C7D6"/>
                </a:solidFill>
              </a:defRPr>
            </a:lvl9pPr>
          </a:lstStyle>
          <a:p xmlns:a="http://schemas.openxmlformats.org/drawingml/2006/main">
            <a:pPr>
              <a:defRPr sz="2025" b="1">
                <a:solidFill>
                  <a:srgbClr val="B8C7D6"/>
                </a:solidFill>
              </a:defRPr>
            </a:pPr>
            <a:r>
              <a:rPr sz="2025" b="1">
                <a:solidFill>
                  <a:srgbClr val="B8C7D6"/>
                </a:solidFill>
              </a:rPr>
              <a:t>What limits the result</a:t>
            </a:r>
          </a:p>
        </p:txBody>
      </p:sp>
      <p:sp>
        <p:nvSpPr>
          <p:cNvPr id="8" name="text-111">
            <a:extLst xmlns:a="http://schemas.openxmlformats.org/drawingml/2006/main">
              <a:ext uri="{FF2B5EF4-FFF2-40B4-BE49-F238E27FC236}">
                <a16:creationId xmlns:a16="http://schemas.microsoft.com/office/drawing/2014/main" id="{FBB987D8-6B30-41A5-BDB3-DC31284230E9}"/>
              </a:ext>
            </a:extLst>
          </p:cNvPr>
          <p:cNvSpPr>
            <a:spLocks xmlns:a="http://schemas.openxmlformats.org/drawingml/2006/main" noGrp="1"/>
          </p:cNvSpPr>
          <p:nvPr/>
        </p:nvSpPr>
        <p:spPr>
          <a:xfrm xmlns:a="http://schemas.openxmlformats.org/drawingml/2006/main">
            <a:off x="609600" y="3343275"/>
            <a:ext cx="52863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B8C7D6"/>
                </a:solidFill>
              </a:defRPr>
            </a:defPPr>
            <a:lvl1pPr>
              <a:defRPr sz="1875" b="0">
                <a:solidFill>
                  <a:srgbClr val="B8C7D6"/>
                </a:solidFill>
              </a:defRPr>
            </a:lvl1pPr>
            <a:lvl2pPr>
              <a:defRPr sz="1875" b="0">
                <a:solidFill>
                  <a:srgbClr val="B8C7D6"/>
                </a:solidFill>
              </a:defRPr>
            </a:lvl2pPr>
            <a:lvl3pPr>
              <a:defRPr sz="1875" b="0">
                <a:solidFill>
                  <a:srgbClr val="B8C7D6"/>
                </a:solidFill>
              </a:defRPr>
            </a:lvl3pPr>
            <a:lvl4pPr>
              <a:defRPr sz="1875" b="0">
                <a:solidFill>
                  <a:srgbClr val="B8C7D6"/>
                </a:solidFill>
              </a:defRPr>
            </a:lvl4pPr>
            <a:lvl5pPr>
              <a:defRPr sz="1875" b="0">
                <a:solidFill>
                  <a:srgbClr val="B8C7D6"/>
                </a:solidFill>
              </a:defRPr>
            </a:lvl5pPr>
            <a:lvl6pPr>
              <a:defRPr sz="1875" b="0">
                <a:solidFill>
                  <a:srgbClr val="B8C7D6"/>
                </a:solidFill>
              </a:defRPr>
            </a:lvl6pPr>
            <a:lvl7pPr>
              <a:defRPr sz="1875" b="0">
                <a:solidFill>
                  <a:srgbClr val="B8C7D6"/>
                </a:solidFill>
              </a:defRPr>
            </a:lvl7pPr>
            <a:lvl8pPr>
              <a:defRPr sz="1875" b="0">
                <a:solidFill>
                  <a:srgbClr val="B8C7D6"/>
                </a:solidFill>
              </a:defRPr>
            </a:lvl8pPr>
            <a:lvl9pPr>
              <a:defRPr sz="1875" b="0">
                <a:solidFill>
                  <a:srgbClr val="B8C7D6"/>
                </a:solidFill>
              </a:defRPr>
            </a:lvl9pPr>
          </a:lstStyle>
          <a:p xmlns:a="http://schemas.openxmlformats.org/drawingml/2006/main">
            <a:pPr>
              <a:defRPr sz="1875" b="0">
                <a:solidFill>
                  <a:srgbClr val="B8C7D6"/>
                </a:solidFill>
              </a:defRPr>
            </a:pPr>
            <a:r>
              <a:rPr sz="1875" b="0">
                <a:solidFill>
                  <a:srgbClr val="B8C7D6"/>
                </a:solidFill>
              </a:rPr>
              <a:t>Agency descriptions provide little citizen voice.</a:t>
            </a:r>
          </a:p>
          <a:p xmlns:a="http://schemas.openxmlformats.org/drawingml/2006/main">
            <a:pPr>
              <a:defRPr sz="1875" b="0">
                <a:solidFill>
                  <a:srgbClr val="B8C7D6"/>
                </a:solidFill>
              </a:defRPr>
            </a:pPr>
            <a:r>
              <a:rPr sz="1875" b="0">
                <a:solidFill>
                  <a:srgbClr val="B8C7D6"/>
                </a:solidFill>
              </a:rPr>
              <a:t>ABSA performance remains weak.</a:t>
            </a:r>
          </a:p>
          <a:p xmlns:a="http://schemas.openxmlformats.org/drawingml/2006/main">
            <a:pPr>
              <a:defRPr sz="1875" b="0">
                <a:solidFill>
                  <a:srgbClr val="B8C7D6"/>
                </a:solidFill>
              </a:defRPr>
            </a:pPr>
            <a:r>
              <a:rPr sz="1875" b="0">
                <a:solidFill>
                  <a:srgbClr val="B8C7D6"/>
                </a:solidFill>
              </a:rPr>
              <a:t>Address repeats may reflect reporting patterns.</a:t>
            </a:r>
          </a:p>
          <a:p xmlns:a="http://schemas.openxmlformats.org/drawingml/2006/main">
            <a:pPr>
              <a:defRPr sz="1875" b="0">
                <a:solidFill>
                  <a:srgbClr val="B8C7D6"/>
                </a:solidFill>
              </a:defRPr>
            </a:pPr>
            <a:r>
              <a:rPr sz="1875" b="0">
                <a:solidFill>
                  <a:srgbClr val="B8C7D6"/>
                </a:solidFill>
              </a:rPr>
              <a:t>The forecast study covers one city and one test year.</a:t>
            </a:r>
          </a:p>
        </p:txBody>
      </p:sp>
      <p:sp>
        <p:nvSpPr>
          <p:cNvPr id="9" name="text-112">
            <a:extLst xmlns:a="http://schemas.openxmlformats.org/drawingml/2006/main">
              <a:ext uri="{FF2B5EF4-FFF2-40B4-BE49-F238E27FC236}">
                <a16:creationId xmlns:a16="http://schemas.microsoft.com/office/drawing/2014/main" id="{4F1DF941-6D6E-4E31-AF9A-AE6DA0133E23}"/>
              </a:ext>
            </a:extLst>
          </p:cNvPr>
          <p:cNvSpPr>
            <a:spLocks xmlns:a="http://schemas.openxmlformats.org/drawingml/2006/main" noGrp="1"/>
          </p:cNvSpPr>
          <p:nvPr/>
        </p:nvSpPr>
        <p:spPr>
          <a:xfrm xmlns:a="http://schemas.openxmlformats.org/drawingml/2006/main">
            <a:off x="6305550" y="2886075"/>
            <a:ext cx="527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4CC9F0"/>
                </a:solidFill>
              </a:defRPr>
            </a:defPPr>
            <a:lvl1pPr>
              <a:defRPr sz="2025" b="1">
                <a:solidFill>
                  <a:srgbClr val="4CC9F0"/>
                </a:solidFill>
              </a:defRPr>
            </a:lvl1pPr>
            <a:lvl2pPr>
              <a:defRPr sz="2025" b="1">
                <a:solidFill>
                  <a:srgbClr val="4CC9F0"/>
                </a:solidFill>
              </a:defRPr>
            </a:lvl2pPr>
            <a:lvl3pPr>
              <a:defRPr sz="2025" b="1">
                <a:solidFill>
                  <a:srgbClr val="4CC9F0"/>
                </a:solidFill>
              </a:defRPr>
            </a:lvl3pPr>
            <a:lvl4pPr>
              <a:defRPr sz="2025" b="1">
                <a:solidFill>
                  <a:srgbClr val="4CC9F0"/>
                </a:solidFill>
              </a:defRPr>
            </a:lvl4pPr>
            <a:lvl5pPr>
              <a:defRPr sz="2025" b="1">
                <a:solidFill>
                  <a:srgbClr val="4CC9F0"/>
                </a:solidFill>
              </a:defRPr>
            </a:lvl5pPr>
            <a:lvl6pPr>
              <a:defRPr sz="2025" b="1">
                <a:solidFill>
                  <a:srgbClr val="4CC9F0"/>
                </a:solidFill>
              </a:defRPr>
            </a:lvl6pPr>
            <a:lvl7pPr>
              <a:defRPr sz="2025" b="1">
                <a:solidFill>
                  <a:srgbClr val="4CC9F0"/>
                </a:solidFill>
              </a:defRPr>
            </a:lvl7pPr>
            <a:lvl8pPr>
              <a:defRPr sz="2025" b="1">
                <a:solidFill>
                  <a:srgbClr val="4CC9F0"/>
                </a:solidFill>
              </a:defRPr>
            </a:lvl8pPr>
            <a:lvl9pPr>
              <a:defRPr sz="2025" b="1">
                <a:solidFill>
                  <a:srgbClr val="4CC9F0"/>
                </a:solidFill>
              </a:defRPr>
            </a:lvl9pPr>
          </a:lstStyle>
          <a:p xmlns:a="http://schemas.openxmlformats.org/drawingml/2006/main">
            <a:pPr>
              <a:defRPr sz="2025" b="1">
                <a:solidFill>
                  <a:srgbClr val="4CC9F0"/>
                </a:solidFill>
              </a:defRPr>
            </a:pPr>
            <a:r>
              <a:rPr sz="2025" b="1">
                <a:solidFill>
                  <a:srgbClr val="4CC9F0"/>
                </a:solidFill>
              </a:rPr>
              <a:t>Specific next steps</a:t>
            </a:r>
          </a:p>
        </p:txBody>
      </p:sp>
      <p:sp>
        <p:nvSpPr>
          <p:cNvPr id="10" name="text-113">
            <a:extLst xmlns:a="http://schemas.openxmlformats.org/drawingml/2006/main">
              <a:ext uri="{FF2B5EF4-FFF2-40B4-BE49-F238E27FC236}">
                <a16:creationId xmlns:a16="http://schemas.microsoft.com/office/drawing/2014/main" id="{128D8A98-35FF-444A-949C-9DD150FD5CC9}"/>
              </a:ext>
            </a:extLst>
          </p:cNvPr>
          <p:cNvSpPr>
            <a:spLocks xmlns:a="http://schemas.openxmlformats.org/drawingml/2006/main" noGrp="1"/>
          </p:cNvSpPr>
          <p:nvPr/>
        </p:nvSpPr>
        <p:spPr>
          <a:xfrm xmlns:a="http://schemas.openxmlformats.org/drawingml/2006/main">
            <a:off x="6305550" y="3343275"/>
            <a:ext cx="52768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B8C7D6"/>
                </a:solidFill>
              </a:defRPr>
            </a:defPPr>
            <a:lvl1pPr>
              <a:defRPr sz="1875" b="0">
                <a:solidFill>
                  <a:srgbClr val="B8C7D6"/>
                </a:solidFill>
              </a:defRPr>
            </a:lvl1pPr>
            <a:lvl2pPr>
              <a:defRPr sz="1875" b="0">
                <a:solidFill>
                  <a:srgbClr val="B8C7D6"/>
                </a:solidFill>
              </a:defRPr>
            </a:lvl2pPr>
            <a:lvl3pPr>
              <a:defRPr sz="1875" b="0">
                <a:solidFill>
                  <a:srgbClr val="B8C7D6"/>
                </a:solidFill>
              </a:defRPr>
            </a:lvl3pPr>
            <a:lvl4pPr>
              <a:defRPr sz="1875" b="0">
                <a:solidFill>
                  <a:srgbClr val="B8C7D6"/>
                </a:solidFill>
              </a:defRPr>
            </a:lvl4pPr>
            <a:lvl5pPr>
              <a:defRPr sz="1875" b="0">
                <a:solidFill>
                  <a:srgbClr val="B8C7D6"/>
                </a:solidFill>
              </a:defRPr>
            </a:lvl5pPr>
            <a:lvl6pPr>
              <a:defRPr sz="1875" b="0">
                <a:solidFill>
                  <a:srgbClr val="B8C7D6"/>
                </a:solidFill>
              </a:defRPr>
            </a:lvl6pPr>
            <a:lvl7pPr>
              <a:defRPr sz="1875" b="0">
                <a:solidFill>
                  <a:srgbClr val="B8C7D6"/>
                </a:solidFill>
              </a:defRPr>
            </a:lvl7pPr>
            <a:lvl8pPr>
              <a:defRPr sz="1875" b="0">
                <a:solidFill>
                  <a:srgbClr val="B8C7D6"/>
                </a:solidFill>
              </a:defRPr>
            </a:lvl8pPr>
            <a:lvl9pPr>
              <a:defRPr sz="1875" b="0">
                <a:solidFill>
                  <a:srgbClr val="B8C7D6"/>
                </a:solidFill>
              </a:defRPr>
            </a:lvl9pPr>
          </a:lstStyle>
          <a:p xmlns:a="http://schemas.openxmlformats.org/drawingml/2006/main">
            <a:pPr>
              <a:defRPr sz="1875" b="0">
                <a:solidFill>
                  <a:srgbClr val="B8C7D6"/>
                </a:solidFill>
              </a:defRPr>
            </a:pPr>
            <a:r>
              <a:rPr sz="1875" b="0">
                <a:solidFill>
                  <a:srgbClr val="B8C7D6"/>
                </a:solidFill>
              </a:rPr>
              <a:t>Annotate genuine citizen-written complaints.</a:t>
            </a:r>
          </a:p>
          <a:p xmlns:a="http://schemas.openxmlformats.org/drawingml/2006/main">
            <a:pPr>
              <a:defRPr sz="1875" b="0">
                <a:solidFill>
                  <a:srgbClr val="B8C7D6"/>
                </a:solidFill>
              </a:defRPr>
            </a:pPr>
            <a:r>
              <a:rPr sz="1875" b="0">
                <a:solidFill>
                  <a:srgbClr val="B8C7D6"/>
                </a:solidFill>
              </a:rPr>
              <a:t>Test the pipeline in another city and later year.</a:t>
            </a:r>
          </a:p>
          <a:p xmlns:a="http://schemas.openxmlformats.org/drawingml/2006/main">
            <a:pPr>
              <a:defRPr sz="1875" b="0">
                <a:solidFill>
                  <a:srgbClr val="B8C7D6"/>
                </a:solidFill>
              </a:defRPr>
            </a:pPr>
            <a:r>
              <a:rPr sz="1875" b="0">
                <a:solidFill>
                  <a:srgbClr val="B8C7D6"/>
                </a:solidFill>
              </a:rPr>
              <a:t>Improve recurrence labels with incident evidence.</a:t>
            </a:r>
          </a:p>
          <a:p xmlns:a="http://schemas.openxmlformats.org/drawingml/2006/main">
            <a:pPr>
              <a:defRPr sz="1875" b="0">
                <a:solidFill>
                  <a:srgbClr val="B8C7D6"/>
                </a:solidFill>
              </a:defRPr>
            </a:pPr>
            <a:r>
              <a:rPr sz="1875" b="0">
                <a:solidFill>
                  <a:srgbClr val="B8C7D6"/>
                </a:solidFill>
              </a:rPr>
              <a:t>Measure full-pipeline latency and memory use.</a:t>
            </a:r>
          </a:p>
        </p:txBody>
      </p:sp>
      <p:sp>
        <p:nvSpPr>
          <p:cNvPr id="11" name="rule-114">
            <a:extLst xmlns:a="http://schemas.openxmlformats.org/drawingml/2006/main">
              <a:ext uri="{FF2B5EF4-FFF2-40B4-BE49-F238E27FC236}">
                <a16:creationId xmlns:a16="http://schemas.microsoft.com/office/drawing/2014/main" id="{E7701A44-7D3C-475C-BD23-9167E4194A24}"/>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12" name="text-115">
            <a:extLst xmlns:a="http://schemas.openxmlformats.org/drawingml/2006/main">
              <a:ext uri="{FF2B5EF4-FFF2-40B4-BE49-F238E27FC236}">
                <a16:creationId xmlns:a16="http://schemas.microsoft.com/office/drawing/2014/main" id="{149797BC-7C98-4CEE-A979-AFE4482EB662}"/>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The project delivers a complete pipeline and an honest result about NLP’s limits.</a:t>
            </a:r>
          </a:p>
        </p:txBody>
      </p:sp>
      <p:sp>
        <p:nvSpPr>
          <p:cNvPr id="13" name="text-116">
            <a:extLst xmlns:a="http://schemas.openxmlformats.org/drawingml/2006/main">
              <a:ext uri="{FF2B5EF4-FFF2-40B4-BE49-F238E27FC236}">
                <a16:creationId xmlns:a16="http://schemas.microsoft.com/office/drawing/2014/main" id="{1BCDD94A-F47D-4E18-A59F-FF0D2D355F2B}"/>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Future improvements should focus on better citizen text and wider validation.</a:t>
            </a:r>
          </a:p>
        </p:txBody>
      </p:sp>
    </p:spTree>
    <p:extLst>
      <p:ext uri="{BB962C8B-B14F-4D97-AF65-F5344CB8AC3E}">
        <p14:creationId xmlns:p14="http://schemas.microsoft.com/office/powerpoint/2010/main" val="223057020"/>
      </p:ext>
    </p:extLst>
  </p:cSld>
</p:sld>
</file>

<file path=ppt/slides/slide1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2" name="text-117">
            <a:extLst xmlns:a="http://schemas.openxmlformats.org/drawingml/2006/main">
              <a:ext uri="{FF2B5EF4-FFF2-40B4-BE49-F238E27FC236}">
                <a16:creationId xmlns:a16="http://schemas.microsoft.com/office/drawing/2014/main" id="{49373802-6F04-4DC7-B046-7BDA23B7D114}"/>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7   Manuscript and dissemination evidence   8 marks</a:t>
            </a:r>
          </a:p>
        </p:txBody>
      </p:sp>
      <p:sp>
        <p:nvSpPr>
          <p:cNvPr id="2" name="text-118">
            <a:extLst xmlns:a="http://schemas.openxmlformats.org/drawingml/2006/main">
              <a:ext uri="{FF2B5EF4-FFF2-40B4-BE49-F238E27FC236}">
                <a16:creationId xmlns:a16="http://schemas.microsoft.com/office/drawing/2014/main" id="{EC3BBC57-762D-401C-BCFD-F61F4E9BEE0B}"/>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Publication status: journal / conference</a:t>
            </a:r>
          </a:p>
        </p:txBody>
      </p:sp>
      <p:sp>
        <p:nvSpPr>
          <p:cNvPr id="3" name="rule-119">
            <a:extLst xmlns:a="http://schemas.openxmlformats.org/drawingml/2006/main">
              <a:ext uri="{FF2B5EF4-FFF2-40B4-BE49-F238E27FC236}">
                <a16:creationId xmlns:a16="http://schemas.microsoft.com/office/drawing/2014/main" id="{E36BD84E-C5FE-47ED-A596-56C70F1CB77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120">
            <a:extLst xmlns:a="http://schemas.openxmlformats.org/drawingml/2006/main">
              <a:ext uri="{FF2B5EF4-FFF2-40B4-BE49-F238E27FC236}">
                <a16:creationId xmlns:a16="http://schemas.microsoft.com/office/drawing/2014/main" id="{16EE9D01-C1AD-4780-9A7C-84B9B2047E44}"/>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121">
            <a:extLst xmlns:a="http://schemas.openxmlformats.org/drawingml/2006/main">
              <a:ext uri="{FF2B5EF4-FFF2-40B4-BE49-F238E27FC236}">
                <a16:creationId xmlns:a16="http://schemas.microsoft.com/office/drawing/2014/main" id="{A5B328DB-6DC9-4735-A8AD-B841A1CD4469}"/>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10 / 10</a:t>
            </a:r>
          </a:p>
        </p:txBody>
      </p:sp>
      <p:sp>
        <p:nvSpPr>
          <p:cNvPr id="6" name="text-122">
            <a:extLst xmlns:a="http://schemas.openxmlformats.org/drawingml/2006/main">
              <a:ext uri="{FF2B5EF4-FFF2-40B4-BE49-F238E27FC236}">
                <a16:creationId xmlns:a16="http://schemas.microsoft.com/office/drawing/2014/main" id="{388C0344-2175-4283-8342-F9CC933EB9CD}"/>
              </a:ext>
            </a:extLst>
          </p:cNvPr>
          <p:cNvSpPr>
            <a:spLocks xmlns:a="http://schemas.openxmlformats.org/drawingml/2006/main" noGrp="1"/>
          </p:cNvSpPr>
          <p:nvPr/>
        </p:nvSpPr>
        <p:spPr>
          <a:xfrm xmlns:a="http://schemas.openxmlformats.org/drawingml/2006/main">
            <a:off x="609600" y="1752600"/>
            <a:ext cx="10934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4CC9F0"/>
                </a:solidFill>
              </a:defRPr>
            </a:defPPr>
            <a:lvl1pPr>
              <a:defRPr sz="2625" b="1">
                <a:solidFill>
                  <a:srgbClr val="4CC9F0"/>
                </a:solidFill>
              </a:defRPr>
            </a:lvl1pPr>
            <a:lvl2pPr>
              <a:defRPr sz="2625" b="1">
                <a:solidFill>
                  <a:srgbClr val="4CC9F0"/>
                </a:solidFill>
              </a:defRPr>
            </a:lvl2pPr>
            <a:lvl3pPr>
              <a:defRPr sz="2625" b="1">
                <a:solidFill>
                  <a:srgbClr val="4CC9F0"/>
                </a:solidFill>
              </a:defRPr>
            </a:lvl3pPr>
            <a:lvl4pPr>
              <a:defRPr sz="2625" b="1">
                <a:solidFill>
                  <a:srgbClr val="4CC9F0"/>
                </a:solidFill>
              </a:defRPr>
            </a:lvl4pPr>
            <a:lvl5pPr>
              <a:defRPr sz="2625" b="1">
                <a:solidFill>
                  <a:srgbClr val="4CC9F0"/>
                </a:solidFill>
              </a:defRPr>
            </a:lvl5pPr>
            <a:lvl6pPr>
              <a:defRPr sz="2625" b="1">
                <a:solidFill>
                  <a:srgbClr val="4CC9F0"/>
                </a:solidFill>
              </a:defRPr>
            </a:lvl6pPr>
            <a:lvl7pPr>
              <a:defRPr sz="2625" b="1">
                <a:solidFill>
                  <a:srgbClr val="4CC9F0"/>
                </a:solidFill>
              </a:defRPr>
            </a:lvl7pPr>
            <a:lvl8pPr>
              <a:defRPr sz="2625" b="1">
                <a:solidFill>
                  <a:srgbClr val="4CC9F0"/>
                </a:solidFill>
              </a:defRPr>
            </a:lvl8pPr>
            <a:lvl9pPr>
              <a:defRPr sz="2625" b="1">
                <a:solidFill>
                  <a:srgbClr val="4CC9F0"/>
                </a:solidFill>
              </a:defRPr>
            </a:lvl9pPr>
          </a:lstStyle>
          <a:p xmlns:a="http://schemas.openxmlformats.org/drawingml/2006/main">
            <a:pPr>
              <a:defRPr sz="2625" b="1">
                <a:solidFill>
                  <a:srgbClr val="4CC9F0"/>
                </a:solidFill>
              </a:defRPr>
            </a:pPr>
            <a:r>
              <a:rPr sz="2625" b="1">
                <a:solidFill>
                  <a:srgbClr val="4CC9F0"/>
                </a:solidFill>
              </a:rPr>
              <a:t>Complete manuscript in the journal template</a:t>
            </a:r>
          </a:p>
        </p:txBody>
      </p:sp>
      <p:sp>
        <p:nvSpPr>
          <p:cNvPr id="7" name="text-123">
            <a:extLst xmlns:a="http://schemas.openxmlformats.org/drawingml/2006/main">
              <a:ext uri="{FF2B5EF4-FFF2-40B4-BE49-F238E27FC236}">
                <a16:creationId xmlns:a16="http://schemas.microsoft.com/office/drawing/2014/main" id="{58F4535E-E644-4D18-A527-115713647727}"/>
              </a:ext>
            </a:extLst>
          </p:cNvPr>
          <p:cNvSpPr>
            <a:spLocks xmlns:a="http://schemas.openxmlformats.org/drawingml/2006/main" noGrp="1"/>
          </p:cNvSpPr>
          <p:nvPr/>
        </p:nvSpPr>
        <p:spPr>
          <a:xfrm xmlns:a="http://schemas.openxmlformats.org/drawingml/2006/main">
            <a:off x="609600" y="2400300"/>
            <a:ext cx="109061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F0F6FC"/>
                </a:solidFill>
              </a:defRPr>
            </a:defPPr>
            <a:lvl1pPr>
              <a:defRPr sz="2100" b="1">
                <a:solidFill>
                  <a:srgbClr val="F0F6FC"/>
                </a:solidFill>
              </a:defRPr>
            </a:lvl1pPr>
            <a:lvl2pPr>
              <a:defRPr sz="2100" b="1">
                <a:solidFill>
                  <a:srgbClr val="F0F6FC"/>
                </a:solidFill>
              </a:defRPr>
            </a:lvl2pPr>
            <a:lvl3pPr>
              <a:defRPr sz="2100" b="1">
                <a:solidFill>
                  <a:srgbClr val="F0F6FC"/>
                </a:solidFill>
              </a:defRPr>
            </a:lvl3pPr>
            <a:lvl4pPr>
              <a:defRPr sz="2100" b="1">
                <a:solidFill>
                  <a:srgbClr val="F0F6FC"/>
                </a:solidFill>
              </a:defRPr>
            </a:lvl4pPr>
            <a:lvl5pPr>
              <a:defRPr sz="2100" b="1">
                <a:solidFill>
                  <a:srgbClr val="F0F6FC"/>
                </a:solidFill>
              </a:defRPr>
            </a:lvl5pPr>
            <a:lvl6pPr>
              <a:defRPr sz="2100" b="1">
                <a:solidFill>
                  <a:srgbClr val="F0F6FC"/>
                </a:solidFill>
              </a:defRPr>
            </a:lvl6pPr>
            <a:lvl7pPr>
              <a:defRPr sz="2100" b="1">
                <a:solidFill>
                  <a:srgbClr val="F0F6FC"/>
                </a:solidFill>
              </a:defRPr>
            </a:lvl7pPr>
            <a:lvl8pPr>
              <a:defRPr sz="2100" b="1">
                <a:solidFill>
                  <a:srgbClr val="F0F6FC"/>
                </a:solidFill>
              </a:defRPr>
            </a:lvl8pPr>
            <a:lvl9pPr>
              <a:defRPr sz="2100" b="1">
                <a:solidFill>
                  <a:srgbClr val="F0F6FC"/>
                </a:solidFill>
              </a:defRPr>
            </a:lvl9pPr>
          </a:lstStyle>
          <a:p xmlns:a="http://schemas.openxmlformats.org/drawingml/2006/main">
            <a:pPr>
              <a:defRPr sz="2100" b="1">
                <a:solidFill>
                  <a:srgbClr val="F0F6FC"/>
                </a:solidFill>
              </a:defRPr>
            </a:pPr>
            <a:r>
              <a:rPr sz="2100" b="1">
                <a:solidFill>
                  <a:srgbClr val="F0F6FC"/>
                </a:solidFill>
              </a:rPr>
              <a:t>Do Language and Satisfaction Signals Improve One-Month-Ahead</a:t>
            </a:r>
          </a:p>
          <a:p xmlns:a="http://schemas.openxmlformats.org/drawingml/2006/main">
            <a:pPr>
              <a:defRPr sz="2100" b="1">
                <a:solidFill>
                  <a:srgbClr val="F0F6FC"/>
                </a:solidFill>
              </a:defRPr>
            </a:pPr>
            <a:r>
              <a:rPr sz="2100" b="1">
                <a:solidFill>
                  <a:srgbClr val="F0F6FC"/>
                </a:solidFill>
              </a:rPr>
              <a:t>Prediction of Municipal Service Delays and Repeat Requests?</a:t>
            </a:r>
          </a:p>
          <a:p xmlns:a="http://schemas.openxmlformats.org/drawingml/2006/main">
            <a:pPr>
              <a:defRPr sz="2100" b="1">
                <a:solidFill>
                  <a:srgbClr val="F0F6FC"/>
                </a:solidFill>
              </a:defRPr>
            </a:pPr>
            <a:r>
              <a:rPr sz="2100" b="1">
                <a:solidFill>
                  <a:srgbClr val="F0F6FC"/>
                </a:solidFill>
              </a:rPr>
              <a:t>Evidence from NYC 311</a:t>
            </a:r>
          </a:p>
        </p:txBody>
      </p:sp>
      <p:graphicFrame>
        <p:nvGraphicFramePr>
          <p:cNvPr id="8" name="">
            <a:extLst xmlns:a="http://schemas.openxmlformats.org/drawingml/2006/main">
              <a:ext uri="{FF2B5EF4-FFF2-40B4-BE49-F238E27FC236}">
                <a16:creationId xmlns:a16="http://schemas.microsoft.com/office/drawing/2014/main" id="{59E64979-ABBE-4385-935F-51A263096B6B}"/>
              </a:ext>
            </a:extLst>
          </p:cNvPr>
          <p:cNvGraphicFramePr/>
          <p:nvPr/>
        </p:nvGraphicFramePr>
        <p:xfrm>
          <a:off xmlns:a="http://schemas.openxmlformats.org/drawingml/2006/main" x="609600" y="3762375"/>
          <a:ext xmlns:a="http://schemas.openxmlformats.org/drawingml/2006/main" cx="10972800" cy="1600200"/>
        </p:xfrm>
        <a:graphic xmlns:a="http://schemas.openxmlformats.org/drawingml/2006/main">
          <a:graphicData uri="http://schemas.openxmlformats.org/drawingml/2006/table">
            <a:tbl>
              <a:tblPr/>
              <a:tblGrid>
                <a:gridCol w="5619750"/>
                <a:gridCol w="5353050"/>
              </a:tblGrid>
              <a:tr h="400050">
                <a:tc>
                  <a:txBody>
                    <a:bodyPr/>
                    <a:lstStyle/>
                    <a:p>
                      <a:r>
                        <a:rPr sz="1575" b="1">
                          <a:solidFill>
                            <a:srgbClr val="4CC9F0"/>
                          </a:solidFill>
                        </a:rPr>
                        <a:t>Available now</a:t>
                      </a:r>
                    </a:p>
                  </a:txBody>
                  <a:tcPr marL="114300" marR="95250" marT="57150" marB="57150" anchor="ctr">
                    <a:lnL w="9525">
                      <a:solidFill>
                        <a:srgbClr val="294158"/>
                      </a:solidFill>
                      <a:prstDash val="solid"/>
                    </a:lnL>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75" b="1">
                          <a:solidFill>
                            <a:srgbClr val="4CC9F0"/>
                          </a:solidFill>
                        </a:rPr>
                        <a:t>Pending author action</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r>
              <a:tr h="400050">
                <a:tc>
                  <a:txBody>
                    <a:bodyPr/>
                    <a:lstStyle/>
                    <a:p>
                      <a:r>
                        <a:rPr sz="1575" b="0">
                          <a:solidFill>
                            <a:srgbClr val="F0F6FC"/>
                          </a:solidFill>
                        </a:rPr>
                        <a:t>Corrected manuscript and reference list</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75" b="0">
                          <a:solidFill>
                            <a:srgbClr val="F0F6FC"/>
                          </a:solidFill>
                        </a:rPr>
                        <a:t>Choose a venue and submit the manuscript</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400050">
                <a:tc>
                  <a:txBody>
                    <a:bodyPr/>
                    <a:lstStyle/>
                    <a:p>
                      <a:r>
                        <a:rPr sz="1575" b="0">
                          <a:solidFill>
                            <a:srgbClr val="F0F6FC"/>
                          </a:solidFill>
                        </a:rPr>
                        <a:t>Code, metrics and reproducibility archive</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575" b="0">
                          <a:solidFill>
                            <a:srgbClr val="F0F6FC"/>
                          </a:solidFill>
                        </a:rPr>
                        <a:t>Upload the archive and obtain a Zenodo DOI</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r h="400050">
                <a:tc>
                  <a:txBody>
                    <a:bodyPr/>
                    <a:lstStyle/>
                    <a:p>
                      <a:r>
                        <a:rPr sz="1575" b="0">
                          <a:solidFill>
                            <a:srgbClr val="F0F6FC"/>
                          </a:solidFill>
                        </a:rPr>
                        <a:t>Data-access and privacy statements</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75" b="0">
                          <a:solidFill>
                            <a:srgbClr val="F0F6FC"/>
                          </a:solidFill>
                        </a:rPr>
                        <a:t>Add submission ID or acceptance evidence when available</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bl>
          </a:graphicData>
        </a:graphic>
      </p:graphicFrame>
      <p:sp>
        <p:nvSpPr>
          <p:cNvPr id="9" name="rule-124">
            <a:extLst xmlns:a="http://schemas.openxmlformats.org/drawingml/2006/main">
              <a:ext uri="{FF2B5EF4-FFF2-40B4-BE49-F238E27FC236}">
                <a16:creationId xmlns:a16="http://schemas.microsoft.com/office/drawing/2014/main" id="{56255E29-4662-4F9D-8CE3-02D1957F77FB}"/>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10" name="text-125">
            <a:extLst xmlns:a="http://schemas.openxmlformats.org/drawingml/2006/main">
              <a:ext uri="{FF2B5EF4-FFF2-40B4-BE49-F238E27FC236}">
                <a16:creationId xmlns:a16="http://schemas.microsoft.com/office/drawing/2014/main" id="{04D76C3F-E917-407D-B410-90CC1E113B13}"/>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The paper and reproducibility archive are prepared.</a:t>
            </a:r>
          </a:p>
        </p:txBody>
      </p:sp>
      <p:sp>
        <p:nvSpPr>
          <p:cNvPr id="11" name="text-126">
            <a:extLst xmlns:a="http://schemas.openxmlformats.org/drawingml/2006/main">
              <a:ext uri="{FF2B5EF4-FFF2-40B4-BE49-F238E27FC236}">
                <a16:creationId xmlns:a16="http://schemas.microsoft.com/office/drawing/2014/main" id="{2E06FAD8-CB02-47B4-8E02-C7945A3DE721}"/>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Journal submission and the repository DOI are the remaining publication steps.</a:t>
            </a:r>
          </a:p>
        </p:txBody>
      </p:sp>
    </p:spTree>
    <p:extLst>
      <p:ext uri="{BB962C8B-B14F-4D97-AF65-F5344CB8AC3E}">
        <p14:creationId xmlns:p14="http://schemas.microsoft.com/office/powerpoint/2010/main" val="4640117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2026-10-26T19:43:15.2590000Z</dcterms:created>
  <dcterms:modified xsi:type="dcterms:W3CDTF">2026-10-26T19:43:15.2600000Z</dcterms:modified>
</coreProperties>
</file>