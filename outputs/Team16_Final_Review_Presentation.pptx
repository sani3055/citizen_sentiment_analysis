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 type="screen16x9"/>
  <p:notesSz cx="6858000" cy="9144000"/>
  <p:embeddedFontLst/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/>
</file>

<file path=ppt/viewProps.xml><?xml version="1.0" encoding="utf-8"?>
<p:viewPr xmlns:p="http://schemas.openxmlformats.org/presentationml/2006/main"/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theme" Target="theme/theme1.xml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ableStyles" Target="tableStyles.xml" /><ns0:Relationship Id="rId6" Type="http://schemas.openxmlformats.org/officeDocument/2006/relationships/slide" Target="slides/slide1.xml" /><ns0:Relationship Id="rId7" Type="http://schemas.openxmlformats.org/officeDocument/2006/relationships/slide" Target="slides/slide2.xml" /><ns0:Relationship Id="rId8" Type="http://schemas.openxmlformats.org/officeDocument/2006/relationships/slide" Target="slides/slide3.xml" /><ns0:Relationship Id="rId9" Type="http://schemas.openxmlformats.org/officeDocument/2006/relationships/slide" Target="slides/slide4.xml" /><ns0:Relationship Id="rId10" Type="http://schemas.openxmlformats.org/officeDocument/2006/relationships/slide" Target="slides/slide5.xml" /><ns0:Relationship Id="rId11" Type="http://schemas.openxmlformats.org/officeDocument/2006/relationships/slide" Target="slides/slide6.xml" /><ns0:Relationship Id="rId12" Type="http://schemas.openxmlformats.org/officeDocument/2006/relationships/slide" Target="slides/slide7.xml" /><ns0:Relationship Id="rId13" Type="http://schemas.openxmlformats.org/officeDocument/2006/relationships/slide" Target="slides/slide8.xml" /><ns0:Relationship Id="rId14" Type="http://schemas.openxmlformats.org/officeDocument/2006/relationships/slide" Target="slides/slide9.xml" /><ns0:Relationship Id="rId15" Type="http://schemas.openxmlformats.org/officeDocument/2006/relationships/slide" Target="slides/slide10.xml" /></ns0:Relationships>
</file>

<file path=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/ns0:Relationships>
</file>

<file path=ppt/slideMasters/slideMaster1.xml><?xml version="1.0" encoding="utf-8"?>
<p:sldMaster xmlns:p="http://schemas.openxmlformats.org/presentationml/2006/main" xmlns:r="http://schemas.openxmlformats.org/officeDocument/2006/relationships" preserve="1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2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3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_3_cell_coverage_heatmap.png" /></ns0:Relationships>
</file>

<file path=ppt/slides/_rels/slide4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5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_5_absa_per_aspect_f1.png" /></ns0:Relationships>
</file>

<file path=ppt/slides/_rels/slide6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7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8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image" Target="../media/image_8_robustness_delta_r2.png" /></ns0:Relationships>
</file>

<file path=ppt/slides/_rels/slide9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_rels/slide10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/ns0:Relationships>
</file>

<file path=ppt/slides/slide1.xml><?xml version="1.0" encoding="utf-8"?>
<p:sld xmlns:a="http://schemas.openxmlformats.org/drawingml/2006/main" xmlns:p="http://schemas.openxmlformats.org/presentationml/2006/main" showMasterSp="0" showMasterPhAnim="0">
  <p:cSld>
    <p:spTree>
      <p:nvGrpSpPr>
        <p:cNvPr id="1" name=""/>
        <p:cNvGrpSpPr/>
        <p:nvPr/>
      </p:nvGrpSpPr>
      <p:grpSpPr/>
      <p:sp>
        <p:nvSpPr>
          <p:cNvPr id="11" name="Shape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</a:ln>
        </p:spPr>
      </p:sp>
      <p:sp>
        <p:nvSpPr>
          <p:cNvPr id="12" name="Shape"/>
          <p:cNvSpPr txBox="0"/>
          <p:nvPr/>
        </p:nvSpPr>
        <p:spPr>
          <a:xfrm>
            <a:off x="685800" y="711200"/>
            <a:ext cx="101600" cy="3911600"/>
          </a:xfrm>
          <a:prstGeom prst="roundRect">
            <a:avLst/>
          </a:prstGeom>
          <a:solidFill>
            <a:srgbClr val="4DD7C5"/>
          </a:solidFill>
          <a:ln w="0"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1117600" y="762000"/>
            <a:ext cx="3302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200" b="1">
                <a:solidFill>
                  <a:srgbClr val="4DD7C5"/>
                </a:solidFill>
              </a:rPr>
              <a:t>FINAL REVIEW</a:t>
            </a:r>
            <a:endParaRPr lang="en-US" sz="1200"/>
          </a:p>
        </p:txBody>
      </p:sp>
      <p:sp>
        <p:nvSpPr>
          <p:cNvPr id="14" name="Text"/>
          <p:cNvSpPr txBox="1"/>
          <p:nvPr/>
        </p:nvSpPr>
        <p:spPr>
          <a:xfrm>
            <a:off x="1117600" y="1333500"/>
            <a:ext cx="9652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3400" b="1">
                <a:solidFill>
                  <a:srgbClr val="F4F7FB"/>
                </a:solidFill>
              </a:rPr>
              <a:t>Can language and satisfaction signals improve municipal prediction?</a:t>
            </a:r>
            <a:endParaRPr lang="en-US" sz="3400"/>
          </a:p>
        </p:txBody>
      </p:sp>
      <p:sp>
        <p:nvSpPr>
          <p:cNvPr id="15" name="Text"/>
          <p:cNvSpPr txBox="1"/>
          <p:nvPr/>
        </p:nvSpPr>
        <p:spPr>
          <a:xfrm>
            <a:off x="1117600" y="2997200"/>
            <a:ext cx="8763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800" b="0">
                <a:solidFill>
                  <a:srgbClr val="A9B8CB"/>
                </a:solidFill>
              </a:rPr>
              <a:t>Evidence from NYC 311 service requests and satisfaction surveys</a:t>
            </a:r>
            <a:endParaRPr lang="en-US" sz="1800"/>
          </a:p>
        </p:txBody>
      </p:sp>
      <p:sp>
        <p:nvSpPr>
          <p:cNvPr id="16" name="Shape"/>
          <p:cNvSpPr txBox="0"/>
          <p:nvPr/>
        </p:nvSpPr>
        <p:spPr>
          <a:xfrm>
            <a:off x="1117600" y="3708400"/>
            <a:ext cx="9804400" cy="12700"/>
          </a:xfrm>
          <a:prstGeom prst="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17" name="Text"/>
          <p:cNvSpPr txBox="1"/>
          <p:nvPr/>
        </p:nvSpPr>
        <p:spPr>
          <a:xfrm>
            <a:off x="1117600" y="4140200"/>
            <a:ext cx="8636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500" b="1">
                <a:solidFill>
                  <a:srgbClr val="F4F7FB"/>
                </a:solidFill>
              </a:rPr>
              <a:t>Taher Panbiharwala  |  Sanidhya Bhandari  |  Chinmoy Deb</a:t>
            </a:r>
            <a:endParaRPr lang="en-US" sz="1500"/>
          </a:p>
        </p:txBody>
      </p:sp>
      <p:sp>
        <p:nvSpPr>
          <p:cNvPr id="18" name="Text"/>
          <p:cNvSpPr txBox="1"/>
          <p:nvPr/>
        </p:nvSpPr>
        <p:spPr>
          <a:xfrm>
            <a:off x="1117600" y="4533900"/>
            <a:ext cx="9144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300" b="0">
                <a:solidFill>
                  <a:srgbClr val="A9B8CB"/>
                </a:solidFill>
              </a:rPr>
              <a:t>BCSE316L Design of Smart Cities  |  VIT Vellore  |  Guide: Dr. Kalaavathi B</a:t>
            </a:r>
            <a:endParaRPr lang="en-US" sz="1300"/>
          </a:p>
        </p:txBody>
      </p:sp>
      <p:sp>
        <p:nvSpPr>
          <p:cNvPr id="19" name="Text"/>
          <p:cNvSpPr txBox="1"/>
          <p:nvPr/>
        </p:nvSpPr>
        <p:spPr>
          <a:xfrm>
            <a:off x="1117600" y="5461000"/>
            <a:ext cx="2286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800" b="1">
                <a:solidFill>
                  <a:srgbClr val="FFBF69"/>
                </a:solidFill>
              </a:rPr>
              <a:t>Team 16</a:t>
            </a:r>
            <a:endParaRPr lang="en-US" sz="1800"/>
          </a:p>
        </p:txBody>
      </p:sp>
      <p:sp>
        <p:nvSpPr>
          <p:cNvPr id="20" name="Text"/>
          <p:cNvSpPr txBox="1"/>
          <p:nvPr/>
        </p:nvSpPr>
        <p:spPr>
          <a:xfrm>
            <a:off x="9144000" y="5969000"/>
            <a:ext cx="2540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r"/>
            <a:r>
              <a:rPr lang="en-US" sz="1100" b="0">
                <a:solidFill>
                  <a:srgbClr val="A9B8CB"/>
                </a:solidFill>
              </a:rPr>
              <a:t>10-slide speaking presentation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showMasterSp="0" showMasterPhAnim="0">
  <p:cSld>
    <p:spTree>
      <p:nvGrpSpPr>
        <p:cNvPr id="1" name=""/>
        <p:cNvGrpSpPr/>
        <p:nvPr/>
      </p:nvGrpSpPr>
      <p:grpSpPr/>
      <p:sp>
        <p:nvSpPr>
          <p:cNvPr id="11" name="Shape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</a:ln>
        </p:spPr>
      </p:sp>
      <p:sp>
        <p:nvSpPr>
          <p:cNvPr id="12" name="Shape"/>
          <p:cNvSpPr txBox="0"/>
          <p:nvPr/>
        </p:nvSpPr>
        <p:spPr>
          <a:xfrm>
            <a:off x="685800" y="406400"/>
            <a:ext cx="76200" cy="431800"/>
          </a:xfrm>
          <a:prstGeom prst="roundRect">
            <a:avLst/>
          </a:prstGeom>
          <a:solidFill>
            <a:srgbClr val="4DD7C5"/>
          </a:solidFill>
          <a:ln w="0"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965200" y="431800"/>
            <a:ext cx="317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000" b="1">
                <a:solidFill>
                  <a:srgbClr val="4DD7C5"/>
                </a:solidFill>
              </a:rPr>
              <a:t>01  PROBLEM</a:t>
            </a:r>
            <a:endParaRPr lang="en-US" sz="1000"/>
          </a:p>
        </p:txBody>
      </p:sp>
      <p:sp>
        <p:nvSpPr>
          <p:cNvPr id="14" name="Text"/>
          <p:cNvSpPr txBox="1"/>
          <p:nvPr/>
        </p:nvSpPr>
        <p:spPr>
          <a:xfrm>
            <a:off x="685800" y="787400"/>
            <a:ext cx="107950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700" b="1">
                <a:solidFill>
                  <a:srgbClr val="F4F7FB"/>
                </a:solidFill>
              </a:rPr>
              <a:t>Why this problem matters</a:t>
            </a:r>
            <a:endParaRPr lang="en-US" sz="2700"/>
          </a:p>
        </p:txBody>
      </p:sp>
      <p:sp>
        <p:nvSpPr>
          <p:cNvPr id="15" name="Shape"/>
          <p:cNvSpPr txBox="0"/>
          <p:nvPr/>
        </p:nvSpPr>
        <p:spPr>
          <a:xfrm>
            <a:off x="685800" y="1549400"/>
            <a:ext cx="10820400" cy="12700"/>
          </a:xfrm>
          <a:prstGeom prst="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685800" y="6502400"/>
            <a:ext cx="7874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900" b="0">
                <a:solidFill>
                  <a:srgbClr val="A9B8CB"/>
                </a:solidFill>
              </a:rPr>
              <a:t>Citizen Sentiment Analysis of Municipal Services  |  Team 16</a:t>
            </a:r>
            <a:endParaRPr lang="en-US" sz="900"/>
          </a:p>
        </p:txBody>
      </p:sp>
      <p:sp>
        <p:nvSpPr>
          <p:cNvPr id="17" name="Text"/>
          <p:cNvSpPr txBox="1"/>
          <p:nvPr/>
        </p:nvSpPr>
        <p:spPr>
          <a:xfrm>
            <a:off x="10668000" y="6502400"/>
            <a:ext cx="8382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r"/>
            <a:r>
              <a:rPr lang="en-US" sz="900" b="0">
                <a:solidFill>
                  <a:srgbClr val="A9B8CB"/>
                </a:solidFill>
              </a:rPr>
              <a:t>02 / 10</a:t>
            </a:r>
            <a:endParaRPr lang="en-US" sz="900"/>
          </a:p>
        </p:txBody>
      </p:sp>
      <p:sp>
        <p:nvSpPr>
          <p:cNvPr id="18" name="Shape"/>
          <p:cNvSpPr txBox="0"/>
          <p:nvPr/>
        </p:nvSpPr>
        <p:spPr>
          <a:xfrm>
            <a:off x="685800" y="2032000"/>
            <a:ext cx="3302000" cy="16764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19" name="Shape"/>
          <p:cNvSpPr txBox="0"/>
          <p:nvPr/>
        </p:nvSpPr>
        <p:spPr>
          <a:xfrm>
            <a:off x="685800" y="2032000"/>
            <a:ext cx="63500" cy="1676400"/>
          </a:xfrm>
          <a:prstGeom prst="roundRect">
            <a:avLst/>
          </a:prstGeom>
          <a:solidFill>
            <a:srgbClr val="FF6B6B"/>
          </a:solidFill>
          <a:ln w="0">
            <a:noFill/>
          </a:ln>
        </p:spPr>
      </p:sp>
      <p:sp>
        <p:nvSpPr>
          <p:cNvPr id="20" name="Text"/>
          <p:cNvSpPr txBox="1"/>
          <p:nvPr/>
        </p:nvSpPr>
        <p:spPr>
          <a:xfrm>
            <a:off x="914400" y="2235200"/>
            <a:ext cx="292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600" b="1">
                <a:solidFill>
                  <a:srgbClr val="F4F7FB"/>
                </a:solidFill>
              </a:rPr>
              <a:t>Closed does not mean solved</a:t>
            </a:r>
            <a:endParaRPr lang="en-US" sz="1600"/>
          </a:p>
        </p:txBody>
      </p:sp>
      <p:sp>
        <p:nvSpPr>
          <p:cNvPr id="21" name="Text"/>
          <p:cNvSpPr txBox="1"/>
          <p:nvPr/>
        </p:nvSpPr>
        <p:spPr>
          <a:xfrm>
            <a:off x="914400" y="2667000"/>
            <a:ext cx="2895600" cy="889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400" b="0">
                <a:solidFill>
                  <a:srgbClr val="A9B8CB"/>
                </a:solidFill>
              </a:rPr>
              <a:t>A ticket can be closed while the citizen still feels the problem was not solved.</a:t>
            </a:r>
            <a:endParaRPr lang="en-US" sz="1400"/>
          </a:p>
        </p:txBody>
      </p:sp>
      <p:sp>
        <p:nvSpPr>
          <p:cNvPr id="22" name="Shape"/>
          <p:cNvSpPr txBox="0"/>
          <p:nvPr/>
        </p:nvSpPr>
        <p:spPr>
          <a:xfrm>
            <a:off x="4445000" y="2032000"/>
            <a:ext cx="3302000" cy="16764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3" name="Shape"/>
          <p:cNvSpPr txBox="0"/>
          <p:nvPr/>
        </p:nvSpPr>
        <p:spPr>
          <a:xfrm>
            <a:off x="4445000" y="2032000"/>
            <a:ext cx="63500" cy="1676400"/>
          </a:xfrm>
          <a:prstGeom prst="roundRect">
            <a:avLst/>
          </a:prstGeom>
          <a:solidFill>
            <a:srgbClr val="FFBF69"/>
          </a:solidFill>
          <a:ln w="0">
            <a:noFill/>
          </a:ln>
        </p:spPr>
      </p:sp>
      <p:sp>
        <p:nvSpPr>
          <p:cNvPr id="24" name="Text"/>
          <p:cNvSpPr txBox="1"/>
          <p:nvPr/>
        </p:nvSpPr>
        <p:spPr>
          <a:xfrm>
            <a:off x="4673600" y="2235200"/>
            <a:ext cx="292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600" b="1">
                <a:solidFill>
                  <a:srgbClr val="F4F7FB"/>
                </a:solidFill>
              </a:rPr>
              <a:t>Traditional KPIs are incomplete</a:t>
            </a:r>
            <a:endParaRPr lang="en-US" sz="1600"/>
          </a:p>
        </p:txBody>
      </p:sp>
      <p:sp>
        <p:nvSpPr>
          <p:cNvPr id="25" name="Text"/>
          <p:cNvSpPr txBox="1"/>
          <p:nvPr/>
        </p:nvSpPr>
        <p:spPr>
          <a:xfrm>
            <a:off x="4673600" y="2667000"/>
            <a:ext cx="2895600" cy="889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400" b="0">
                <a:solidFill>
                  <a:srgbClr val="A9B8CB"/>
                </a:solidFill>
              </a:rPr>
              <a:t>Delay, volume and closure counts describe operations, but not citizen experience.</a:t>
            </a:r>
            <a:endParaRPr lang="en-US" sz="1400"/>
          </a:p>
        </p:txBody>
      </p:sp>
      <p:sp>
        <p:nvSpPr>
          <p:cNvPr id="26" name="Shape"/>
          <p:cNvSpPr txBox="0"/>
          <p:nvPr/>
        </p:nvSpPr>
        <p:spPr>
          <a:xfrm>
            <a:off x="8204200" y="2032000"/>
            <a:ext cx="3302000" cy="16764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7" name="Shape"/>
          <p:cNvSpPr txBox="0"/>
          <p:nvPr/>
        </p:nvSpPr>
        <p:spPr>
          <a:xfrm>
            <a:off x="8204200" y="2032000"/>
            <a:ext cx="63500" cy="1676400"/>
          </a:xfrm>
          <a:prstGeom prst="roundRect">
            <a:avLst/>
          </a:prstGeom>
          <a:solidFill>
            <a:srgbClr val="4DD7C5"/>
          </a:solidFill>
          <a:ln w="0">
            <a:noFill/>
          </a:ln>
        </p:spPr>
      </p:sp>
      <p:sp>
        <p:nvSpPr>
          <p:cNvPr id="28" name="Text"/>
          <p:cNvSpPr txBox="1"/>
          <p:nvPr/>
        </p:nvSpPr>
        <p:spPr>
          <a:xfrm>
            <a:off x="8432800" y="2235200"/>
            <a:ext cx="292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600" b="1">
                <a:solidFill>
                  <a:srgbClr val="F4F7FB"/>
                </a:solidFill>
              </a:rPr>
              <a:t>Our research question</a:t>
            </a:r>
            <a:endParaRPr lang="en-US" sz="1600"/>
          </a:p>
        </p:txBody>
      </p:sp>
      <p:sp>
        <p:nvSpPr>
          <p:cNvPr id="29" name="Text"/>
          <p:cNvSpPr txBox="1"/>
          <p:nvPr/>
        </p:nvSpPr>
        <p:spPr>
          <a:xfrm>
            <a:off x="8432800" y="2667000"/>
            <a:ext cx="2895600" cy="889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400" b="0">
                <a:solidFill>
                  <a:srgbClr val="A9B8CB"/>
                </a:solidFill>
              </a:rPr>
              <a:t>Do sentiment, topics, grievance aspects and satisfaction improve prediction of future service outcomes?</a:t>
            </a:r>
            <a:endParaRPr lang="en-US" sz="1400"/>
          </a:p>
        </p:txBody>
      </p:sp>
      <p:sp>
        <p:nvSpPr>
          <p:cNvPr id="30" name="Text"/>
          <p:cNvSpPr txBox="1"/>
          <p:nvPr/>
        </p:nvSpPr>
        <p:spPr>
          <a:xfrm>
            <a:off x="685800" y="4445000"/>
            <a:ext cx="2159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700" b="1">
                <a:solidFill>
                  <a:srgbClr val="F4F7FB"/>
                </a:solidFill>
              </a:rPr>
              <a:t>In simple words:</a:t>
            </a:r>
            <a:endParaRPr lang="en-US" sz="1700"/>
          </a:p>
        </p:txBody>
      </p:sp>
      <p:sp>
        <p:nvSpPr>
          <p:cNvPr id="31" name="Text"/>
          <p:cNvSpPr txBox="1"/>
          <p:nvPr/>
        </p:nvSpPr>
        <p:spPr>
          <a:xfrm>
            <a:off x="685800" y="4902200"/>
            <a:ext cx="10033000" cy="635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100" b="0">
                <a:solidFill>
                  <a:srgbClr val="A9B8CB"/>
                </a:solidFill>
              </a:rPr>
              <a:t>We tested whether adding language-based signals gives municipalities useful information beyond normal operational data.</a:t>
            </a:r>
            <a:endParaRPr lang="en-US" sz="2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 showMasterPhAnim="0">
  <p:cSld>
    <p:spTree>
      <p:nvGrpSpPr>
        <p:cNvPr id="1" name=""/>
        <p:cNvGrpSpPr/>
        <p:nvPr/>
      </p:nvGrpSpPr>
      <p:grpSpPr/>
      <p:sp>
        <p:nvSpPr>
          <p:cNvPr id="11" name="Shape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</a:ln>
        </p:spPr>
      </p:sp>
      <p:sp>
        <p:nvSpPr>
          <p:cNvPr id="12" name="Shape"/>
          <p:cNvSpPr txBox="0"/>
          <p:nvPr/>
        </p:nvSpPr>
        <p:spPr>
          <a:xfrm>
            <a:off x="685800" y="406400"/>
            <a:ext cx="76200" cy="431800"/>
          </a:xfrm>
          <a:prstGeom prst="roundRect">
            <a:avLst/>
          </a:prstGeom>
          <a:solidFill>
            <a:srgbClr val="4DD7C5"/>
          </a:solidFill>
          <a:ln w="0"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965200" y="431800"/>
            <a:ext cx="317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000" b="1">
                <a:solidFill>
                  <a:srgbClr val="4DD7C5"/>
                </a:solidFill>
              </a:rPr>
              <a:t>02  DATA</a:t>
            </a:r>
            <a:endParaRPr lang="en-US" sz="1000"/>
          </a:p>
        </p:txBody>
      </p:sp>
      <p:sp>
        <p:nvSpPr>
          <p:cNvPr id="14" name="Text"/>
          <p:cNvSpPr txBox="1"/>
          <p:nvPr/>
        </p:nvSpPr>
        <p:spPr>
          <a:xfrm>
            <a:off x="685800" y="787400"/>
            <a:ext cx="107950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700" b="1">
                <a:solidFill>
                  <a:srgbClr val="F4F7FB"/>
                </a:solidFill>
              </a:rPr>
              <a:t>We combined two public NYC datasets</a:t>
            </a:r>
            <a:endParaRPr lang="en-US" sz="2700"/>
          </a:p>
        </p:txBody>
      </p:sp>
      <p:sp>
        <p:nvSpPr>
          <p:cNvPr id="15" name="Shape"/>
          <p:cNvSpPr txBox="0"/>
          <p:nvPr/>
        </p:nvSpPr>
        <p:spPr>
          <a:xfrm>
            <a:off x="685800" y="1549400"/>
            <a:ext cx="10820400" cy="12700"/>
          </a:xfrm>
          <a:prstGeom prst="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685800" y="6502400"/>
            <a:ext cx="7874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900" b="0">
                <a:solidFill>
                  <a:srgbClr val="A9B8CB"/>
                </a:solidFill>
              </a:rPr>
              <a:t>Citizen Sentiment Analysis of Municipal Services  |  Team 16</a:t>
            </a:r>
            <a:endParaRPr lang="en-US" sz="900"/>
          </a:p>
        </p:txBody>
      </p:sp>
      <p:sp>
        <p:nvSpPr>
          <p:cNvPr id="17" name="Text"/>
          <p:cNvSpPr txBox="1"/>
          <p:nvPr/>
        </p:nvSpPr>
        <p:spPr>
          <a:xfrm>
            <a:off x="10668000" y="6502400"/>
            <a:ext cx="8382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r"/>
            <a:r>
              <a:rPr lang="en-US" sz="900" b="0">
                <a:solidFill>
                  <a:srgbClr val="A9B8CB"/>
                </a:solidFill>
              </a:rPr>
              <a:t>03 / 10</a:t>
            </a:r>
            <a:endParaRPr lang="en-US" sz="900"/>
          </a:p>
        </p:txBody>
      </p:sp>
      <p:sp>
        <p:nvSpPr>
          <p:cNvPr id="18" name="Shape"/>
          <p:cNvSpPr txBox="0"/>
          <p:nvPr/>
        </p:nvSpPr>
        <p:spPr>
          <a:xfrm>
            <a:off x="685800" y="1955800"/>
            <a:ext cx="2286000" cy="9906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19" name="Text"/>
          <p:cNvSpPr txBox="1"/>
          <p:nvPr/>
        </p:nvSpPr>
        <p:spPr>
          <a:xfrm>
            <a:off x="863600" y="2108200"/>
            <a:ext cx="1930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300" b="1">
                <a:solidFill>
                  <a:srgbClr val="4B8BFF"/>
                </a:solidFill>
              </a:rPr>
              <a:t>4.2M</a:t>
            </a:r>
            <a:endParaRPr lang="en-US" sz="2300"/>
          </a:p>
        </p:txBody>
      </p:sp>
      <p:sp>
        <p:nvSpPr>
          <p:cNvPr id="20" name="Text"/>
          <p:cNvSpPr txBox="1"/>
          <p:nvPr/>
        </p:nvSpPr>
        <p:spPr>
          <a:xfrm>
            <a:off x="863600" y="2552700"/>
            <a:ext cx="1930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NYC 311 service requests</a:t>
            </a:r>
            <a:endParaRPr lang="en-US" sz="1100"/>
          </a:p>
        </p:txBody>
      </p:sp>
      <p:sp>
        <p:nvSpPr>
          <p:cNvPr id="21" name="Shape"/>
          <p:cNvSpPr txBox="0"/>
          <p:nvPr/>
        </p:nvSpPr>
        <p:spPr>
          <a:xfrm>
            <a:off x="3175000" y="1955800"/>
            <a:ext cx="2603500" cy="9906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2" name="Text"/>
          <p:cNvSpPr txBox="1"/>
          <p:nvPr/>
        </p:nvSpPr>
        <p:spPr>
          <a:xfrm>
            <a:off x="3352800" y="2108200"/>
            <a:ext cx="22479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300" b="1">
                <a:solidFill>
                  <a:srgbClr val="4DD7C5"/>
                </a:solidFill>
              </a:rPr>
              <a:t>406,581</a:t>
            </a:r>
            <a:endParaRPr lang="en-US" sz="2300"/>
          </a:p>
        </p:txBody>
      </p:sp>
      <p:sp>
        <p:nvSpPr>
          <p:cNvPr id="23" name="Text"/>
          <p:cNvSpPr txBox="1"/>
          <p:nvPr/>
        </p:nvSpPr>
        <p:spPr>
          <a:xfrm>
            <a:off x="3352800" y="2552700"/>
            <a:ext cx="22479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clean satisfaction responses</a:t>
            </a:r>
            <a:endParaRPr lang="en-US" sz="1100"/>
          </a:p>
        </p:txBody>
      </p:sp>
      <p:sp>
        <p:nvSpPr>
          <p:cNvPr id="24" name="Shape"/>
          <p:cNvSpPr txBox="0"/>
          <p:nvPr/>
        </p:nvSpPr>
        <p:spPr>
          <a:xfrm>
            <a:off x="5981700" y="1955800"/>
            <a:ext cx="2286000" cy="9906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5" name="Text"/>
          <p:cNvSpPr txBox="1"/>
          <p:nvPr/>
        </p:nvSpPr>
        <p:spPr>
          <a:xfrm>
            <a:off x="6159500" y="2108200"/>
            <a:ext cx="1930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300" b="1">
                <a:solidFill>
                  <a:srgbClr val="FFBF69"/>
                </a:solidFill>
              </a:rPr>
              <a:t>884</a:t>
            </a:r>
            <a:endParaRPr lang="en-US" sz="2300"/>
          </a:p>
        </p:txBody>
      </p:sp>
      <p:sp>
        <p:nvSpPr>
          <p:cNvPr id="26" name="Text"/>
          <p:cNvSpPr txBox="1"/>
          <p:nvPr/>
        </p:nvSpPr>
        <p:spPr>
          <a:xfrm>
            <a:off x="6159500" y="2552700"/>
            <a:ext cx="1930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original integrated cells</a:t>
            </a:r>
            <a:endParaRPr lang="en-US" sz="1100"/>
          </a:p>
        </p:txBody>
      </p:sp>
      <p:sp>
        <p:nvSpPr>
          <p:cNvPr id="27" name="Shape"/>
          <p:cNvSpPr txBox="0"/>
          <p:nvPr/>
        </p:nvSpPr>
        <p:spPr>
          <a:xfrm>
            <a:off x="8470900" y="1955800"/>
            <a:ext cx="2286000" cy="9906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8" name="Text"/>
          <p:cNvSpPr txBox="1"/>
          <p:nvPr/>
        </p:nvSpPr>
        <p:spPr>
          <a:xfrm>
            <a:off x="8648700" y="2108200"/>
            <a:ext cx="1930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300" b="1">
                <a:solidFill>
                  <a:srgbClr val="AE84FF"/>
                </a:solidFill>
              </a:rPr>
              <a:t>1,885</a:t>
            </a:r>
            <a:endParaRPr lang="en-US" sz="2300"/>
          </a:p>
        </p:txBody>
      </p:sp>
      <p:sp>
        <p:nvSpPr>
          <p:cNvPr id="29" name="Text"/>
          <p:cNvSpPr txBox="1"/>
          <p:nvPr/>
        </p:nvSpPr>
        <p:spPr>
          <a:xfrm>
            <a:off x="8648700" y="2552700"/>
            <a:ext cx="1930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lagged evaluation cells</a:t>
            </a:r>
            <a:endParaRPr lang="en-US" sz="1100"/>
          </a:p>
        </p:txBody>
      </p:sp>
      <p:pic>
        <p:nvPicPr>
          <p:cNvPr id="30" name="cell_coverage_heatmap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3276600"/>
            <a:ext cx="5461000" cy="2857500"/>
          </a:xfrm>
          <a:prstGeom prst="rect">
            <a:avLst/>
          </a:prstGeom>
        </p:spPr>
      </p:pic>
      <p:sp>
        <p:nvSpPr>
          <p:cNvPr id="31" name="Text"/>
          <p:cNvSpPr txBox="1"/>
          <p:nvPr/>
        </p:nvSpPr>
        <p:spPr>
          <a:xfrm>
            <a:off x="6604000" y="3429000"/>
            <a:ext cx="4191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800" b="1">
                <a:solidFill>
                  <a:srgbClr val="F4F7FB"/>
                </a:solidFill>
              </a:rPr>
              <a:t>Privacy-safe integration</a:t>
            </a:r>
            <a:endParaRPr lang="en-US" sz="1800"/>
          </a:p>
        </p:txBody>
      </p:sp>
      <p:sp>
        <p:nvSpPr>
          <p:cNvPr id="32" name="Text"/>
          <p:cNvSpPr txBox="1"/>
          <p:nvPr/>
        </p:nvSpPr>
        <p:spPr>
          <a:xfrm>
            <a:off x="6604000" y="3937000"/>
            <a:ext cx="4445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700" b="0">
                <a:solidFill>
                  <a:srgbClr val="A9B8CB"/>
                </a:solidFill>
              </a:rPr>
              <a:t>The survey has no request-level citizen text. Therefore, we joined the sources at a service x borough x year x month cell.</a:t>
            </a:r>
            <a:endParaRPr lang="en-US" sz="1700"/>
          </a:p>
        </p:txBody>
      </p:sp>
      <p:sp>
        <p:nvSpPr>
          <p:cNvPr id="33" name="Text"/>
          <p:cNvSpPr txBox="1"/>
          <p:nvPr/>
        </p:nvSpPr>
        <p:spPr>
          <a:xfrm>
            <a:off x="6604000" y="5105400"/>
            <a:ext cx="4445000" cy="5842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700" b="1">
                <a:solidFill>
                  <a:srgbClr val="4DD7C5"/>
                </a:solidFill>
              </a:rPr>
              <a:t>This avoids pretending that one survey response belongs to one ticket.</a:t>
            </a:r>
            <a:endParaRPr lang="en-US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showMasterSp="0" showMasterPhAnim="0">
  <p:cSld>
    <p:spTree>
      <p:nvGrpSpPr>
        <p:cNvPr id="1" name=""/>
        <p:cNvGrpSpPr/>
        <p:nvPr/>
      </p:nvGrpSpPr>
      <p:grpSpPr/>
      <p:sp>
        <p:nvSpPr>
          <p:cNvPr id="11" name="Shape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</a:ln>
        </p:spPr>
      </p:sp>
      <p:sp>
        <p:nvSpPr>
          <p:cNvPr id="12" name="Shape"/>
          <p:cNvSpPr txBox="0"/>
          <p:nvPr/>
        </p:nvSpPr>
        <p:spPr>
          <a:xfrm>
            <a:off x="685800" y="406400"/>
            <a:ext cx="76200" cy="431800"/>
          </a:xfrm>
          <a:prstGeom prst="roundRect">
            <a:avLst/>
          </a:prstGeom>
          <a:solidFill>
            <a:srgbClr val="4DD7C5"/>
          </a:solidFill>
          <a:ln w="0"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965200" y="431800"/>
            <a:ext cx="317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000" b="1">
                <a:solidFill>
                  <a:srgbClr val="4DD7C5"/>
                </a:solidFill>
              </a:rPr>
              <a:t>03  DESIGN</a:t>
            </a:r>
            <a:endParaRPr lang="en-US" sz="1000"/>
          </a:p>
        </p:txBody>
      </p:sp>
      <p:sp>
        <p:nvSpPr>
          <p:cNvPr id="14" name="Text"/>
          <p:cNvSpPr txBox="1"/>
          <p:nvPr/>
        </p:nvSpPr>
        <p:spPr>
          <a:xfrm>
            <a:off x="685800" y="787400"/>
            <a:ext cx="107950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700" b="1">
                <a:solidFill>
                  <a:srgbClr val="F4F7FB"/>
                </a:solidFill>
              </a:rPr>
              <a:t>The study predicts the next month</a:t>
            </a:r>
            <a:endParaRPr lang="en-US" sz="2700"/>
          </a:p>
        </p:txBody>
      </p:sp>
      <p:sp>
        <p:nvSpPr>
          <p:cNvPr id="15" name="Shape"/>
          <p:cNvSpPr txBox="0"/>
          <p:nvPr/>
        </p:nvSpPr>
        <p:spPr>
          <a:xfrm>
            <a:off x="685800" y="1549400"/>
            <a:ext cx="10820400" cy="12700"/>
          </a:xfrm>
          <a:prstGeom prst="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685800" y="6502400"/>
            <a:ext cx="7874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900" b="0">
                <a:solidFill>
                  <a:srgbClr val="A9B8CB"/>
                </a:solidFill>
              </a:rPr>
              <a:t>Citizen Sentiment Analysis of Municipal Services  |  Team 16</a:t>
            </a:r>
            <a:endParaRPr lang="en-US" sz="900"/>
          </a:p>
        </p:txBody>
      </p:sp>
      <p:sp>
        <p:nvSpPr>
          <p:cNvPr id="17" name="Text"/>
          <p:cNvSpPr txBox="1"/>
          <p:nvPr/>
        </p:nvSpPr>
        <p:spPr>
          <a:xfrm>
            <a:off x="10668000" y="6502400"/>
            <a:ext cx="8382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r"/>
            <a:r>
              <a:rPr lang="en-US" sz="900" b="0">
                <a:solidFill>
                  <a:srgbClr val="A9B8CB"/>
                </a:solidFill>
              </a:rPr>
              <a:t>04 / 10</a:t>
            </a:r>
            <a:endParaRPr lang="en-US" sz="900"/>
          </a:p>
        </p:txBody>
      </p:sp>
      <p:sp>
        <p:nvSpPr>
          <p:cNvPr id="18" name="Text"/>
          <p:cNvSpPr txBox="1"/>
          <p:nvPr/>
        </p:nvSpPr>
        <p:spPr>
          <a:xfrm>
            <a:off x="889000" y="2222500"/>
            <a:ext cx="2667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c"/>
            <a:r>
              <a:rPr lang="en-US" sz="1700" b="1">
                <a:solidFill>
                  <a:srgbClr val="F4F7FB"/>
                </a:solidFill>
              </a:rPr>
              <a:t>Features from month t</a:t>
            </a:r>
            <a:endParaRPr lang="en-US" sz="1700"/>
          </a:p>
        </p:txBody>
      </p:sp>
      <p:sp>
        <p:nvSpPr>
          <p:cNvPr id="19" name="Shape"/>
          <p:cNvSpPr txBox="0"/>
          <p:nvPr/>
        </p:nvSpPr>
        <p:spPr>
          <a:xfrm>
            <a:off x="889000" y="2768600"/>
            <a:ext cx="2667000" cy="13335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0" name="Text"/>
          <p:cNvSpPr txBox="1"/>
          <p:nvPr/>
        </p:nvSpPr>
        <p:spPr>
          <a:xfrm>
            <a:off x="1143000" y="3022600"/>
            <a:ext cx="2159000" cy="889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c"/>
            <a:r>
              <a:rPr lang="en-US" sz="1500" b="0">
                <a:solidFill>
                  <a:srgbClr val="A9B8CB"/>
                </a:solidFill>
              </a:rPr>
              <a:t>Volume</a:t>
            </a:r>
            <a:endParaRPr lang="en-US" sz="1500"/>
          </a:p>
          <a:p>
            <a:pPr algn="c"/>
            <a:r>
              <a:rPr lang="en-US" sz="1500" b="0">
                <a:solidFill>
                  <a:srgbClr val="A9B8CB"/>
                </a:solidFill>
              </a:rPr>
              <a:t>Delay history</a:t>
            </a:r>
            <a:endParaRPr lang="en-US" sz="1500"/>
          </a:p>
          <a:p>
            <a:pPr algn="c"/>
            <a:r>
              <a:rPr lang="en-US" sz="1500" b="0">
                <a:solidFill>
                  <a:srgbClr val="A9B8CB"/>
                </a:solidFill>
              </a:rPr>
              <a:t>VADER / topics / ABSA</a:t>
            </a:r>
            <a:endParaRPr lang="en-US" sz="1500"/>
          </a:p>
          <a:p>
            <a:pPr algn="c"/>
            <a:r>
              <a:rPr lang="en-US" sz="1500" b="0">
                <a:solidFill>
                  <a:srgbClr val="A9B8CB"/>
                </a:solidFill>
              </a:rPr>
              <a:t>Satisfaction signals</a:t>
            </a:r>
            <a:endParaRPr lang="en-US" sz="1500"/>
          </a:p>
        </p:txBody>
      </p:sp>
      <p:sp>
        <p:nvSpPr>
          <p:cNvPr id="21" name="Text"/>
          <p:cNvSpPr txBox="1"/>
          <p:nvPr/>
        </p:nvSpPr>
        <p:spPr>
          <a:xfrm>
            <a:off x="3822700" y="3086100"/>
            <a:ext cx="889000" cy="635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c"/>
            <a:r>
              <a:rPr lang="en-US" sz="3400" b="1">
                <a:solidFill>
                  <a:srgbClr val="4DD7C5"/>
                </a:solidFill>
              </a:rPr>
              <a:t>-&gt;</a:t>
            </a:r>
            <a:endParaRPr lang="en-US" sz="3400"/>
          </a:p>
        </p:txBody>
      </p:sp>
      <p:sp>
        <p:nvSpPr>
          <p:cNvPr id="22" name="Text"/>
          <p:cNvSpPr txBox="1"/>
          <p:nvPr/>
        </p:nvSpPr>
        <p:spPr>
          <a:xfrm>
            <a:off x="4953000" y="2222500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c"/>
            <a:r>
              <a:rPr lang="en-US" sz="1700" b="1">
                <a:solidFill>
                  <a:srgbClr val="F4F7FB"/>
                </a:solidFill>
              </a:rPr>
              <a:t>Target in month t + 1</a:t>
            </a:r>
            <a:endParaRPr lang="en-US" sz="1700"/>
          </a:p>
        </p:txBody>
      </p:sp>
      <p:sp>
        <p:nvSpPr>
          <p:cNvPr id="23" name="Shape"/>
          <p:cNvSpPr txBox="0"/>
          <p:nvPr/>
        </p:nvSpPr>
        <p:spPr>
          <a:xfrm>
            <a:off x="4953000" y="2768600"/>
            <a:ext cx="2794000" cy="13335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4" name="Text"/>
          <p:cNvSpPr txBox="1"/>
          <p:nvPr/>
        </p:nvSpPr>
        <p:spPr>
          <a:xfrm>
            <a:off x="5270500" y="3200400"/>
            <a:ext cx="21590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c"/>
            <a:r>
              <a:rPr lang="en-US" sz="1600" b="1">
                <a:solidFill>
                  <a:srgbClr val="FFBF69"/>
                </a:solidFill>
              </a:rPr>
              <a:t>Mean resolution delay</a:t>
            </a:r>
            <a:endParaRPr lang="en-US" sz="1600"/>
          </a:p>
          <a:p>
            <a:pPr algn="c"/>
            <a:r>
              <a:rPr lang="en-US" sz="1600" b="1">
                <a:solidFill>
                  <a:srgbClr val="FFBF69"/>
                </a:solidFill>
              </a:rPr>
              <a:t>14-day repeat-request rate</a:t>
            </a:r>
            <a:endParaRPr lang="en-US" sz="1600"/>
          </a:p>
        </p:txBody>
      </p:sp>
      <p:sp>
        <p:nvSpPr>
          <p:cNvPr id="25" name="Text"/>
          <p:cNvSpPr txBox="1"/>
          <p:nvPr/>
        </p:nvSpPr>
        <p:spPr>
          <a:xfrm>
            <a:off x="8026400" y="3086100"/>
            <a:ext cx="889000" cy="635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c"/>
            <a:r>
              <a:rPr lang="en-US" sz="3400" b="1">
                <a:solidFill>
                  <a:srgbClr val="4DD7C5"/>
                </a:solidFill>
              </a:rPr>
              <a:t>-&gt;</a:t>
            </a:r>
            <a:endParaRPr lang="en-US" sz="3400"/>
          </a:p>
        </p:txBody>
      </p:sp>
      <p:sp>
        <p:nvSpPr>
          <p:cNvPr id="26" name="Text"/>
          <p:cNvSpPr txBox="1"/>
          <p:nvPr/>
        </p:nvSpPr>
        <p:spPr>
          <a:xfrm>
            <a:off x="9131300" y="2222500"/>
            <a:ext cx="2286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c"/>
            <a:r>
              <a:rPr lang="en-US" sz="1700" b="1">
                <a:solidFill>
                  <a:srgbClr val="F4F7FB"/>
                </a:solidFill>
              </a:rPr>
              <a:t>Out-of-time test</a:t>
            </a:r>
            <a:endParaRPr lang="en-US" sz="1700"/>
          </a:p>
        </p:txBody>
      </p:sp>
      <p:sp>
        <p:nvSpPr>
          <p:cNvPr id="27" name="Shape"/>
          <p:cNvSpPr txBox="0"/>
          <p:nvPr/>
        </p:nvSpPr>
        <p:spPr>
          <a:xfrm>
            <a:off x="9131300" y="2768600"/>
            <a:ext cx="2286000" cy="13335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8" name="Text"/>
          <p:cNvSpPr txBox="1"/>
          <p:nvPr/>
        </p:nvSpPr>
        <p:spPr>
          <a:xfrm>
            <a:off x="9423400" y="3098800"/>
            <a:ext cx="17145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c"/>
            <a:r>
              <a:rPr lang="en-US" sz="1500" b="0">
                <a:solidFill>
                  <a:srgbClr val="A9B8CB"/>
                </a:solidFill>
              </a:rPr>
              <a:t>Train: 2023</a:t>
            </a:r>
            <a:endParaRPr lang="en-US" sz="1500"/>
          </a:p>
          <a:p>
            <a:pPr algn="c"/>
            <a:r>
              <a:rPr lang="en-US" sz="1500" b="0">
                <a:solidFill>
                  <a:srgbClr val="A9B8CB"/>
                </a:solidFill>
              </a:rPr>
              <a:t>Validate: 2024</a:t>
            </a:r>
            <a:endParaRPr lang="en-US" sz="1500"/>
          </a:p>
          <a:p>
            <a:pPr algn="c"/>
            <a:r>
              <a:rPr lang="en-US" sz="1500" b="0">
                <a:solidFill>
                  <a:srgbClr val="A9B8CB"/>
                </a:solidFill>
              </a:rPr>
              <a:t>Test: later 2024 cells</a:t>
            </a:r>
            <a:endParaRPr lang="en-US" sz="1500"/>
          </a:p>
        </p:txBody>
      </p:sp>
      <p:sp>
        <p:nvSpPr>
          <p:cNvPr id="29" name="Text"/>
          <p:cNvSpPr txBox="1"/>
          <p:nvPr/>
        </p:nvSpPr>
        <p:spPr>
          <a:xfrm>
            <a:off x="889000" y="4749800"/>
            <a:ext cx="279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800" b="1">
                <a:solidFill>
                  <a:srgbClr val="F4F7FB"/>
                </a:solidFill>
              </a:rPr>
              <a:t>Important control:</a:t>
            </a:r>
            <a:endParaRPr lang="en-US" sz="1800"/>
          </a:p>
        </p:txBody>
      </p:sp>
      <p:sp>
        <p:nvSpPr>
          <p:cNvPr id="30" name="Text"/>
          <p:cNvSpPr txBox="1"/>
          <p:nvPr/>
        </p:nvSpPr>
        <p:spPr>
          <a:xfrm>
            <a:off x="889000" y="5207000"/>
            <a:ext cx="100330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900" b="0">
                <a:solidFill>
                  <a:srgbClr val="A9B8CB"/>
                </a:solidFill>
              </a:rPr>
              <a:t>Targets were shifted forward by one month, and lagged target values were not used as features.</a:t>
            </a:r>
            <a:endParaRPr 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 showMasterPhAnim="0">
  <p:cSld>
    <p:spTree>
      <p:nvGrpSpPr>
        <p:cNvPr id="1" name=""/>
        <p:cNvGrpSpPr/>
        <p:nvPr/>
      </p:nvGrpSpPr>
      <p:grpSpPr/>
      <p:sp>
        <p:nvSpPr>
          <p:cNvPr id="11" name="Shape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</a:ln>
        </p:spPr>
      </p:sp>
      <p:sp>
        <p:nvSpPr>
          <p:cNvPr id="12" name="Shape"/>
          <p:cNvSpPr txBox="0"/>
          <p:nvPr/>
        </p:nvSpPr>
        <p:spPr>
          <a:xfrm>
            <a:off x="685800" y="406400"/>
            <a:ext cx="76200" cy="431800"/>
          </a:xfrm>
          <a:prstGeom prst="roundRect">
            <a:avLst/>
          </a:prstGeom>
          <a:solidFill>
            <a:srgbClr val="4DD7C5"/>
          </a:solidFill>
          <a:ln w="0"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965200" y="431800"/>
            <a:ext cx="317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000" b="1">
                <a:solidFill>
                  <a:srgbClr val="4DD7C5"/>
                </a:solidFill>
              </a:rPr>
              <a:t>04  PIPELINE</a:t>
            </a:r>
            <a:endParaRPr lang="en-US" sz="1000"/>
          </a:p>
        </p:txBody>
      </p:sp>
      <p:sp>
        <p:nvSpPr>
          <p:cNvPr id="14" name="Text"/>
          <p:cNvSpPr txBox="1"/>
          <p:nvPr/>
        </p:nvSpPr>
        <p:spPr>
          <a:xfrm>
            <a:off x="685800" y="787400"/>
            <a:ext cx="107950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700" b="1">
                <a:solidFill>
                  <a:srgbClr val="F4F7FB"/>
                </a:solidFill>
              </a:rPr>
              <a:t>The NLP pipeline was tested with controls</a:t>
            </a:r>
            <a:endParaRPr lang="en-US" sz="2700"/>
          </a:p>
        </p:txBody>
      </p:sp>
      <p:sp>
        <p:nvSpPr>
          <p:cNvPr id="15" name="Shape"/>
          <p:cNvSpPr txBox="0"/>
          <p:nvPr/>
        </p:nvSpPr>
        <p:spPr>
          <a:xfrm>
            <a:off x="685800" y="1549400"/>
            <a:ext cx="10820400" cy="12700"/>
          </a:xfrm>
          <a:prstGeom prst="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685800" y="6502400"/>
            <a:ext cx="7874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900" b="0">
                <a:solidFill>
                  <a:srgbClr val="A9B8CB"/>
                </a:solidFill>
              </a:rPr>
              <a:t>Citizen Sentiment Analysis of Municipal Services  |  Team 16</a:t>
            </a:r>
            <a:endParaRPr lang="en-US" sz="900"/>
          </a:p>
        </p:txBody>
      </p:sp>
      <p:sp>
        <p:nvSpPr>
          <p:cNvPr id="17" name="Text"/>
          <p:cNvSpPr txBox="1"/>
          <p:nvPr/>
        </p:nvSpPr>
        <p:spPr>
          <a:xfrm>
            <a:off x="10668000" y="6502400"/>
            <a:ext cx="8382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r"/>
            <a:r>
              <a:rPr lang="en-US" sz="900" b="0">
                <a:solidFill>
                  <a:srgbClr val="A9B8CB"/>
                </a:solidFill>
              </a:rPr>
              <a:t>05 / 10</a:t>
            </a:r>
            <a:endParaRPr lang="en-US" sz="900"/>
          </a:p>
        </p:txBody>
      </p:sp>
      <p:sp>
        <p:nvSpPr>
          <p:cNvPr id="18" name="Shape"/>
          <p:cNvSpPr txBox="0"/>
          <p:nvPr/>
        </p:nvSpPr>
        <p:spPr>
          <a:xfrm>
            <a:off x="685800" y="1981200"/>
            <a:ext cx="2540000" cy="13208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19" name="Shape"/>
          <p:cNvSpPr txBox="0"/>
          <p:nvPr/>
        </p:nvSpPr>
        <p:spPr>
          <a:xfrm>
            <a:off x="685800" y="1981200"/>
            <a:ext cx="63500" cy="1320800"/>
          </a:xfrm>
          <a:prstGeom prst="roundRect">
            <a:avLst/>
          </a:prstGeom>
          <a:solidFill>
            <a:srgbClr val="4B8BFF"/>
          </a:solidFill>
          <a:ln w="0">
            <a:noFill/>
          </a:ln>
        </p:spPr>
      </p:sp>
      <p:sp>
        <p:nvSpPr>
          <p:cNvPr id="20" name="Text"/>
          <p:cNvSpPr txBox="1"/>
          <p:nvPr/>
        </p:nvSpPr>
        <p:spPr>
          <a:xfrm>
            <a:off x="914400" y="2184400"/>
            <a:ext cx="215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600" b="1">
                <a:solidFill>
                  <a:srgbClr val="F4F7FB"/>
                </a:solidFill>
              </a:rPr>
              <a:t>VADER</a:t>
            </a:r>
            <a:endParaRPr lang="en-US" sz="1600"/>
          </a:p>
        </p:txBody>
      </p:sp>
      <p:sp>
        <p:nvSpPr>
          <p:cNvPr id="21" name="Text"/>
          <p:cNvSpPr txBox="1"/>
          <p:nvPr/>
        </p:nvSpPr>
        <p:spPr>
          <a:xfrm>
            <a:off x="914400" y="2616200"/>
            <a:ext cx="21336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400" b="0">
                <a:solidFill>
                  <a:srgbClr val="A9B8CB"/>
                </a:solidFill>
              </a:rPr>
              <a:t>Lexicon sentiment and negative-ratio features.</a:t>
            </a:r>
            <a:endParaRPr lang="en-US" sz="1400"/>
          </a:p>
        </p:txBody>
      </p:sp>
      <p:sp>
        <p:nvSpPr>
          <p:cNvPr id="22" name="Shape"/>
          <p:cNvSpPr txBox="0"/>
          <p:nvPr/>
        </p:nvSpPr>
        <p:spPr>
          <a:xfrm>
            <a:off x="3479800" y="1981200"/>
            <a:ext cx="2540000" cy="13208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3" name="Shape"/>
          <p:cNvSpPr txBox="0"/>
          <p:nvPr/>
        </p:nvSpPr>
        <p:spPr>
          <a:xfrm>
            <a:off x="3479800" y="1981200"/>
            <a:ext cx="63500" cy="1320800"/>
          </a:xfrm>
          <a:prstGeom prst="roundRect">
            <a:avLst/>
          </a:prstGeom>
          <a:solidFill>
            <a:srgbClr val="AE84FF"/>
          </a:solidFill>
          <a:ln w="0">
            <a:noFill/>
          </a:ln>
        </p:spPr>
      </p:sp>
      <p:sp>
        <p:nvSpPr>
          <p:cNvPr id="24" name="Text"/>
          <p:cNvSpPr txBox="1"/>
          <p:nvPr/>
        </p:nvSpPr>
        <p:spPr>
          <a:xfrm>
            <a:off x="3708400" y="2184400"/>
            <a:ext cx="215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600" b="1">
                <a:solidFill>
                  <a:srgbClr val="F4F7FB"/>
                </a:solidFill>
              </a:rPr>
              <a:t>Topics</a:t>
            </a:r>
            <a:endParaRPr lang="en-US" sz="1600"/>
          </a:p>
        </p:txBody>
      </p:sp>
      <p:sp>
        <p:nvSpPr>
          <p:cNvPr id="25" name="Text"/>
          <p:cNvSpPr txBox="1"/>
          <p:nvPr/>
        </p:nvSpPr>
        <p:spPr>
          <a:xfrm>
            <a:off x="3708400" y="2616200"/>
            <a:ext cx="21336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400" b="0">
                <a:solidFill>
                  <a:srgbClr val="A9B8CB"/>
                </a:solidFill>
              </a:rPr>
              <a:t>LDA and BERTopic captured recurring service themes.</a:t>
            </a:r>
            <a:endParaRPr lang="en-US" sz="1400"/>
          </a:p>
        </p:txBody>
      </p:sp>
      <p:sp>
        <p:nvSpPr>
          <p:cNvPr id="26" name="Shape"/>
          <p:cNvSpPr txBox="0"/>
          <p:nvPr/>
        </p:nvSpPr>
        <p:spPr>
          <a:xfrm>
            <a:off x="6273800" y="1981200"/>
            <a:ext cx="2540000" cy="13208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7" name="Shape"/>
          <p:cNvSpPr txBox="0"/>
          <p:nvPr/>
        </p:nvSpPr>
        <p:spPr>
          <a:xfrm>
            <a:off x="6273800" y="1981200"/>
            <a:ext cx="63500" cy="1320800"/>
          </a:xfrm>
          <a:prstGeom prst="roundRect">
            <a:avLst/>
          </a:prstGeom>
          <a:solidFill>
            <a:srgbClr val="FFBF69"/>
          </a:solidFill>
          <a:ln w="0">
            <a:noFill/>
          </a:ln>
        </p:spPr>
      </p:sp>
      <p:sp>
        <p:nvSpPr>
          <p:cNvPr id="28" name="Text"/>
          <p:cNvSpPr txBox="1"/>
          <p:nvPr/>
        </p:nvSpPr>
        <p:spPr>
          <a:xfrm>
            <a:off x="6502400" y="2184400"/>
            <a:ext cx="215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600" b="1">
                <a:solidFill>
                  <a:srgbClr val="F4F7FB"/>
                </a:solidFill>
              </a:rPr>
              <a:t>ABSA</a:t>
            </a:r>
            <a:endParaRPr lang="en-US" sz="1600"/>
          </a:p>
        </p:txBody>
      </p:sp>
      <p:sp>
        <p:nvSpPr>
          <p:cNvPr id="29" name="Text"/>
          <p:cNvSpPr txBox="1"/>
          <p:nvPr/>
        </p:nvSpPr>
        <p:spPr>
          <a:xfrm>
            <a:off x="6502400" y="2616200"/>
            <a:ext cx="21336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400" b="0">
                <a:solidFill>
                  <a:srgbClr val="A9B8CB"/>
                </a:solidFill>
              </a:rPr>
              <a:t>Three approaches assigned grievance aspects.</a:t>
            </a:r>
            <a:endParaRPr lang="en-US" sz="1400"/>
          </a:p>
        </p:txBody>
      </p:sp>
      <p:sp>
        <p:nvSpPr>
          <p:cNvPr id="30" name="Shape"/>
          <p:cNvSpPr txBox="0"/>
          <p:nvPr/>
        </p:nvSpPr>
        <p:spPr>
          <a:xfrm>
            <a:off x="9067800" y="1981200"/>
            <a:ext cx="2540000" cy="13208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31" name="Shape"/>
          <p:cNvSpPr txBox="0"/>
          <p:nvPr/>
        </p:nvSpPr>
        <p:spPr>
          <a:xfrm>
            <a:off x="9067800" y="1981200"/>
            <a:ext cx="63500" cy="1320800"/>
          </a:xfrm>
          <a:prstGeom prst="roundRect">
            <a:avLst/>
          </a:prstGeom>
          <a:solidFill>
            <a:srgbClr val="4DD7C5"/>
          </a:solidFill>
          <a:ln w="0">
            <a:noFill/>
          </a:ln>
        </p:spPr>
      </p:sp>
      <p:sp>
        <p:nvSpPr>
          <p:cNvPr id="32" name="Text"/>
          <p:cNvSpPr txBox="1"/>
          <p:nvPr/>
        </p:nvSpPr>
        <p:spPr>
          <a:xfrm>
            <a:off x="9296400" y="2184400"/>
            <a:ext cx="215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600" b="1">
                <a:solidFill>
                  <a:srgbClr val="F4F7FB"/>
                </a:solidFill>
              </a:rPr>
              <a:t>RSAT</a:t>
            </a:r>
            <a:endParaRPr lang="en-US" sz="1600"/>
          </a:p>
        </p:txBody>
      </p:sp>
      <p:sp>
        <p:nvSpPr>
          <p:cNvPr id="33" name="Text"/>
          <p:cNvSpPr txBox="1"/>
          <p:nvPr/>
        </p:nvSpPr>
        <p:spPr>
          <a:xfrm>
            <a:off x="9296400" y="2616200"/>
            <a:ext cx="21336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400" b="0">
                <a:solidFill>
                  <a:srgbClr val="A9B8CB"/>
                </a:solidFill>
              </a:rPr>
              <a:t>Satisfaction and dissatisfaction signals were aggregated.</a:t>
            </a:r>
            <a:endParaRPr lang="en-US" sz="1400"/>
          </a:p>
        </p:txBody>
      </p:sp>
      <p:sp>
        <p:nvSpPr>
          <p:cNvPr id="34" name="Text"/>
          <p:cNvSpPr txBox="1"/>
          <p:nvPr/>
        </p:nvSpPr>
        <p:spPr>
          <a:xfrm>
            <a:off x="685800" y="3835400"/>
            <a:ext cx="3175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700" b="1">
                <a:solidFill>
                  <a:srgbClr val="F4F7FB"/>
                </a:solidFill>
              </a:rPr>
              <a:t>Quality checks included:</a:t>
            </a:r>
            <a:endParaRPr lang="en-US" sz="1700"/>
          </a:p>
        </p:txBody>
      </p:sp>
      <p:sp>
        <p:nvSpPr>
          <p:cNvPr id="35" name="Text"/>
          <p:cNvSpPr txBox="1"/>
          <p:nvPr/>
        </p:nvSpPr>
        <p:spPr>
          <a:xfrm>
            <a:off x="685800" y="4318000"/>
            <a:ext cx="5461000" cy="12065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600" b="0">
                <a:solidFill>
                  <a:srgbClr val="A9B8CB"/>
                </a:solidFill>
              </a:rPr>
              <a:t>- training-period topic fitting</a:t>
            </a:r>
            <a:endParaRPr lang="en-US" sz="1600"/>
          </a:p>
          <a:p>
            <a:pPr algn="l"/>
            <a:r>
              <a:rPr lang="en-US" sz="1600" b="0">
                <a:solidFill>
                  <a:srgbClr val="A9B8CB"/>
                </a:solidFill>
              </a:rPr>
              <a:t>- duplicate-controlled chronological ABSA evaluation</a:t>
            </a:r>
            <a:endParaRPr lang="en-US" sz="1600"/>
          </a:p>
          <a:p>
            <a:pPr algn="l"/>
            <a:r>
              <a:rPr lang="en-US" sz="1600" b="0">
                <a:solidFill>
                  <a:srgbClr val="A9B8CB"/>
                </a:solidFill>
              </a:rPr>
              <a:t>- five random seeds and 2,000 bootstrap replicates</a:t>
            </a:r>
            <a:endParaRPr lang="en-US" sz="1600"/>
          </a:p>
        </p:txBody>
      </p:sp>
      <p:pic>
        <p:nvPicPr>
          <p:cNvPr id="36" name="absa_per_aspect_f1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985000" y="3810000"/>
            <a:ext cx="4572000" cy="2286000"/>
          </a:xfrm>
          <a:prstGeom prst="rect">
            <a:avLst/>
          </a:prstGeom>
        </p:spPr>
      </p:pic>
      <p:sp>
        <p:nvSpPr>
          <p:cNvPr id="37" name="Text"/>
          <p:cNvSpPr txBox="1"/>
          <p:nvPr/>
        </p:nvSpPr>
        <p:spPr>
          <a:xfrm>
            <a:off x="6985000" y="6261100"/>
            <a:ext cx="4572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c"/>
            <a:r>
              <a:rPr lang="en-US" sz="1200" b="0">
                <a:solidFill>
                  <a:srgbClr val="A9B8CB"/>
                </a:solidFill>
              </a:rPr>
              <a:t>ABSA remains difficult: macro-F1 was close to the six-class chance level.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showMasterSp="0" showMasterPhAnim="0">
  <p:cSld>
    <p:spTree>
      <p:nvGrpSpPr>
        <p:cNvPr id="1" name=""/>
        <p:cNvGrpSpPr/>
        <p:nvPr/>
      </p:nvGrpSpPr>
      <p:grpSpPr/>
      <p:sp>
        <p:nvSpPr>
          <p:cNvPr id="11" name="Shape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</a:ln>
        </p:spPr>
      </p:sp>
      <p:sp>
        <p:nvSpPr>
          <p:cNvPr id="12" name="Shape"/>
          <p:cNvSpPr txBox="0"/>
          <p:nvPr/>
        </p:nvSpPr>
        <p:spPr>
          <a:xfrm>
            <a:off x="685800" y="406400"/>
            <a:ext cx="76200" cy="431800"/>
          </a:xfrm>
          <a:prstGeom prst="roundRect">
            <a:avLst/>
          </a:prstGeom>
          <a:solidFill>
            <a:srgbClr val="4DD7C5"/>
          </a:solidFill>
          <a:ln w="0"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965200" y="431800"/>
            <a:ext cx="317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000" b="1">
                <a:solidFill>
                  <a:srgbClr val="4DD7C5"/>
                </a:solidFill>
              </a:rPr>
              <a:t>05  MAIN RESULT</a:t>
            </a:r>
            <a:endParaRPr lang="en-US" sz="1000"/>
          </a:p>
        </p:txBody>
      </p:sp>
      <p:sp>
        <p:nvSpPr>
          <p:cNvPr id="14" name="Text"/>
          <p:cNvSpPr txBox="1"/>
          <p:nvPr/>
        </p:nvSpPr>
        <p:spPr>
          <a:xfrm>
            <a:off x="685800" y="787400"/>
            <a:ext cx="107950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700" b="1">
                <a:solidFill>
                  <a:srgbClr val="F4F7FB"/>
                </a:solidFill>
              </a:rPr>
              <a:t>Persistence was stronger than the primary NLP model</a:t>
            </a:r>
            <a:endParaRPr lang="en-US" sz="2700"/>
          </a:p>
        </p:txBody>
      </p:sp>
      <p:sp>
        <p:nvSpPr>
          <p:cNvPr id="15" name="Shape"/>
          <p:cNvSpPr txBox="0"/>
          <p:nvPr/>
        </p:nvSpPr>
        <p:spPr>
          <a:xfrm>
            <a:off x="685800" y="1549400"/>
            <a:ext cx="10820400" cy="12700"/>
          </a:xfrm>
          <a:prstGeom prst="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685800" y="6502400"/>
            <a:ext cx="7874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900" b="0">
                <a:solidFill>
                  <a:srgbClr val="A9B8CB"/>
                </a:solidFill>
              </a:rPr>
              <a:t>Citizen Sentiment Analysis of Municipal Services  |  Team 16</a:t>
            </a:r>
            <a:endParaRPr lang="en-US" sz="900"/>
          </a:p>
        </p:txBody>
      </p:sp>
      <p:sp>
        <p:nvSpPr>
          <p:cNvPr id="17" name="Text"/>
          <p:cNvSpPr txBox="1"/>
          <p:nvPr/>
        </p:nvSpPr>
        <p:spPr>
          <a:xfrm>
            <a:off x="10668000" y="6502400"/>
            <a:ext cx="8382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r"/>
            <a:r>
              <a:rPr lang="en-US" sz="900" b="0">
                <a:solidFill>
                  <a:srgbClr val="A9B8CB"/>
                </a:solidFill>
              </a:rPr>
              <a:t>06 / 10</a:t>
            </a:r>
            <a:endParaRPr lang="en-US" sz="900"/>
          </a:p>
        </p:txBody>
      </p:sp>
      <p:sp>
        <p:nvSpPr>
          <p:cNvPr id="18" name="Text"/>
          <p:cNvSpPr txBox="1"/>
          <p:nvPr/>
        </p:nvSpPr>
        <p:spPr>
          <a:xfrm>
            <a:off x="685800" y="1905000"/>
            <a:ext cx="4064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800" b="1">
                <a:solidFill>
                  <a:srgbClr val="F4F7FB"/>
                </a:solidFill>
              </a:rPr>
              <a:t>Out-of-time R2 comparison</a:t>
            </a:r>
            <a:endParaRPr lang="en-US" sz="1800"/>
          </a:p>
        </p:txBody>
      </p:sp>
      <p:sp>
        <p:nvSpPr>
          <p:cNvPr id="19" name="Text"/>
          <p:cNvSpPr txBox="1"/>
          <p:nvPr/>
        </p:nvSpPr>
        <p:spPr>
          <a:xfrm>
            <a:off x="685800" y="2286000"/>
            <a:ext cx="7620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300" b="0">
                <a:solidFill>
                  <a:srgbClr val="A9B8CB"/>
                </a:solidFill>
              </a:rPr>
              <a:t>Higher is better. The simplest previous-value benchmark is included for context.</a:t>
            </a:r>
            <a:endParaRPr lang="en-US" sz="1300"/>
          </a:p>
        </p:txBody>
      </p:sp>
      <p:sp>
        <p:nvSpPr>
          <p:cNvPr id="20" name="Text"/>
          <p:cNvSpPr txBox="1"/>
          <p:nvPr/>
        </p:nvSpPr>
        <p:spPr>
          <a:xfrm>
            <a:off x="939800" y="3022600"/>
            <a:ext cx="2540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500" b="1">
                <a:solidFill>
                  <a:srgbClr val="F4F7FB"/>
                </a:solidFill>
              </a:rPr>
              <a:t>Resolution delay</a:t>
            </a:r>
            <a:endParaRPr lang="en-US" sz="1500"/>
          </a:p>
        </p:txBody>
      </p:sp>
      <p:sp>
        <p:nvSpPr>
          <p:cNvPr id="21" name="Text"/>
          <p:cNvSpPr txBox="1"/>
          <p:nvPr/>
        </p:nvSpPr>
        <p:spPr>
          <a:xfrm>
            <a:off x="939800" y="3429000"/>
            <a:ext cx="6985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Last-value persistence</a:t>
            </a:r>
            <a:endParaRPr lang="en-US" sz="1100"/>
          </a:p>
        </p:txBody>
      </p:sp>
      <p:sp>
        <p:nvSpPr>
          <p:cNvPr id="22" name="Shape"/>
          <p:cNvSpPr txBox="0"/>
          <p:nvPr/>
        </p:nvSpPr>
        <p:spPr>
          <a:xfrm>
            <a:off x="939800" y="3708400"/>
            <a:ext cx="6985000" cy="190500"/>
          </a:xfrm>
          <a:prstGeom prst="round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23" name="Shape"/>
          <p:cNvSpPr txBox="0"/>
          <p:nvPr/>
        </p:nvSpPr>
        <p:spPr>
          <a:xfrm>
            <a:off x="939800" y="3708400"/>
            <a:ext cx="6174042" cy="190500"/>
          </a:xfrm>
          <a:prstGeom prst="roundRect">
            <a:avLst/>
          </a:prstGeom>
          <a:solidFill>
            <a:srgbClr val="6FE7A0"/>
          </a:solidFill>
          <a:ln w="0">
            <a:noFill/>
          </a:ln>
        </p:spPr>
      </p:sp>
      <p:sp>
        <p:nvSpPr>
          <p:cNvPr id="24" name="Text"/>
          <p:cNvSpPr txBox="1"/>
          <p:nvPr/>
        </p:nvSpPr>
        <p:spPr>
          <a:xfrm>
            <a:off x="8051800" y="3657600"/>
            <a:ext cx="95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200" b="1">
                <a:solidFill>
                  <a:srgbClr val="F4F7FB"/>
                </a:solidFill>
              </a:rPr>
              <a:t>0.884</a:t>
            </a:r>
            <a:endParaRPr lang="en-US" sz="1200"/>
          </a:p>
        </p:txBody>
      </p:sp>
      <p:sp>
        <p:nvSpPr>
          <p:cNvPr id="25" name="Text"/>
          <p:cNvSpPr txBox="1"/>
          <p:nvPr/>
        </p:nvSpPr>
        <p:spPr>
          <a:xfrm>
            <a:off x="939800" y="4127500"/>
            <a:ext cx="6985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Structured LightGBM</a:t>
            </a:r>
            <a:endParaRPr lang="en-US" sz="1100"/>
          </a:p>
        </p:txBody>
      </p:sp>
      <p:sp>
        <p:nvSpPr>
          <p:cNvPr id="26" name="Shape"/>
          <p:cNvSpPr txBox="0"/>
          <p:nvPr/>
        </p:nvSpPr>
        <p:spPr>
          <a:xfrm>
            <a:off x="939800" y="4406900"/>
            <a:ext cx="6985000" cy="190500"/>
          </a:xfrm>
          <a:prstGeom prst="round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27" name="Shape"/>
          <p:cNvSpPr txBox="0"/>
          <p:nvPr/>
        </p:nvSpPr>
        <p:spPr>
          <a:xfrm>
            <a:off x="939800" y="4406900"/>
            <a:ext cx="4187508" cy="190500"/>
          </a:xfrm>
          <a:prstGeom prst="roundRect">
            <a:avLst/>
          </a:prstGeom>
          <a:solidFill>
            <a:srgbClr val="4B8BFF"/>
          </a:solidFill>
          <a:ln w="0">
            <a:noFill/>
          </a:ln>
        </p:spPr>
      </p:sp>
      <p:sp>
        <p:nvSpPr>
          <p:cNvPr id="28" name="Text"/>
          <p:cNvSpPr txBox="1"/>
          <p:nvPr/>
        </p:nvSpPr>
        <p:spPr>
          <a:xfrm>
            <a:off x="8051800" y="4356100"/>
            <a:ext cx="95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200" b="1">
                <a:solidFill>
                  <a:srgbClr val="F4F7FB"/>
                </a:solidFill>
              </a:rPr>
              <a:t>0.600</a:t>
            </a:r>
            <a:endParaRPr lang="en-US" sz="1200"/>
          </a:p>
        </p:txBody>
      </p:sp>
      <p:sp>
        <p:nvSpPr>
          <p:cNvPr id="29" name="Text"/>
          <p:cNvSpPr txBox="1"/>
          <p:nvPr/>
        </p:nvSpPr>
        <p:spPr>
          <a:xfrm>
            <a:off x="939800" y="4826000"/>
            <a:ext cx="6985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All augmented features</a:t>
            </a:r>
            <a:endParaRPr lang="en-US" sz="1100"/>
          </a:p>
        </p:txBody>
      </p:sp>
      <p:sp>
        <p:nvSpPr>
          <p:cNvPr id="30" name="Shape"/>
          <p:cNvSpPr txBox="0"/>
          <p:nvPr/>
        </p:nvSpPr>
        <p:spPr>
          <a:xfrm>
            <a:off x="939800" y="5105400"/>
            <a:ext cx="6985000" cy="190500"/>
          </a:xfrm>
          <a:prstGeom prst="round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31" name="Shape"/>
          <p:cNvSpPr txBox="0"/>
          <p:nvPr/>
        </p:nvSpPr>
        <p:spPr>
          <a:xfrm>
            <a:off x="939800" y="5105400"/>
            <a:ext cx="3303905" cy="190500"/>
          </a:xfrm>
          <a:prstGeom prst="roundRect">
            <a:avLst/>
          </a:prstGeom>
          <a:solidFill>
            <a:srgbClr val="FF6B6B"/>
          </a:solidFill>
          <a:ln w="0">
            <a:noFill/>
          </a:ln>
        </p:spPr>
      </p:sp>
      <p:sp>
        <p:nvSpPr>
          <p:cNvPr id="32" name="Text"/>
          <p:cNvSpPr txBox="1"/>
          <p:nvPr/>
        </p:nvSpPr>
        <p:spPr>
          <a:xfrm>
            <a:off x="8051800" y="5054600"/>
            <a:ext cx="95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200" b="1">
                <a:solidFill>
                  <a:srgbClr val="F4F7FB"/>
                </a:solidFill>
              </a:rPr>
              <a:t>0.473</a:t>
            </a:r>
            <a:endParaRPr lang="en-US" sz="1200"/>
          </a:p>
        </p:txBody>
      </p:sp>
      <p:sp>
        <p:nvSpPr>
          <p:cNvPr id="33" name="Text"/>
          <p:cNvSpPr txBox="1"/>
          <p:nvPr/>
        </p:nvSpPr>
        <p:spPr>
          <a:xfrm>
            <a:off x="939800" y="5562600"/>
            <a:ext cx="2540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500" b="1">
                <a:solidFill>
                  <a:srgbClr val="F4F7FB"/>
                </a:solidFill>
              </a:rPr>
              <a:t>14-day repeat rate</a:t>
            </a:r>
            <a:endParaRPr lang="en-US" sz="1500"/>
          </a:p>
        </p:txBody>
      </p:sp>
      <p:sp>
        <p:nvSpPr>
          <p:cNvPr id="34" name="Text"/>
          <p:cNvSpPr txBox="1"/>
          <p:nvPr/>
        </p:nvSpPr>
        <p:spPr>
          <a:xfrm>
            <a:off x="939800" y="5943600"/>
            <a:ext cx="6985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Last-value persistence</a:t>
            </a:r>
            <a:endParaRPr lang="en-US" sz="1100"/>
          </a:p>
        </p:txBody>
      </p:sp>
      <p:sp>
        <p:nvSpPr>
          <p:cNvPr id="35" name="Shape"/>
          <p:cNvSpPr txBox="0"/>
          <p:nvPr/>
        </p:nvSpPr>
        <p:spPr>
          <a:xfrm>
            <a:off x="939800" y="6223000"/>
            <a:ext cx="6985000" cy="190500"/>
          </a:xfrm>
          <a:prstGeom prst="round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36" name="Shape"/>
          <p:cNvSpPr txBox="0"/>
          <p:nvPr/>
        </p:nvSpPr>
        <p:spPr>
          <a:xfrm>
            <a:off x="939800" y="6223000"/>
            <a:ext cx="6614096" cy="190500"/>
          </a:xfrm>
          <a:prstGeom prst="roundRect">
            <a:avLst/>
          </a:prstGeom>
          <a:solidFill>
            <a:srgbClr val="6FE7A0"/>
          </a:solidFill>
          <a:ln w="0">
            <a:noFill/>
          </a:ln>
        </p:spPr>
      </p:sp>
      <p:sp>
        <p:nvSpPr>
          <p:cNvPr id="37" name="Text"/>
          <p:cNvSpPr txBox="1"/>
          <p:nvPr/>
        </p:nvSpPr>
        <p:spPr>
          <a:xfrm>
            <a:off x="8051800" y="6172200"/>
            <a:ext cx="95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200" b="1">
                <a:solidFill>
                  <a:srgbClr val="F4F7FB"/>
                </a:solidFill>
              </a:rPr>
              <a:t>0.947</a:t>
            </a:r>
            <a:endParaRPr lang="en-US" sz="1200"/>
          </a:p>
        </p:txBody>
      </p:sp>
      <p:sp>
        <p:nvSpPr>
          <p:cNvPr id="38" name="Shape"/>
          <p:cNvSpPr txBox="0"/>
          <p:nvPr/>
        </p:nvSpPr>
        <p:spPr>
          <a:xfrm>
            <a:off x="8763000" y="2921000"/>
            <a:ext cx="2717800" cy="25654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39" name="Text"/>
          <p:cNvSpPr txBox="1"/>
          <p:nvPr/>
        </p:nvSpPr>
        <p:spPr>
          <a:xfrm>
            <a:off x="9067800" y="3200400"/>
            <a:ext cx="20955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800" b="1">
                <a:solidFill>
                  <a:srgbClr val="4DD7C5"/>
                </a:solidFill>
              </a:rPr>
              <a:t>Correct conclusion</a:t>
            </a:r>
            <a:endParaRPr lang="en-US" sz="1800"/>
          </a:p>
        </p:txBody>
      </p:sp>
      <p:sp>
        <p:nvSpPr>
          <p:cNvPr id="40" name="Text"/>
          <p:cNvSpPr txBox="1"/>
          <p:nvPr/>
        </p:nvSpPr>
        <p:spPr>
          <a:xfrm>
            <a:off x="9067800" y="3746500"/>
            <a:ext cx="2095500" cy="1041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700" b="0">
                <a:solidFill>
                  <a:srgbClr val="A9B8CB"/>
                </a:solidFill>
              </a:rPr>
              <a:t>The NLP features did not beat the strongest simple benchmark in this corrected lagged test.</a:t>
            </a:r>
            <a:endParaRPr lang="en-US" sz="1700"/>
          </a:p>
        </p:txBody>
      </p:sp>
      <p:sp>
        <p:nvSpPr>
          <p:cNvPr id="41" name="Text"/>
          <p:cNvSpPr txBox="1"/>
          <p:nvPr/>
        </p:nvSpPr>
        <p:spPr>
          <a:xfrm>
            <a:off x="9067800" y="4978400"/>
            <a:ext cx="20955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300" b="1">
                <a:solidFill>
                  <a:srgbClr val="FFBF69"/>
                </a:solidFill>
              </a:rPr>
              <a:t>This is a useful research result because it prevents overclaiming.</a:t>
            </a:r>
            <a:endParaRPr lang="en-US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showMasterSp="0" showMasterPhAnim="0">
  <p:cSld>
    <p:spTree>
      <p:nvGrpSpPr>
        <p:cNvPr id="1" name=""/>
        <p:cNvGrpSpPr/>
        <p:nvPr/>
      </p:nvGrpSpPr>
      <p:grpSpPr/>
      <p:sp>
        <p:nvSpPr>
          <p:cNvPr id="11" name="Shape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</a:ln>
        </p:spPr>
      </p:sp>
      <p:sp>
        <p:nvSpPr>
          <p:cNvPr id="12" name="Shape"/>
          <p:cNvSpPr txBox="0"/>
          <p:nvPr/>
        </p:nvSpPr>
        <p:spPr>
          <a:xfrm>
            <a:off x="685800" y="406400"/>
            <a:ext cx="76200" cy="431800"/>
          </a:xfrm>
          <a:prstGeom prst="roundRect">
            <a:avLst/>
          </a:prstGeom>
          <a:solidFill>
            <a:srgbClr val="4DD7C5"/>
          </a:solidFill>
          <a:ln w="0"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965200" y="431800"/>
            <a:ext cx="317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000" b="1">
                <a:solidFill>
                  <a:srgbClr val="4DD7C5"/>
                </a:solidFill>
              </a:rPr>
              <a:t>06  ABLATION</a:t>
            </a:r>
            <a:endParaRPr lang="en-US" sz="1000"/>
          </a:p>
        </p:txBody>
      </p:sp>
      <p:sp>
        <p:nvSpPr>
          <p:cNvPr id="14" name="Text"/>
          <p:cNvSpPr txBox="1"/>
          <p:nvPr/>
        </p:nvSpPr>
        <p:spPr>
          <a:xfrm>
            <a:off x="685800" y="787400"/>
            <a:ext cx="107950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700" b="1">
                <a:solidFill>
                  <a:srgbClr val="F4F7FB"/>
                </a:solidFill>
              </a:rPr>
              <a:t>Feature groups gave mixed results</a:t>
            </a:r>
            <a:endParaRPr lang="en-US" sz="2700"/>
          </a:p>
        </p:txBody>
      </p:sp>
      <p:sp>
        <p:nvSpPr>
          <p:cNvPr id="15" name="Shape"/>
          <p:cNvSpPr txBox="0"/>
          <p:nvPr/>
        </p:nvSpPr>
        <p:spPr>
          <a:xfrm>
            <a:off x="685800" y="1549400"/>
            <a:ext cx="10820400" cy="12700"/>
          </a:xfrm>
          <a:prstGeom prst="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685800" y="6502400"/>
            <a:ext cx="7874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900" b="0">
                <a:solidFill>
                  <a:srgbClr val="A9B8CB"/>
                </a:solidFill>
              </a:rPr>
              <a:t>Citizen Sentiment Analysis of Municipal Services  |  Team 16</a:t>
            </a:r>
            <a:endParaRPr lang="en-US" sz="900"/>
          </a:p>
        </p:txBody>
      </p:sp>
      <p:sp>
        <p:nvSpPr>
          <p:cNvPr id="17" name="Text"/>
          <p:cNvSpPr txBox="1"/>
          <p:nvPr/>
        </p:nvSpPr>
        <p:spPr>
          <a:xfrm>
            <a:off x="10668000" y="6502400"/>
            <a:ext cx="8382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r"/>
            <a:r>
              <a:rPr lang="en-US" sz="900" b="0">
                <a:solidFill>
                  <a:srgbClr val="A9B8CB"/>
                </a:solidFill>
              </a:rPr>
              <a:t>07 / 10</a:t>
            </a:r>
            <a:endParaRPr lang="en-US" sz="900"/>
          </a:p>
        </p:txBody>
      </p:sp>
      <p:sp>
        <p:nvSpPr>
          <p:cNvPr id="18" name="Text"/>
          <p:cNvSpPr txBox="1"/>
          <p:nvPr/>
        </p:nvSpPr>
        <p:spPr>
          <a:xfrm>
            <a:off x="685800" y="1905000"/>
            <a:ext cx="508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800" b="1">
                <a:solidFill>
                  <a:srgbClr val="F4F7FB"/>
                </a:solidFill>
              </a:rPr>
              <a:t>Incremental delta R2 versus structured model</a:t>
            </a:r>
            <a:endParaRPr lang="en-US" sz="1800"/>
          </a:p>
        </p:txBody>
      </p:sp>
      <p:sp>
        <p:nvSpPr>
          <p:cNvPr id="19" name="Text"/>
          <p:cNvSpPr txBox="1"/>
          <p:nvPr/>
        </p:nvSpPr>
        <p:spPr>
          <a:xfrm>
            <a:off x="685800" y="2286000"/>
            <a:ext cx="8509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300" b="0">
                <a:solidFill>
                  <a:srgbClr val="A9B8CB"/>
                </a:solidFill>
              </a:rPr>
              <a:t>Positive means the feature group helped; negative means it reduced test performance.</a:t>
            </a:r>
            <a:endParaRPr lang="en-US" sz="1300"/>
          </a:p>
        </p:txBody>
      </p:sp>
      <p:sp>
        <p:nvSpPr>
          <p:cNvPr id="20" name="Text"/>
          <p:cNvSpPr txBox="1"/>
          <p:nvPr/>
        </p:nvSpPr>
        <p:spPr>
          <a:xfrm>
            <a:off x="685800" y="2946400"/>
            <a:ext cx="1524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500" b="1">
                <a:solidFill>
                  <a:srgbClr val="F4F7FB"/>
                </a:solidFill>
              </a:rPr>
              <a:t>Delay</a:t>
            </a:r>
            <a:endParaRPr lang="en-US" sz="1500"/>
          </a:p>
        </p:txBody>
      </p:sp>
      <p:sp>
        <p:nvSpPr>
          <p:cNvPr id="21" name="Text"/>
          <p:cNvSpPr txBox="1"/>
          <p:nvPr/>
        </p:nvSpPr>
        <p:spPr>
          <a:xfrm>
            <a:off x="685800" y="3352800"/>
            <a:ext cx="4572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VADER</a:t>
            </a:r>
            <a:endParaRPr lang="en-US" sz="1100"/>
          </a:p>
        </p:txBody>
      </p:sp>
      <p:sp>
        <p:nvSpPr>
          <p:cNvPr id="22" name="Shape"/>
          <p:cNvSpPr txBox="0"/>
          <p:nvPr/>
        </p:nvSpPr>
        <p:spPr>
          <a:xfrm>
            <a:off x="685800" y="3632200"/>
            <a:ext cx="4572000" cy="190500"/>
          </a:xfrm>
          <a:prstGeom prst="round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23" name="Shape"/>
          <p:cNvSpPr txBox="0"/>
          <p:nvPr/>
        </p:nvSpPr>
        <p:spPr>
          <a:xfrm>
            <a:off x="685800" y="3632200"/>
            <a:ext cx="63500" cy="190500"/>
          </a:xfrm>
          <a:prstGeom prst="roundRect">
            <a:avLst/>
          </a:prstGeom>
          <a:solidFill>
            <a:srgbClr val="FF6B6B"/>
          </a:solidFill>
          <a:ln w="0">
            <a:noFill/>
          </a:ln>
        </p:spPr>
      </p:sp>
      <p:sp>
        <p:nvSpPr>
          <p:cNvPr id="24" name="Text"/>
          <p:cNvSpPr txBox="1"/>
          <p:nvPr/>
        </p:nvSpPr>
        <p:spPr>
          <a:xfrm>
            <a:off x="5384800" y="3581400"/>
            <a:ext cx="95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200" b="1">
                <a:solidFill>
                  <a:srgbClr val="F4F7FB"/>
                </a:solidFill>
              </a:rPr>
              <a:t>-0.235</a:t>
            </a:r>
            <a:endParaRPr lang="en-US" sz="1200"/>
          </a:p>
        </p:txBody>
      </p:sp>
      <p:sp>
        <p:nvSpPr>
          <p:cNvPr id="25" name="Text"/>
          <p:cNvSpPr txBox="1"/>
          <p:nvPr/>
        </p:nvSpPr>
        <p:spPr>
          <a:xfrm>
            <a:off x="685800" y="4038600"/>
            <a:ext cx="4572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Topics</a:t>
            </a:r>
            <a:endParaRPr lang="en-US" sz="1100"/>
          </a:p>
        </p:txBody>
      </p:sp>
      <p:sp>
        <p:nvSpPr>
          <p:cNvPr id="26" name="Shape"/>
          <p:cNvSpPr txBox="0"/>
          <p:nvPr/>
        </p:nvSpPr>
        <p:spPr>
          <a:xfrm>
            <a:off x="685800" y="4318000"/>
            <a:ext cx="4572000" cy="190500"/>
          </a:xfrm>
          <a:prstGeom prst="round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27" name="Shape"/>
          <p:cNvSpPr txBox="0"/>
          <p:nvPr/>
        </p:nvSpPr>
        <p:spPr>
          <a:xfrm>
            <a:off x="685800" y="4318000"/>
            <a:ext cx="223114" cy="190500"/>
          </a:xfrm>
          <a:prstGeom prst="roundRect">
            <a:avLst/>
          </a:prstGeom>
          <a:solidFill>
            <a:srgbClr val="AE84FF"/>
          </a:solidFill>
          <a:ln w="0">
            <a:noFill/>
          </a:ln>
        </p:spPr>
      </p:sp>
      <p:sp>
        <p:nvSpPr>
          <p:cNvPr id="28" name="Text"/>
          <p:cNvSpPr txBox="1"/>
          <p:nvPr/>
        </p:nvSpPr>
        <p:spPr>
          <a:xfrm>
            <a:off x="5384800" y="4267200"/>
            <a:ext cx="95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200" b="1">
                <a:solidFill>
                  <a:srgbClr val="F4F7FB"/>
                </a:solidFill>
              </a:rPr>
              <a:t>+0.012</a:t>
            </a:r>
            <a:endParaRPr lang="en-US" sz="1200"/>
          </a:p>
        </p:txBody>
      </p:sp>
      <p:sp>
        <p:nvSpPr>
          <p:cNvPr id="29" name="Text"/>
          <p:cNvSpPr txBox="1"/>
          <p:nvPr/>
        </p:nvSpPr>
        <p:spPr>
          <a:xfrm>
            <a:off x="685800" y="4724400"/>
            <a:ext cx="4572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ABSA</a:t>
            </a:r>
            <a:endParaRPr lang="en-US" sz="1100"/>
          </a:p>
        </p:txBody>
      </p:sp>
      <p:sp>
        <p:nvSpPr>
          <p:cNvPr id="30" name="Shape"/>
          <p:cNvSpPr txBox="0"/>
          <p:nvPr/>
        </p:nvSpPr>
        <p:spPr>
          <a:xfrm>
            <a:off x="685800" y="5003800"/>
            <a:ext cx="4572000" cy="190500"/>
          </a:xfrm>
          <a:prstGeom prst="round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31" name="Shape"/>
          <p:cNvSpPr txBox="0"/>
          <p:nvPr/>
        </p:nvSpPr>
        <p:spPr>
          <a:xfrm>
            <a:off x="685800" y="5003800"/>
            <a:ext cx="777240" cy="190500"/>
          </a:xfrm>
          <a:prstGeom prst="roundRect">
            <a:avLst/>
          </a:prstGeom>
          <a:solidFill>
            <a:srgbClr val="4DD7C5"/>
          </a:solidFill>
          <a:ln w="0">
            <a:noFill/>
          </a:ln>
        </p:spPr>
      </p:sp>
      <p:sp>
        <p:nvSpPr>
          <p:cNvPr id="32" name="Text"/>
          <p:cNvSpPr txBox="1"/>
          <p:nvPr/>
        </p:nvSpPr>
        <p:spPr>
          <a:xfrm>
            <a:off x="5384800" y="4953000"/>
            <a:ext cx="95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200" b="1">
                <a:solidFill>
                  <a:srgbClr val="F4F7FB"/>
                </a:solidFill>
              </a:rPr>
              <a:t>+0.043</a:t>
            </a:r>
            <a:endParaRPr lang="en-US" sz="1200"/>
          </a:p>
        </p:txBody>
      </p:sp>
      <p:sp>
        <p:nvSpPr>
          <p:cNvPr id="33" name="Text"/>
          <p:cNvSpPr txBox="1"/>
          <p:nvPr/>
        </p:nvSpPr>
        <p:spPr>
          <a:xfrm>
            <a:off x="685800" y="5410200"/>
            <a:ext cx="4572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RSAT satisfaction</a:t>
            </a:r>
            <a:endParaRPr lang="en-US" sz="1100"/>
          </a:p>
        </p:txBody>
      </p:sp>
      <p:sp>
        <p:nvSpPr>
          <p:cNvPr id="34" name="Shape"/>
          <p:cNvSpPr txBox="0"/>
          <p:nvPr/>
        </p:nvSpPr>
        <p:spPr>
          <a:xfrm>
            <a:off x="685800" y="5689600"/>
            <a:ext cx="4572000" cy="190500"/>
          </a:xfrm>
          <a:prstGeom prst="round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35" name="Shape"/>
          <p:cNvSpPr txBox="0"/>
          <p:nvPr/>
        </p:nvSpPr>
        <p:spPr>
          <a:xfrm>
            <a:off x="685800" y="5689600"/>
            <a:ext cx="193853" cy="190500"/>
          </a:xfrm>
          <a:prstGeom prst="roundRect">
            <a:avLst/>
          </a:prstGeom>
          <a:solidFill>
            <a:srgbClr val="FFBF69"/>
          </a:solidFill>
          <a:ln w="0">
            <a:noFill/>
          </a:ln>
        </p:spPr>
      </p:sp>
      <p:sp>
        <p:nvSpPr>
          <p:cNvPr id="36" name="Text"/>
          <p:cNvSpPr txBox="1"/>
          <p:nvPr/>
        </p:nvSpPr>
        <p:spPr>
          <a:xfrm>
            <a:off x="5384800" y="5638800"/>
            <a:ext cx="95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200" b="1">
                <a:solidFill>
                  <a:srgbClr val="F4F7FB"/>
                </a:solidFill>
              </a:rPr>
              <a:t>+0.011</a:t>
            </a:r>
            <a:endParaRPr lang="en-US" sz="1200"/>
          </a:p>
        </p:txBody>
      </p:sp>
      <p:sp>
        <p:nvSpPr>
          <p:cNvPr id="37" name="Text"/>
          <p:cNvSpPr txBox="1"/>
          <p:nvPr/>
        </p:nvSpPr>
        <p:spPr>
          <a:xfrm>
            <a:off x="6604000" y="2946400"/>
            <a:ext cx="1905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500" b="1">
                <a:solidFill>
                  <a:srgbClr val="F4F7FB"/>
                </a:solidFill>
              </a:rPr>
              <a:t>Repeat rate</a:t>
            </a:r>
            <a:endParaRPr lang="en-US" sz="1500"/>
          </a:p>
        </p:txBody>
      </p:sp>
      <p:sp>
        <p:nvSpPr>
          <p:cNvPr id="38" name="Text"/>
          <p:cNvSpPr txBox="1"/>
          <p:nvPr/>
        </p:nvSpPr>
        <p:spPr>
          <a:xfrm>
            <a:off x="6604000" y="3352800"/>
            <a:ext cx="3810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VADER</a:t>
            </a:r>
            <a:endParaRPr lang="en-US" sz="1100"/>
          </a:p>
        </p:txBody>
      </p:sp>
      <p:sp>
        <p:nvSpPr>
          <p:cNvPr id="39" name="Shape"/>
          <p:cNvSpPr txBox="0"/>
          <p:nvPr/>
        </p:nvSpPr>
        <p:spPr>
          <a:xfrm>
            <a:off x="6604000" y="3632200"/>
            <a:ext cx="3810000" cy="190500"/>
          </a:xfrm>
          <a:prstGeom prst="round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40" name="Shape"/>
          <p:cNvSpPr txBox="0"/>
          <p:nvPr/>
        </p:nvSpPr>
        <p:spPr>
          <a:xfrm>
            <a:off x="6604000" y="3632200"/>
            <a:ext cx="63500" cy="190500"/>
          </a:xfrm>
          <a:prstGeom prst="roundRect">
            <a:avLst/>
          </a:prstGeom>
          <a:solidFill>
            <a:srgbClr val="FF6B6B"/>
          </a:solidFill>
          <a:ln w="0">
            <a:noFill/>
          </a:ln>
        </p:spPr>
      </p:sp>
      <p:sp>
        <p:nvSpPr>
          <p:cNvPr id="41" name="Text"/>
          <p:cNvSpPr txBox="1"/>
          <p:nvPr/>
        </p:nvSpPr>
        <p:spPr>
          <a:xfrm>
            <a:off x="10541000" y="3581400"/>
            <a:ext cx="95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200" b="1">
                <a:solidFill>
                  <a:srgbClr val="F4F7FB"/>
                </a:solidFill>
              </a:rPr>
              <a:t>-0.027</a:t>
            </a:r>
            <a:endParaRPr lang="en-US" sz="1200"/>
          </a:p>
        </p:txBody>
      </p:sp>
      <p:sp>
        <p:nvSpPr>
          <p:cNvPr id="42" name="Text"/>
          <p:cNvSpPr txBox="1"/>
          <p:nvPr/>
        </p:nvSpPr>
        <p:spPr>
          <a:xfrm>
            <a:off x="6604000" y="4038600"/>
            <a:ext cx="3810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Topics</a:t>
            </a:r>
            <a:endParaRPr lang="en-US" sz="1100"/>
          </a:p>
        </p:txBody>
      </p:sp>
      <p:sp>
        <p:nvSpPr>
          <p:cNvPr id="43" name="Shape"/>
          <p:cNvSpPr txBox="0"/>
          <p:nvPr/>
        </p:nvSpPr>
        <p:spPr>
          <a:xfrm>
            <a:off x="6604000" y="4318000"/>
            <a:ext cx="3810000" cy="190500"/>
          </a:xfrm>
          <a:prstGeom prst="round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44" name="Shape"/>
          <p:cNvSpPr txBox="0"/>
          <p:nvPr/>
        </p:nvSpPr>
        <p:spPr>
          <a:xfrm>
            <a:off x="6604000" y="4318000"/>
            <a:ext cx="73152" cy="190500"/>
          </a:xfrm>
          <a:prstGeom prst="roundRect">
            <a:avLst/>
          </a:prstGeom>
          <a:solidFill>
            <a:srgbClr val="AE84FF"/>
          </a:solidFill>
          <a:ln w="0">
            <a:noFill/>
          </a:ln>
        </p:spPr>
      </p:sp>
      <p:sp>
        <p:nvSpPr>
          <p:cNvPr id="45" name="Text"/>
          <p:cNvSpPr txBox="1"/>
          <p:nvPr/>
        </p:nvSpPr>
        <p:spPr>
          <a:xfrm>
            <a:off x="10541000" y="4267200"/>
            <a:ext cx="95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200" b="1">
                <a:solidFill>
                  <a:srgbClr val="F4F7FB"/>
                </a:solidFill>
              </a:rPr>
              <a:t>+0.005</a:t>
            </a:r>
            <a:endParaRPr lang="en-US" sz="1200"/>
          </a:p>
        </p:txBody>
      </p:sp>
      <p:sp>
        <p:nvSpPr>
          <p:cNvPr id="46" name="Text"/>
          <p:cNvSpPr txBox="1"/>
          <p:nvPr/>
        </p:nvSpPr>
        <p:spPr>
          <a:xfrm>
            <a:off x="6604000" y="4724400"/>
            <a:ext cx="3810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ABSA</a:t>
            </a:r>
            <a:endParaRPr lang="en-US" sz="1100"/>
          </a:p>
        </p:txBody>
      </p:sp>
      <p:sp>
        <p:nvSpPr>
          <p:cNvPr id="47" name="Shape"/>
          <p:cNvSpPr txBox="0"/>
          <p:nvPr/>
        </p:nvSpPr>
        <p:spPr>
          <a:xfrm>
            <a:off x="6604000" y="5003800"/>
            <a:ext cx="3810000" cy="190500"/>
          </a:xfrm>
          <a:prstGeom prst="round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48" name="Shape"/>
          <p:cNvSpPr txBox="0"/>
          <p:nvPr/>
        </p:nvSpPr>
        <p:spPr>
          <a:xfrm>
            <a:off x="6604000" y="5003800"/>
            <a:ext cx="63500" cy="190500"/>
          </a:xfrm>
          <a:prstGeom prst="roundRect">
            <a:avLst/>
          </a:prstGeom>
          <a:solidFill>
            <a:srgbClr val="FF6B6B"/>
          </a:solidFill>
          <a:ln w="0">
            <a:noFill/>
          </a:ln>
        </p:spPr>
      </p:sp>
      <p:sp>
        <p:nvSpPr>
          <p:cNvPr id="49" name="Text"/>
          <p:cNvSpPr txBox="1"/>
          <p:nvPr/>
        </p:nvSpPr>
        <p:spPr>
          <a:xfrm>
            <a:off x="10541000" y="4953000"/>
            <a:ext cx="95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200" b="1">
                <a:solidFill>
                  <a:srgbClr val="F4F7FB"/>
                </a:solidFill>
              </a:rPr>
              <a:t>-0.050</a:t>
            </a:r>
            <a:endParaRPr lang="en-US" sz="1200"/>
          </a:p>
        </p:txBody>
      </p:sp>
      <p:sp>
        <p:nvSpPr>
          <p:cNvPr id="50" name="Text"/>
          <p:cNvSpPr txBox="1"/>
          <p:nvPr/>
        </p:nvSpPr>
        <p:spPr>
          <a:xfrm>
            <a:off x="6604000" y="5410200"/>
            <a:ext cx="3810000" cy="2032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RSAT satisfaction</a:t>
            </a:r>
            <a:endParaRPr lang="en-US" sz="1100"/>
          </a:p>
        </p:txBody>
      </p:sp>
      <p:sp>
        <p:nvSpPr>
          <p:cNvPr id="51" name="Shape"/>
          <p:cNvSpPr txBox="0"/>
          <p:nvPr/>
        </p:nvSpPr>
        <p:spPr>
          <a:xfrm>
            <a:off x="6604000" y="5689600"/>
            <a:ext cx="3810000" cy="190500"/>
          </a:xfrm>
          <a:prstGeom prst="round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52" name="Shape"/>
          <p:cNvSpPr txBox="0"/>
          <p:nvPr/>
        </p:nvSpPr>
        <p:spPr>
          <a:xfrm>
            <a:off x="6604000" y="5689600"/>
            <a:ext cx="63500" cy="190500"/>
          </a:xfrm>
          <a:prstGeom prst="roundRect">
            <a:avLst/>
          </a:prstGeom>
          <a:solidFill>
            <a:srgbClr val="FFBF69"/>
          </a:solidFill>
          <a:ln w="0">
            <a:noFill/>
          </a:ln>
        </p:spPr>
      </p:sp>
      <p:sp>
        <p:nvSpPr>
          <p:cNvPr id="53" name="Text"/>
          <p:cNvSpPr txBox="1"/>
          <p:nvPr/>
        </p:nvSpPr>
        <p:spPr>
          <a:xfrm>
            <a:off x="10541000" y="5638800"/>
            <a:ext cx="9525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200" b="1">
                <a:solidFill>
                  <a:srgbClr val="F4F7FB"/>
                </a:solidFill>
              </a:rPr>
              <a:t>-0.000</a:t>
            </a:r>
            <a:endParaRPr lang="en-US" sz="1200"/>
          </a:p>
        </p:txBody>
      </p:sp>
      <p:sp>
        <p:nvSpPr>
          <p:cNvPr id="54" name="Text"/>
          <p:cNvSpPr txBox="1"/>
          <p:nvPr/>
        </p:nvSpPr>
        <p:spPr>
          <a:xfrm>
            <a:off x="685800" y="6108700"/>
            <a:ext cx="1016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500" b="1">
                <a:solidFill>
                  <a:srgbClr val="4DD7C5"/>
                </a:solidFill>
              </a:rPr>
              <a:t>Main message: there is no consistent gain across feature groups or outcomes.</a:t>
            </a:r>
            <a:endParaRPr lang="en-US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 showMasterPhAnim="0">
  <p:cSld>
    <p:spTree>
      <p:nvGrpSpPr>
        <p:cNvPr id="1" name=""/>
        <p:cNvGrpSpPr/>
        <p:nvPr/>
      </p:nvGrpSpPr>
      <p:grpSpPr/>
      <p:sp>
        <p:nvSpPr>
          <p:cNvPr id="11" name="Shape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</a:ln>
        </p:spPr>
      </p:sp>
      <p:sp>
        <p:nvSpPr>
          <p:cNvPr id="12" name="Shape"/>
          <p:cNvSpPr txBox="0"/>
          <p:nvPr/>
        </p:nvSpPr>
        <p:spPr>
          <a:xfrm>
            <a:off x="685800" y="406400"/>
            <a:ext cx="76200" cy="431800"/>
          </a:xfrm>
          <a:prstGeom prst="roundRect">
            <a:avLst/>
          </a:prstGeom>
          <a:solidFill>
            <a:srgbClr val="4DD7C5"/>
          </a:solidFill>
          <a:ln w="0"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965200" y="431800"/>
            <a:ext cx="317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000" b="1">
                <a:solidFill>
                  <a:srgbClr val="4DD7C5"/>
                </a:solidFill>
              </a:rPr>
              <a:t>07  ROBUSTNESS</a:t>
            </a:r>
            <a:endParaRPr lang="en-US" sz="1000"/>
          </a:p>
        </p:txBody>
      </p:sp>
      <p:sp>
        <p:nvSpPr>
          <p:cNvPr id="14" name="Text"/>
          <p:cNvSpPr txBox="1"/>
          <p:nvPr/>
        </p:nvSpPr>
        <p:spPr>
          <a:xfrm>
            <a:off x="685800" y="787400"/>
            <a:ext cx="107950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700" b="1">
                <a:solidFill>
                  <a:srgbClr val="F4F7FB"/>
                </a:solidFill>
              </a:rPr>
              <a:t>The result is stable enough to interpret carefully</a:t>
            </a:r>
            <a:endParaRPr lang="en-US" sz="2700"/>
          </a:p>
        </p:txBody>
      </p:sp>
      <p:sp>
        <p:nvSpPr>
          <p:cNvPr id="15" name="Shape"/>
          <p:cNvSpPr txBox="0"/>
          <p:nvPr/>
        </p:nvSpPr>
        <p:spPr>
          <a:xfrm>
            <a:off x="685800" y="1549400"/>
            <a:ext cx="10820400" cy="12700"/>
          </a:xfrm>
          <a:prstGeom prst="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685800" y="6502400"/>
            <a:ext cx="7874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900" b="0">
                <a:solidFill>
                  <a:srgbClr val="A9B8CB"/>
                </a:solidFill>
              </a:rPr>
              <a:t>Citizen Sentiment Analysis of Municipal Services  |  Team 16</a:t>
            </a:r>
            <a:endParaRPr lang="en-US" sz="900"/>
          </a:p>
        </p:txBody>
      </p:sp>
      <p:sp>
        <p:nvSpPr>
          <p:cNvPr id="17" name="Text"/>
          <p:cNvSpPr txBox="1"/>
          <p:nvPr/>
        </p:nvSpPr>
        <p:spPr>
          <a:xfrm>
            <a:off x="10668000" y="6502400"/>
            <a:ext cx="8382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r"/>
            <a:r>
              <a:rPr lang="en-US" sz="900" b="0">
                <a:solidFill>
                  <a:srgbClr val="A9B8CB"/>
                </a:solidFill>
              </a:rPr>
              <a:t>08 / 10</a:t>
            </a:r>
            <a:endParaRPr lang="en-US" sz="900"/>
          </a:p>
        </p:txBody>
      </p:sp>
      <p:pic>
        <p:nvPicPr>
          <p:cNvPr id="18" name="robustness_delta_r2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5800" y="1968500"/>
            <a:ext cx="5969000" cy="3683000"/>
          </a:xfrm>
          <a:prstGeom prst="rect">
            <a:avLst/>
          </a:prstGeom>
        </p:spPr>
      </p:pic>
      <p:sp>
        <p:nvSpPr>
          <p:cNvPr id="19" name="Shape"/>
          <p:cNvSpPr txBox="0"/>
          <p:nvPr/>
        </p:nvSpPr>
        <p:spPr>
          <a:xfrm>
            <a:off x="7239000" y="2032000"/>
            <a:ext cx="3810000" cy="13335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0" name="Shape"/>
          <p:cNvSpPr txBox="0"/>
          <p:nvPr/>
        </p:nvSpPr>
        <p:spPr>
          <a:xfrm>
            <a:off x="7239000" y="2032000"/>
            <a:ext cx="63500" cy="1333500"/>
          </a:xfrm>
          <a:prstGeom prst="roundRect">
            <a:avLst/>
          </a:prstGeom>
          <a:solidFill>
            <a:srgbClr val="4B8BFF"/>
          </a:solidFill>
          <a:ln w="0">
            <a:noFill/>
          </a:ln>
        </p:spPr>
      </p:sp>
      <p:sp>
        <p:nvSpPr>
          <p:cNvPr id="21" name="Text"/>
          <p:cNvSpPr txBox="1"/>
          <p:nvPr/>
        </p:nvSpPr>
        <p:spPr>
          <a:xfrm>
            <a:off x="7467600" y="22352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600" b="1">
                <a:solidFill>
                  <a:srgbClr val="F4F7FB"/>
                </a:solidFill>
              </a:rPr>
              <a:t>Five seeds</a:t>
            </a:r>
            <a:endParaRPr lang="en-US" sz="1600"/>
          </a:p>
        </p:txBody>
      </p:sp>
      <p:sp>
        <p:nvSpPr>
          <p:cNvPr id="22" name="Text"/>
          <p:cNvSpPr txBox="1"/>
          <p:nvPr/>
        </p:nvSpPr>
        <p:spPr>
          <a:xfrm>
            <a:off x="7467600" y="2667000"/>
            <a:ext cx="34036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400" b="0">
                <a:solidFill>
                  <a:srgbClr val="A9B8CB"/>
                </a:solidFill>
              </a:rPr>
              <a:t>Delay mean delta R2: -0.140 +/- 0.016</a:t>
            </a:r>
            <a:endParaRPr lang="en-US" sz="1400"/>
          </a:p>
          <a:p>
            <a:pPr algn="l"/>
            <a:r>
              <a:rPr lang="en-US" sz="1400" b="0">
                <a:solidFill>
                  <a:srgbClr val="A9B8CB"/>
                </a:solidFill>
              </a:rPr>
              <a:t>Repeat mean delta R2: -0.001 +/- 0.002</a:t>
            </a:r>
            <a:endParaRPr lang="en-US" sz="1400"/>
          </a:p>
        </p:txBody>
      </p:sp>
      <p:sp>
        <p:nvSpPr>
          <p:cNvPr id="23" name="Shape"/>
          <p:cNvSpPr txBox="0"/>
          <p:nvPr/>
        </p:nvSpPr>
        <p:spPr>
          <a:xfrm>
            <a:off x="7239000" y="3619500"/>
            <a:ext cx="3810000" cy="13335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4" name="Shape"/>
          <p:cNvSpPr txBox="0"/>
          <p:nvPr/>
        </p:nvSpPr>
        <p:spPr>
          <a:xfrm>
            <a:off x="7239000" y="3619500"/>
            <a:ext cx="63500" cy="1333500"/>
          </a:xfrm>
          <a:prstGeom prst="roundRect">
            <a:avLst/>
          </a:prstGeom>
          <a:solidFill>
            <a:srgbClr val="FFBF69"/>
          </a:solidFill>
          <a:ln w="0">
            <a:noFill/>
          </a:ln>
        </p:spPr>
      </p:sp>
      <p:sp>
        <p:nvSpPr>
          <p:cNvPr id="25" name="Text"/>
          <p:cNvSpPr txBox="1"/>
          <p:nvPr/>
        </p:nvSpPr>
        <p:spPr>
          <a:xfrm>
            <a:off x="7467600" y="3822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600" b="1">
                <a:solidFill>
                  <a:srgbClr val="F4F7FB"/>
                </a:solidFill>
              </a:rPr>
              <a:t>Bootstrap intervals</a:t>
            </a:r>
            <a:endParaRPr lang="en-US" sz="1600"/>
          </a:p>
        </p:txBody>
      </p:sp>
      <p:sp>
        <p:nvSpPr>
          <p:cNvPr id="26" name="Text"/>
          <p:cNvSpPr txBox="1"/>
          <p:nvPr/>
        </p:nvSpPr>
        <p:spPr>
          <a:xfrm>
            <a:off x="7467600" y="4254500"/>
            <a:ext cx="3403600" cy="5461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400" b="0">
                <a:solidFill>
                  <a:srgbClr val="A9B8CB"/>
                </a:solidFill>
              </a:rPr>
              <a:t>Delay: [-0.228, -0.040]</a:t>
            </a:r>
            <a:endParaRPr lang="en-US" sz="1400"/>
          </a:p>
          <a:p>
            <a:pPr algn="l"/>
            <a:r>
              <a:rPr lang="en-US" sz="1400" b="0">
                <a:solidFill>
                  <a:srgbClr val="A9B8CB"/>
                </a:solidFill>
              </a:rPr>
              <a:t>Repeat: [-0.007, +0.006]</a:t>
            </a:r>
            <a:endParaRPr lang="en-US" sz="1400"/>
          </a:p>
        </p:txBody>
      </p:sp>
      <p:sp>
        <p:nvSpPr>
          <p:cNvPr id="27" name="Text"/>
          <p:cNvSpPr txBox="1"/>
          <p:nvPr/>
        </p:nvSpPr>
        <p:spPr>
          <a:xfrm>
            <a:off x="7239000" y="5334000"/>
            <a:ext cx="3810000" cy="736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600" b="0">
                <a:solidFill>
                  <a:srgbClr val="A9B8CB"/>
                </a:solidFill>
              </a:rPr>
              <a:t>The repeat-rate interval is close to zero. The delay result is negative across the tested resamples.</a:t>
            </a:r>
            <a:endParaRPr lang="en-US" sz="1600"/>
          </a:p>
        </p:txBody>
      </p:sp>
      <p:sp>
        <p:nvSpPr>
          <p:cNvPr id="28" name="Text"/>
          <p:cNvSpPr txBox="1"/>
          <p:nvPr/>
        </p:nvSpPr>
        <p:spPr>
          <a:xfrm>
            <a:off x="685800" y="6032500"/>
            <a:ext cx="10414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300" b="1">
                <a:solidFill>
                  <a:srgbClr val="4DD7C5"/>
                </a:solidFill>
              </a:rPr>
              <a:t>Statistical note: p-values come from paired absolute prediction-error tests, not a direct test of delta R2.</a:t>
            </a:r>
            <a:endParaRPr lang="en-US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showMasterSp="0" showMasterPhAnim="0">
  <p:cSld>
    <p:spTree>
      <p:nvGrpSpPr>
        <p:cNvPr id="1" name=""/>
        <p:cNvGrpSpPr/>
        <p:nvPr/>
      </p:nvGrpSpPr>
      <p:grpSpPr/>
      <p:sp>
        <p:nvSpPr>
          <p:cNvPr id="11" name="Shape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</a:ln>
        </p:spPr>
      </p:sp>
      <p:sp>
        <p:nvSpPr>
          <p:cNvPr id="12" name="Shape"/>
          <p:cNvSpPr txBox="0"/>
          <p:nvPr/>
        </p:nvSpPr>
        <p:spPr>
          <a:xfrm>
            <a:off x="685800" y="406400"/>
            <a:ext cx="76200" cy="431800"/>
          </a:xfrm>
          <a:prstGeom prst="roundRect">
            <a:avLst/>
          </a:prstGeom>
          <a:solidFill>
            <a:srgbClr val="4DD7C5"/>
          </a:solidFill>
          <a:ln w="0"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965200" y="431800"/>
            <a:ext cx="317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000" b="1">
                <a:solidFill>
                  <a:srgbClr val="4DD7C5"/>
                </a:solidFill>
              </a:rPr>
              <a:t>08  DASHBOARD</a:t>
            </a:r>
            <a:endParaRPr lang="en-US" sz="1000"/>
          </a:p>
        </p:txBody>
      </p:sp>
      <p:sp>
        <p:nvSpPr>
          <p:cNvPr id="14" name="Text"/>
          <p:cNvSpPr txBox="1"/>
          <p:nvPr/>
        </p:nvSpPr>
        <p:spPr>
          <a:xfrm>
            <a:off x="685800" y="787400"/>
            <a:ext cx="107950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700" b="1">
                <a:solidFill>
                  <a:srgbClr val="F4F7FB"/>
                </a:solidFill>
              </a:rPr>
              <a:t>The dashboard turns evidence into an action queue</a:t>
            </a:r>
            <a:endParaRPr lang="en-US" sz="2700"/>
          </a:p>
        </p:txBody>
      </p:sp>
      <p:sp>
        <p:nvSpPr>
          <p:cNvPr id="15" name="Shape"/>
          <p:cNvSpPr txBox="0"/>
          <p:nvPr/>
        </p:nvSpPr>
        <p:spPr>
          <a:xfrm>
            <a:off x="685800" y="1549400"/>
            <a:ext cx="10820400" cy="12700"/>
          </a:xfrm>
          <a:prstGeom prst="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685800" y="6502400"/>
            <a:ext cx="7874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900" b="0">
                <a:solidFill>
                  <a:srgbClr val="A9B8CB"/>
                </a:solidFill>
              </a:rPr>
              <a:t>Citizen Sentiment Analysis of Municipal Services  |  Team 16</a:t>
            </a:r>
            <a:endParaRPr lang="en-US" sz="900"/>
          </a:p>
        </p:txBody>
      </p:sp>
      <p:sp>
        <p:nvSpPr>
          <p:cNvPr id="17" name="Text"/>
          <p:cNvSpPr txBox="1"/>
          <p:nvPr/>
        </p:nvSpPr>
        <p:spPr>
          <a:xfrm>
            <a:off x="10668000" y="6502400"/>
            <a:ext cx="8382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r"/>
            <a:r>
              <a:rPr lang="en-US" sz="900" b="0">
                <a:solidFill>
                  <a:srgbClr val="A9B8CB"/>
                </a:solidFill>
              </a:rPr>
              <a:t>09 / 10</a:t>
            </a:r>
            <a:endParaRPr lang="en-US" sz="900"/>
          </a:p>
        </p:txBody>
      </p:sp>
      <p:sp>
        <p:nvSpPr>
          <p:cNvPr id="18" name="Shape"/>
          <p:cNvSpPr txBox="0"/>
          <p:nvPr/>
        </p:nvSpPr>
        <p:spPr>
          <a:xfrm>
            <a:off x="685800" y="2032000"/>
            <a:ext cx="4953000" cy="31115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19" name="Text"/>
          <p:cNvSpPr txBox="1"/>
          <p:nvPr/>
        </p:nvSpPr>
        <p:spPr>
          <a:xfrm>
            <a:off x="1016000" y="2349500"/>
            <a:ext cx="3937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000" b="1">
                <a:solidFill>
                  <a:srgbClr val="4DD7C5"/>
                </a:solidFill>
              </a:rPr>
              <a:t>Municipal operations</a:t>
            </a:r>
            <a:endParaRPr lang="en-US" sz="2000"/>
          </a:p>
        </p:txBody>
      </p:sp>
      <p:sp>
        <p:nvSpPr>
          <p:cNvPr id="20" name="Text"/>
          <p:cNvSpPr txBox="1"/>
          <p:nvPr/>
        </p:nvSpPr>
        <p:spPr>
          <a:xfrm>
            <a:off x="1016000" y="2984500"/>
            <a:ext cx="3937000" cy="1422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700" b="0">
                <a:solidFill>
                  <a:srgbClr val="A9B8CB"/>
                </a:solidFill>
              </a:rPr>
              <a:t>- rank service cells by priority</a:t>
            </a:r>
            <a:endParaRPr lang="en-US" sz="1700"/>
          </a:p>
          <a:p>
            <a:pPr algn="l"/>
            <a:r>
              <a:rPr lang="en-US" sz="1700" b="0">
                <a:solidFill>
                  <a:srgbClr val="A9B8CB"/>
                </a:solidFill>
              </a:rPr>
              <a:t>- compare boroughs and services</a:t>
            </a:r>
            <a:endParaRPr lang="en-US" sz="1700"/>
          </a:p>
          <a:p>
            <a:pPr algn="l"/>
            <a:r>
              <a:rPr lang="en-US" sz="1700" b="0">
                <a:solidFill>
                  <a:srgbClr val="A9B8CB"/>
                </a:solidFill>
              </a:rPr>
              <a:t>- inspect delay, repeat and dissatisfaction</a:t>
            </a:r>
            <a:endParaRPr lang="en-US" sz="1700"/>
          </a:p>
          <a:p>
            <a:pPr algn="l"/>
            <a:r>
              <a:rPr lang="en-US" sz="1700" b="0">
                <a:solidFill>
                  <a:srgbClr val="A9B8CB"/>
                </a:solidFill>
              </a:rPr>
              <a:t>- review model evidence before acting</a:t>
            </a:r>
            <a:endParaRPr lang="en-US" sz="1700"/>
          </a:p>
        </p:txBody>
      </p:sp>
      <p:sp>
        <p:nvSpPr>
          <p:cNvPr id="21" name="Shape"/>
          <p:cNvSpPr txBox="0"/>
          <p:nvPr/>
        </p:nvSpPr>
        <p:spPr>
          <a:xfrm>
            <a:off x="6553200" y="2032000"/>
            <a:ext cx="4953000" cy="31115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2" name="Text"/>
          <p:cNvSpPr txBox="1"/>
          <p:nvPr/>
        </p:nvSpPr>
        <p:spPr>
          <a:xfrm>
            <a:off x="6883400" y="2349500"/>
            <a:ext cx="3937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000" b="1">
                <a:solidFill>
                  <a:srgbClr val="FFBF69"/>
                </a:solidFill>
              </a:rPr>
              <a:t>Resident view</a:t>
            </a:r>
            <a:endParaRPr lang="en-US" sz="2000"/>
          </a:p>
        </p:txBody>
      </p:sp>
      <p:sp>
        <p:nvSpPr>
          <p:cNvPr id="23" name="Text"/>
          <p:cNvSpPr txBox="1"/>
          <p:nvPr/>
        </p:nvSpPr>
        <p:spPr>
          <a:xfrm>
            <a:off x="6883400" y="2984500"/>
            <a:ext cx="3937000" cy="1422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700" b="0">
                <a:solidFill>
                  <a:srgbClr val="A9B8CB"/>
                </a:solidFill>
              </a:rPr>
              <a:t>- read the current service picture</a:t>
            </a:r>
            <a:endParaRPr lang="en-US" sz="1700"/>
          </a:p>
          <a:p>
            <a:pPr algn="l"/>
            <a:r>
              <a:rPr lang="en-US" sz="1700" b="0">
                <a:solidFill>
                  <a:srgbClr val="A9B8CB"/>
                </a:solidFill>
              </a:rPr>
              <a:t>- understand what each metric means</a:t>
            </a:r>
            <a:endParaRPr lang="en-US" sz="1700"/>
          </a:p>
          <a:p>
            <a:pPr algn="l"/>
            <a:r>
              <a:rPr lang="en-US" sz="1700" b="0">
                <a:solidFill>
                  <a:srgbClr val="A9B8CB"/>
                </a:solidFill>
              </a:rPr>
              <a:t>- see where attention is needed</a:t>
            </a:r>
            <a:endParaRPr lang="en-US" sz="1700"/>
          </a:p>
          <a:p>
            <a:pPr algn="l"/>
            <a:r>
              <a:rPr lang="en-US" sz="1700" b="0">
                <a:solidFill>
                  <a:srgbClr val="A9B8CB"/>
                </a:solidFill>
              </a:rPr>
              <a:t>- use plain language instead of model jargon</a:t>
            </a:r>
            <a:endParaRPr lang="en-US" sz="1700"/>
          </a:p>
        </p:txBody>
      </p:sp>
      <p:sp>
        <p:nvSpPr>
          <p:cNvPr id="24" name="Shape"/>
          <p:cNvSpPr txBox="0"/>
          <p:nvPr/>
        </p:nvSpPr>
        <p:spPr>
          <a:xfrm>
            <a:off x="685800" y="5461000"/>
            <a:ext cx="2159000" cy="9906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5" name="Text"/>
          <p:cNvSpPr txBox="1"/>
          <p:nvPr/>
        </p:nvSpPr>
        <p:spPr>
          <a:xfrm>
            <a:off x="863600" y="5613400"/>
            <a:ext cx="1803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300" b="1">
                <a:solidFill>
                  <a:srgbClr val="4B8BFF"/>
                </a:solidFill>
              </a:rPr>
              <a:t>0.100</a:t>
            </a:r>
            <a:endParaRPr lang="en-US" sz="2300"/>
          </a:p>
        </p:txBody>
      </p:sp>
      <p:sp>
        <p:nvSpPr>
          <p:cNvPr id="26" name="Text"/>
          <p:cNvSpPr txBox="1"/>
          <p:nvPr/>
        </p:nvSpPr>
        <p:spPr>
          <a:xfrm>
            <a:off x="863600" y="6057900"/>
            <a:ext cx="1803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Precision@10</a:t>
            </a:r>
            <a:endParaRPr lang="en-US" sz="1100"/>
          </a:p>
        </p:txBody>
      </p:sp>
      <p:sp>
        <p:nvSpPr>
          <p:cNvPr id="27" name="Shape"/>
          <p:cNvSpPr txBox="0"/>
          <p:nvPr/>
        </p:nvSpPr>
        <p:spPr>
          <a:xfrm>
            <a:off x="3073400" y="5461000"/>
            <a:ext cx="2159000" cy="9906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28" name="Text"/>
          <p:cNvSpPr txBox="1"/>
          <p:nvPr/>
        </p:nvSpPr>
        <p:spPr>
          <a:xfrm>
            <a:off x="3251200" y="5613400"/>
            <a:ext cx="1803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300" b="1">
                <a:solidFill>
                  <a:srgbClr val="4DD7C5"/>
                </a:solidFill>
              </a:rPr>
              <a:t>9.94x</a:t>
            </a:r>
            <a:endParaRPr lang="en-US" sz="2300"/>
          </a:p>
        </p:txBody>
      </p:sp>
      <p:sp>
        <p:nvSpPr>
          <p:cNvPr id="29" name="Text"/>
          <p:cNvSpPr txBox="1"/>
          <p:nvPr/>
        </p:nvSpPr>
        <p:spPr>
          <a:xfrm>
            <a:off x="3251200" y="6057900"/>
            <a:ext cx="1803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top-10 lift</a:t>
            </a:r>
            <a:endParaRPr lang="en-US" sz="1100"/>
          </a:p>
        </p:txBody>
      </p:sp>
      <p:sp>
        <p:nvSpPr>
          <p:cNvPr id="30" name="Shape"/>
          <p:cNvSpPr txBox="0"/>
          <p:nvPr/>
        </p:nvSpPr>
        <p:spPr>
          <a:xfrm>
            <a:off x="5461000" y="5461000"/>
            <a:ext cx="2159000" cy="9906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31" name="Text"/>
          <p:cNvSpPr txBox="1"/>
          <p:nvPr/>
        </p:nvSpPr>
        <p:spPr>
          <a:xfrm>
            <a:off x="5638800" y="5613400"/>
            <a:ext cx="1803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300" b="1">
                <a:solidFill>
                  <a:srgbClr val="FFBF69"/>
                </a:solidFill>
              </a:rPr>
              <a:t>0.859</a:t>
            </a:r>
            <a:endParaRPr lang="en-US" sz="2300"/>
          </a:p>
        </p:txBody>
      </p:sp>
      <p:sp>
        <p:nvSpPr>
          <p:cNvPr id="32" name="Text"/>
          <p:cNvSpPr txBox="1"/>
          <p:nvPr/>
        </p:nvSpPr>
        <p:spPr>
          <a:xfrm>
            <a:off x="5638800" y="6057900"/>
            <a:ext cx="18034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100" b="0">
                <a:solidFill>
                  <a:srgbClr val="A9B8CB"/>
                </a:solidFill>
              </a:rPr>
              <a:t>NDCG@10</a:t>
            </a:r>
            <a:endParaRPr lang="en-US" sz="1100"/>
          </a:p>
        </p:txBody>
      </p:sp>
      <p:sp>
        <p:nvSpPr>
          <p:cNvPr id="33" name="Text"/>
          <p:cNvSpPr txBox="1"/>
          <p:nvPr/>
        </p:nvSpPr>
        <p:spPr>
          <a:xfrm>
            <a:off x="8102600" y="5676900"/>
            <a:ext cx="3365500" cy="482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400" b="0">
                <a:solidFill>
                  <a:srgbClr val="A9B8CB"/>
                </a:solidFill>
              </a:rPr>
              <a:t>The dashboard is a prioritisation tool, not proof that the model solves each individual case.</a:t>
            </a:r>
            <a:endParaRPr lang="en-US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showMasterSp="0" showMasterPhAnim="0">
  <p:cSld>
    <p:spTree>
      <p:nvGrpSpPr>
        <p:cNvPr id="1" name=""/>
        <p:cNvGrpSpPr/>
        <p:nvPr/>
      </p:nvGrpSpPr>
      <p:grpSpPr/>
      <p:sp>
        <p:nvSpPr>
          <p:cNvPr id="11" name="Shape"/>
          <p:cNvSpPr txBox="0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 w="0">
            <a:noFill/>
          </a:ln>
        </p:spPr>
      </p:sp>
      <p:sp>
        <p:nvSpPr>
          <p:cNvPr id="12" name="Shape"/>
          <p:cNvSpPr txBox="0"/>
          <p:nvPr/>
        </p:nvSpPr>
        <p:spPr>
          <a:xfrm>
            <a:off x="685800" y="406400"/>
            <a:ext cx="76200" cy="431800"/>
          </a:xfrm>
          <a:prstGeom prst="roundRect">
            <a:avLst/>
          </a:prstGeom>
          <a:solidFill>
            <a:srgbClr val="4DD7C5"/>
          </a:solidFill>
          <a:ln w="0">
            <a:noFill/>
          </a:ln>
        </p:spPr>
      </p:sp>
      <p:sp>
        <p:nvSpPr>
          <p:cNvPr id="13" name="Text"/>
          <p:cNvSpPr txBox="1"/>
          <p:nvPr/>
        </p:nvSpPr>
        <p:spPr>
          <a:xfrm>
            <a:off x="965200" y="431800"/>
            <a:ext cx="3175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000" b="1">
                <a:solidFill>
                  <a:srgbClr val="4DD7C5"/>
                </a:solidFill>
              </a:rPr>
              <a:t>09  TAKEAWAY</a:t>
            </a:r>
            <a:endParaRPr lang="en-US" sz="1000"/>
          </a:p>
        </p:txBody>
      </p:sp>
      <p:sp>
        <p:nvSpPr>
          <p:cNvPr id="14" name="Text"/>
          <p:cNvSpPr txBox="1"/>
          <p:nvPr/>
        </p:nvSpPr>
        <p:spPr>
          <a:xfrm>
            <a:off x="685800" y="787400"/>
            <a:ext cx="10795000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2700" b="1">
                <a:solidFill>
                  <a:srgbClr val="F4F7FB"/>
                </a:solidFill>
              </a:rPr>
              <a:t>What we can confidently say</a:t>
            </a:r>
            <a:endParaRPr lang="en-US" sz="2700"/>
          </a:p>
        </p:txBody>
      </p:sp>
      <p:sp>
        <p:nvSpPr>
          <p:cNvPr id="15" name="Shape"/>
          <p:cNvSpPr txBox="0"/>
          <p:nvPr/>
        </p:nvSpPr>
        <p:spPr>
          <a:xfrm>
            <a:off x="685800" y="1549400"/>
            <a:ext cx="10820400" cy="12700"/>
          </a:xfrm>
          <a:prstGeom prst="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16" name="Text"/>
          <p:cNvSpPr txBox="1"/>
          <p:nvPr/>
        </p:nvSpPr>
        <p:spPr>
          <a:xfrm>
            <a:off x="685800" y="6502400"/>
            <a:ext cx="7874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900" b="0">
                <a:solidFill>
                  <a:srgbClr val="A9B8CB"/>
                </a:solidFill>
              </a:rPr>
              <a:t>Citizen Sentiment Analysis of Municipal Services  |  Team 16</a:t>
            </a:r>
            <a:endParaRPr lang="en-US" sz="900"/>
          </a:p>
        </p:txBody>
      </p:sp>
      <p:sp>
        <p:nvSpPr>
          <p:cNvPr id="17" name="Text"/>
          <p:cNvSpPr txBox="1"/>
          <p:nvPr/>
        </p:nvSpPr>
        <p:spPr>
          <a:xfrm>
            <a:off x="10668000" y="6502400"/>
            <a:ext cx="8382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r"/>
            <a:r>
              <a:rPr lang="en-US" sz="900" b="0">
                <a:solidFill>
                  <a:srgbClr val="A9B8CB"/>
                </a:solidFill>
              </a:rPr>
              <a:t>10 / 10</a:t>
            </a:r>
            <a:endParaRPr lang="en-US" sz="900"/>
          </a:p>
        </p:txBody>
      </p:sp>
      <p:sp>
        <p:nvSpPr>
          <p:cNvPr id="18" name="Shape"/>
          <p:cNvSpPr txBox="0"/>
          <p:nvPr/>
        </p:nvSpPr>
        <p:spPr>
          <a:xfrm>
            <a:off x="685800" y="2032000"/>
            <a:ext cx="10795000" cy="1193800"/>
          </a:xfrm>
          <a:prstGeom prst="roundRect">
            <a:avLst/>
          </a:prstGeom>
          <a:solidFill>
            <a:srgbClr val="121D2D"/>
          </a:solidFill>
          <a:ln w="0">
            <a:noFill/>
          </a:ln>
        </p:spPr>
      </p:sp>
      <p:sp>
        <p:nvSpPr>
          <p:cNvPr id="19" name="Text"/>
          <p:cNvSpPr txBox="1"/>
          <p:nvPr/>
        </p:nvSpPr>
        <p:spPr>
          <a:xfrm>
            <a:off x="1041400" y="2387600"/>
            <a:ext cx="10033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c"/>
            <a:r>
              <a:rPr lang="en-US" sz="2200" b="1">
                <a:solidFill>
                  <a:srgbClr val="F4F7FB"/>
                </a:solidFill>
              </a:rPr>
              <a:t>NLP adds useful context, but it did not produce a consistent improvement over persistence in the corrected out-of-time test.</a:t>
            </a:r>
            <a:endParaRPr lang="en-US" sz="2200"/>
          </a:p>
        </p:txBody>
      </p:sp>
      <p:sp>
        <p:nvSpPr>
          <p:cNvPr id="20" name="Text"/>
          <p:cNvSpPr txBox="1"/>
          <p:nvPr/>
        </p:nvSpPr>
        <p:spPr>
          <a:xfrm>
            <a:off x="685800" y="3810000"/>
            <a:ext cx="38100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800" b="1">
                <a:solidFill>
                  <a:srgbClr val="4DD7C5"/>
                </a:solidFill>
              </a:rPr>
              <a:t>Three points to remember</a:t>
            </a:r>
            <a:endParaRPr lang="en-US" sz="1800"/>
          </a:p>
        </p:txBody>
      </p:sp>
      <p:sp>
        <p:nvSpPr>
          <p:cNvPr id="21" name="Text"/>
          <p:cNvSpPr txBox="1"/>
          <p:nvPr/>
        </p:nvSpPr>
        <p:spPr>
          <a:xfrm>
            <a:off x="685800" y="4343400"/>
            <a:ext cx="10160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800" b="0">
                <a:solidFill>
                  <a:srgbClr val="A9B8CB"/>
                </a:solidFill>
              </a:rPr>
              <a:t>1. The data integration and time split are reproducible.</a:t>
            </a:r>
            <a:endParaRPr lang="en-US" sz="1800"/>
          </a:p>
          <a:p>
            <a:pPr algn="l"/>
            <a:r>
              <a:rPr lang="en-US" sz="1800" b="0">
                <a:solidFill>
                  <a:srgbClr val="A9B8CB"/>
                </a:solidFill>
              </a:rPr>
              <a:t>2. The corrected negative / near-null result is more credible than an inflated positive claim.</a:t>
            </a:r>
            <a:endParaRPr lang="en-US" sz="1800"/>
          </a:p>
          <a:p>
            <a:pPr algn="l"/>
            <a:r>
              <a:rPr lang="en-US" sz="1800" b="0">
                <a:solidFill>
                  <a:srgbClr val="A9B8CB"/>
                </a:solidFill>
              </a:rPr>
              <a:t>3. The dashboard still helps municipalities review and prioritise service cells.</a:t>
            </a:r>
            <a:endParaRPr lang="en-US" sz="1800"/>
          </a:p>
        </p:txBody>
      </p:sp>
      <p:sp>
        <p:nvSpPr>
          <p:cNvPr id="22" name="Shape"/>
          <p:cNvSpPr txBox="0"/>
          <p:nvPr/>
        </p:nvSpPr>
        <p:spPr>
          <a:xfrm>
            <a:off x="685800" y="6019800"/>
            <a:ext cx="10820400" cy="12700"/>
          </a:xfrm>
          <a:prstGeom prst="rect">
            <a:avLst/>
          </a:prstGeom>
          <a:solidFill>
            <a:srgbClr val="17243A"/>
          </a:solidFill>
          <a:ln w="0">
            <a:noFill/>
          </a:ln>
        </p:spPr>
      </p:sp>
      <p:sp>
        <p:nvSpPr>
          <p:cNvPr id="23" name="Text"/>
          <p:cNvSpPr txBox="1"/>
          <p:nvPr/>
        </p:nvSpPr>
        <p:spPr>
          <a:xfrm>
            <a:off x="685800" y="6223000"/>
            <a:ext cx="10414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12700" rIns="12700" tIns="6350" bIns="6350"/>
          <a:lstStyle/>
          <a:p>
            <a:pPr algn="l"/>
            <a:r>
              <a:rPr lang="en-US" sz="1400" b="1">
                <a:solidFill>
                  <a:srgbClr val="FFBF69"/>
                </a:solidFill>
              </a:rPr>
              <a:t>Next research step: validate on genuine citizen free text and another city before claiming generalisation.</a:t>
            </a:r>
            <a:endParaRPr 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am16 Dark">
  <a:themeElements>
    <a:clrScheme name="Team16">
      <a:dk1>
        <a:srgbClr val="0B1220"/>
      </a:dk1>
      <a:lt1>
        <a:srgbClr val="F4F7FB"/>
      </a:lt1>
      <a:dk2>
        <a:srgbClr val="121D2D"/>
      </a:dk2>
      <a:lt2>
        <a:srgbClr val="A9B8CB"/>
      </a:lt2>
      <a:accent1>
        <a:srgbClr val="4DD7C5"/>
      </a:accent1>
      <a:accent2>
        <a:srgbClr val="4B8BFF"/>
      </a:accent2>
      <a:accent3>
        <a:srgbClr val="FFBF69"/>
      </a:accent3>
      <a:accent4>
        <a:srgbClr val="FF6B6B"/>
      </a:accent4>
      <a:accent5>
        <a:srgbClr val="AE84FF"/>
      </a:accent5>
      <a:accent6>
        <a:srgbClr val="6FE7A0"/>
      </a:accent6>
    </a:clrScheme>
    <a:fontScheme name="Team16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>
      <a:fillStyleLst/>
      <a:lnStyleLst/>
      <a:effectStyleLst/>
      <a:bgFillStyleLst/>
    </a:fmtScheme>
  </a:themeElements>
</a:theme>
</file>