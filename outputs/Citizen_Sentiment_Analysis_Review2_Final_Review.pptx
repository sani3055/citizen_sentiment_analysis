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0"/>
            <a:ext cx="3429000" cy="6858000"/>
          </a:xfrm>
          <a:prstGeom prst="rect">
            <a:avLst/>
          </a:prstGeom>
          <a:solidFill>
            <a:srgbClr val="111C2C"/>
          </a:solidFill>
          <a:ln w="8890">
            <a:solidFill>
              <a:srgbClr val="111C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0"/>
            <a:ext cx="91440" cy="6858000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7315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 |  DESIGN OF SMART CITIES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" y="1417320"/>
            <a:ext cx="7040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Citizen Sentiment Analysis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Municipal Services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Transformer-Based NLP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82219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Review-2 / Final Review Presentation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459028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Vellore Institute of Technology  •  SCOPE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88289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Guide: Dr. Kalaavathi 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519379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Taher Panbiharwala  •  Sanidhya Bhandari  •  Chinmoy Deb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5504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/ Team 16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We combine NYC 311 and satisfaction data.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NLP supports municipal service prediction.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281160" y="187452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reproducible civic intelligence pipeline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open data to decision support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81160" y="2852928"/>
            <a:ext cx="2350008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1.20M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281160" y="35478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311 service requests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81160" y="4041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406.6K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281160" y="4434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responses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NLP adds evidence beyond traditional operational KPIs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Traditional KPIs measure ticket volume and closure time, but not citizen experience.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Our study tests whether NLP adds useful evidence for municipal service prediction.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190195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adding sentiment, topic, and grievance signals improve out-of-time prediction of resolution delay and repeat complaints?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target-specific: the corrected experiment supports a significant delay gain, while repeat-rate improvement remains an observed but uncertain signal.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74920" y="1591056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591056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700784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+0.0289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39512" y="20665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ΔR² | p = 0.00020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24928" y="1591056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24928" y="1591056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700784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+0.0257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89520" y="20665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ΔR² | p = 0.733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2834640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283464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2944368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/ 16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39512" y="331012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tests passing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24928" y="2834640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24928" y="283464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944368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589520" y="331012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cells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4920" y="4142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ready for review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74920" y="44622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1" name="Text 29"/>
          <p:cNvSpPr/>
          <p:nvPr/>
        </p:nvSpPr>
        <p:spPr>
          <a:xfrm>
            <a:off x="5276088" y="446227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Audited multi-source data pipeline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5074920" y="47823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3" name="Text 31"/>
          <p:cNvSpPr/>
          <p:nvPr/>
        </p:nvSpPr>
        <p:spPr>
          <a:xfrm>
            <a:off x="5276088" y="478231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VADER, LDA, BERTopic, ABSA, and DistilBERT experiments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5074920" y="510235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5" name="Text 33"/>
          <p:cNvSpPr/>
          <p:nvPr/>
        </p:nvSpPr>
        <p:spPr>
          <a:xfrm>
            <a:off x="5276088" y="510235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model comparison with robustness analysis</a:t>
            </a:r>
            <a:endParaRPr lang="en-US" sz="1330" dirty="0"/>
          </a:p>
        </p:txBody>
      </p:sp>
      <p:sp>
        <p:nvSpPr>
          <p:cNvPr id="36" name="Text 34"/>
          <p:cNvSpPr/>
          <p:nvPr/>
        </p:nvSpPr>
        <p:spPr>
          <a:xfrm>
            <a:off x="5074920" y="54223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7" name="Text 35"/>
          <p:cNvSpPr/>
          <p:nvPr/>
        </p:nvSpPr>
        <p:spPr>
          <a:xfrm>
            <a:off x="5276088" y="542239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Two-sided Streamlit dashboard for operations and residents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MOTIVATION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Administrative closure does not equal citizen satisfaction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 ticket marked closed does not always mean that the citizen feels the issue was solved.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We connect operational complaints with citizen dissatisfaction signals.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72768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KPI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32688" y="23317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33856" y="2331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volume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33856" y="272491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Open-to-close time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11810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3856" y="31181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and staffing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" y="3511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33856" y="351129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status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04688" y="1572768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51576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reality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751576" y="23317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52744" y="2331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issue corrected?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1576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52744" y="272491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request recur?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51576" y="311810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52744" y="31181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communication adequate?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51576" y="3511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52744" y="351129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work satisfactory?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80560" y="2834640"/>
            <a:ext cx="1024128" cy="0"/>
          </a:xfrm>
          <a:prstGeom prst="line">
            <a:avLst/>
          </a:prstGeom>
          <a:noFill/>
          <a:ln w="31750">
            <a:solidFill>
              <a:srgbClr val="4CC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4871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" y="4443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opportunity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880360" y="442569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public survey ground truth and operational narratives to test whether citizen-perceived friction contains incremental predictive information.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study tests predictive value, not causality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We compare a structured-data model with a model that also uses NLP features.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results show predictive association and do not claim cause and effect.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10835640" cy="960120"/>
          </a:xfrm>
          <a:prstGeom prst="roundRect">
            <a:avLst>
              <a:gd name="adj" fmla="val 11429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16824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augmenting structured operational indicators with NLP sentiment, topic, and aspect signals improve out-of-time prediction?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779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4983480" cy="1143000"/>
          </a:xfrm>
          <a:prstGeom prst="roundRect">
            <a:avLst>
              <a:gd name="adj" fmla="val 9600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01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  |  Delay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features improve prediction of resolution delay.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154680"/>
            <a:ext cx="4983480" cy="1143000"/>
          </a:xfrm>
          <a:prstGeom prst="roundRect">
            <a:avLst>
              <a:gd name="adj" fmla="val 9600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 |  Repeat rate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19088" y="3749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features improve prediction of 14-day repeat requests.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919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rule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6032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findings are aggregate predictive associations at service × borough × month grain.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AUDIT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authentic NYC Open Data sources create complementary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NYC 311 dataset contains 1,199,279 service-request records.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RSAT dataset contains 406,581 satisfaction survey responses.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72768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NYC 311 service requests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Socrata ID: erm2-nwe9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1,199,279 records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60120" y="312724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1288" y="31272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closure narratives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1288" y="343814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and closed timestamps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" y="3749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and repeat-request outcomes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599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61288" y="405993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20 service categories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44768" y="1572768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847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Satisfaction Survey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19088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Socrata ID: 5ijn-vbdv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19088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406,581 responses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6419088" y="312724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0256" y="31272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5-point satisfaction ground truth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19088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0256" y="343814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dissatisfaction reasons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19088" y="37490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0256" y="3749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Borough and month fields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19088" y="40599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0256" y="405993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free-text suppressed for PII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decision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240280" y="48646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is extracted from NYC 311 resolution narratives; RSAT supplies survey-level labels and satisfaction aggregates.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join is privacy-safe and the evaluation is chronological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We aggregate both sources by service, borough, year, and month for privacy-safe integration.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Chronological splits prevent future information from entering earlier predictions.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cell grain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10835640" cy="777240"/>
          </a:xfrm>
          <a:prstGeom prst="roundRect">
            <a:avLst>
              <a:gd name="adj" fmla="val 14118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67128"/>
            <a:ext cx="10378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= (service, borough, year, month)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85800" y="29443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one-to-one survey-to-ticket join is claimed.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partitions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Jan–Aug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69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586 cells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Sep–Dec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445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213 cells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010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21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OUT-OF-TIME TEST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021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horizon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021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 cells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survey reveals a strongly negative satisfaction distribution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Approximately 62.14% of validated survey responses were dissatisfied.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This confirms that citizen dissatisfaction is a meaningful research signal.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6B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62.14%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validated RSAT responses are dissatisfied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correction is the largest standardized grievance aspect (42.7% of dissatisfied responses).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1481328"/>
            <a:ext cx="6309360" cy="3154680"/>
          </a:xfrm>
          <a:prstGeom prst="roundRect">
            <a:avLst>
              <a:gd name="adj" fmla="val 3478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4" name="Image 0" descr="D:\CITY PRJ\reports\figures\rsat_satisfaction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09928"/>
            <a:ext cx="5852160" cy="2606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satisfaction distribution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971800" y="483717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skew establishes a meaningful citizen-distress signal for later aggregation and modeling.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METHODOLOGY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NLP stack moves from baselines to domain adaptation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VADER provides a simple sentiment baseline for comparison.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Topic models, ABSA, and DistilBERT provide deeper language analysis.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Lexicon sentiment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0.655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F1 0.800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+ BERTopic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7472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Themes and clusters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Cᵥ 0.5100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semantic clusters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grievance aspects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macro-F1 0.1723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baseline 0.1295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6676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DistilBERT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9536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fine-tuning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macro-F1 0.3491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0.4148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554480" y="4617720"/>
            <a:ext cx="9098280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boundary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240280" y="4864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narratives are agency text; RSAT provides the citizen-grounded labels and satisfaction aggregates.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adaptation improves grievance attribution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DistilBERT achieved a test macro-F1 score of 0.3491.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It performed better than both TF-IDF and the rule-based classification approach.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1" name="Image 0" descr="D:\CITY PRJ\reports\figures\absa_per_aspect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55648"/>
            <a:ext cx="4434840" cy="2697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553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Per-aspect F1 comparison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70448" y="1481328"/>
            <a:ext cx="5239512" cy="3291840"/>
          </a:xfrm>
          <a:prstGeom prst="roundRect">
            <a:avLst>
              <a:gd name="adj" fmla="val 333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run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217920" y="2331720"/>
            <a:ext cx="4526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33172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82512" y="2441448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0.3491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382512" y="2807208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Out-of-time macro-F1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17920" y="3401568"/>
            <a:ext cx="4526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0" y="340156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82512" y="3511296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+0.1768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82512" y="3877056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gain vs TF-IDF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17920" y="44622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Tesla T4 • 3 epochs • 2e-5 learning rate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41,746 chronological examples across train / validation / test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OUTCOMES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outcomes quantify both delay and recurring demand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median resolution delay was 2.90 hours across the service records.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14-day repeat-request rate was 44.88%, showing recurring demand.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2.90 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0392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raw resolution delay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91.11 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46704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winsorized delay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78424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78424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3016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44.88%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43016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14-day repeat rate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74736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74736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50.52%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39328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repeat rate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2761488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27" name="Image 0" descr="D:\CITY PRJ\reports\figures\nyc311_delay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971800"/>
            <a:ext cx="4425696" cy="17373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96112" y="4818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is highly right-skewed; p99 winsorization cutoff = 2,454.96 hours.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870448" y="2761488"/>
            <a:ext cx="5239512" cy="2331720"/>
          </a:xfrm>
          <a:prstGeom prst="roundRect">
            <a:avLst>
              <a:gd name="adj" fmla="val 47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30" name="Image 1" descr="D:\CITY PRJ\reports\figures\nyc311_monthly_volu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971800"/>
            <a:ext cx="4809744" cy="17373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080760" y="48188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rates rise with longer windows: 39.10% at 7 days → 50.52% at 30 days.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experiment isolates NLP's incremental value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baseline model uses service, borough, month, seasonality, and request volume.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augmented model adds sentiment, topic, grievance, and satisfaction features.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baseline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201168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identity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" y="24048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Borough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7980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" y="279806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seasonality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1912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" y="31912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volume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66928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model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669280" y="20116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70448" y="20116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baseline features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2368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70448" y="236829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 sentiment rates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70448" y="272491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/ BERTopic features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308152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70448" y="30815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 aspect proportions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70448" y="343814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satisfaction signals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4343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protocol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4754880"/>
            <a:ext cx="10835640" cy="512064"/>
          </a:xfrm>
          <a:prstGeom prst="roundRect">
            <a:avLst>
              <a:gd name="adj" fmla="val 21429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901184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 •  Random Forest  •  LightGBM   |   validation-selected algorithm   |   one untouched 2024 horizon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 gains are significant; repeat-rate gains are inconclusive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Delay prediction improved from R² 0.5149 to 0.5438 with NLP features.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Repeat-rate performance improved slightly, but the result was not statistically significant.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4892040" cy="3520440"/>
          </a:xfrm>
          <a:prstGeom prst="roundRect">
            <a:avLst>
              <a:gd name="adj" fmla="val 3117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1" name="Image 0" descr="D:\CITY PRJ\reports\figures\model_r2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4434840" cy="2788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46451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out-of-time R² comparison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70448" y="1755648"/>
            <a:ext cx="5239512" cy="438912"/>
          </a:xfrm>
          <a:prstGeom prst="rect">
            <a:avLst/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34456" y="18836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13448" y="18836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65592" y="18836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R²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878824" y="18836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R²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592056" y="18836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ΔR²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50424" y="1883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p-value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70448" y="2194560"/>
            <a:ext cx="5239512" cy="493776"/>
          </a:xfrm>
          <a:prstGeom prst="rect">
            <a:avLst/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34456" y="23408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(h)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013448" y="23408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165592" y="23408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0.5149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878824" y="23408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0.5438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592056" y="23408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+0.0289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250424" y="23408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0.00020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870448" y="2688336"/>
            <a:ext cx="5239512" cy="493776"/>
          </a:xfrm>
          <a:prstGeom prst="rect">
            <a:avLst/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34456" y="283464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14d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013448" y="28346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65592" y="28346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0.7184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878824" y="28346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0.7441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592056" y="2834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+0.0257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250424" y="283464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0.733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870448" y="3520440"/>
            <a:ext cx="5239512" cy="1051560"/>
          </a:xfrm>
          <a:prstGeom prst="roundRect">
            <a:avLst>
              <a:gd name="adj" fmla="val 10435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44768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144768" y="402336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Delay: confirmed incremental predictive association.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Repeat: positive observed gain, but not statistically significant.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ANALYSIS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 confirms delay gains and qualifies repeat-rate gains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We used five random seeds and 2,000 bootstrap samples to test stability.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Delay gains were reliable, while repeat-rate gains remained uncertain.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5532120" cy="3456432"/>
          </a:xfrm>
          <a:prstGeom prst="roundRect">
            <a:avLst>
              <a:gd name="adj" fmla="val 3175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1" name="Image 0" descr="D:\CITY PRJ\reports\figures\robustness_delta_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37360"/>
            <a:ext cx="5120640" cy="2880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6817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seeds + 2,000 bootstrap resamples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10528" y="1481328"/>
            <a:ext cx="4599432" cy="3456432"/>
          </a:xfrm>
          <a:prstGeom prst="roundRect">
            <a:avLst>
              <a:gd name="adj" fmla="val 3175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5800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ΔR²  +0.1287 ± 0.0097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bootstrap CI  [+0.0499, +0.2259]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58000" y="2971800"/>
            <a:ext cx="3840480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rate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85800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ΔR²  +0.0403 ± 0.0072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bootstrap CI  [-0.0072, +0.0794]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58000" y="4526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interval crossing zero is the key qualification.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INTERPRETATION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 links predictions to operational and language signals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SHAP explains which features contribute most to each model prediction.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Request volume, topics, response time, seasonality, and negative sentiment were important.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5486400" cy="3703320"/>
          </a:xfrm>
          <a:prstGeom prst="roundRect">
            <a:avLst>
              <a:gd name="adj" fmla="val 296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1" name="Image 0" descr="D:\CITY PRJ\reports\figures\shap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37360"/>
            <a:ext cx="5074920" cy="3017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846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SHAP feature ranking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2940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contributors in the augmented delay model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1488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30568" y="21488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log_request_volume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29400" y="2542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30568" y="25420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topic_entropy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29400" y="293522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30568" y="29352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response-time aspect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29400" y="332841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30568" y="332841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seasonality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29400" y="372160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830568" y="372160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 negative rate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2940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29400" y="46817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uses both operational pressure and civic-language signals; the dashboard exposes these signals for review rather than hiding them behind a single score.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final system turns the analysis into two decision-support views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Municipal officials can view priorities, trends, comparisons, and model evidence.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Residents can view simple aggregate service information without personal data.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 Operations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61288" y="22860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by borough, service, and period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61288" y="26791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 with risk score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61288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and borough comparison charts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0120" y="34655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61288" y="34655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evidence and SHAP view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0120" y="38587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61288" y="38587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Downloadable priority queue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44768" y="1481328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View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19088" y="2286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620256" y="22860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KPI summary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19088" y="26791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620256" y="26791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delay and repeat trends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19088" y="307238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20256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Citywide service comparison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19088" y="34655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620256" y="34655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Privacy-safe aggregate values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19088" y="38587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620256" y="38587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names, addresses, or ticket text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85800" y="5257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local link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148840" y="5230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http://localhost:8501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32320" y="52578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grain: service × borough ×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STATUS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major pipeline phases are implemented with inspectable artifacts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complete data, NLP, modeling, dashboard, and reporting pipeline is implemented.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All 16 automated tests are passing successfully.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pipeline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6888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5196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3484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81812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0100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60120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8408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8580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868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46888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5176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25196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5196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3484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03504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1792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81812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1812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0100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0100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960120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0120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8408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78408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68580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verification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685800" y="457200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" y="4681728"/>
            <a:ext cx="2167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/ 16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850392" y="5047488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checks passing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383280" y="4572000"/>
            <a:ext cx="29260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8328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47872" y="4681728"/>
            <a:ext cx="2670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3547872" y="504748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dependencies verified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583680" y="4572000"/>
            <a:ext cx="274320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8368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48272" y="4681728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2024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6748272" y="504748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out-of-time horizon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AND 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is submission-ready when its boundaries are stated clearly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project reports predictive relationships and does not claim causation.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Future work includes manual annotation, longer testing, and external validation.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4983480" cy="3401568"/>
          </a:xfrm>
          <a:prstGeom prst="roundRect">
            <a:avLst>
              <a:gd name="adj" fmla="val 322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92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evidence does not claim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3042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61288" y="23042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causal effect is established.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61288" y="26974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free-text comments are PII-suppressed.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30906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61288" y="30906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 is a domain-transfer evaluation.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0120" y="3483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61288" y="34838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Repeat-rate gain is not significant.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0120" y="38770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61288" y="387705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is the local operational test horizon.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44768" y="1481328"/>
            <a:ext cx="4983480" cy="3401568"/>
          </a:xfrm>
          <a:prstGeom prst="roundRect">
            <a:avLst>
              <a:gd name="adj" fmla="val 322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792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Highest-value next steps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19088" y="23042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620256" y="23042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two-annotator 311 ABSA sample.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19088" y="26974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620256" y="26974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Cohen’s kappa and human macro-F1.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19088" y="30906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20256" y="30906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a longer out-of-time horizon.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19088" y="3483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620256" y="34838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transfer on another 311 city.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19088" y="38770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620256" y="387705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drift before deployment.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85800" y="5285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position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331720" y="5257800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end-to-end engineering and reproducibility; conclusions are calibrated to the available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960120"/>
            <a:ext cx="91440" cy="4663440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0424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34440" y="150876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Municipal service quality is more than closure speed.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34440" y="251460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demonstrates a reproducible way to connect citizen dissatisfaction, civic text signals, and operational outcomes — with transparent limits and an actionable dashboard.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234440" y="3858768"/>
            <a:ext cx="9326880" cy="868680"/>
          </a:xfrm>
          <a:prstGeom prst="roundRect">
            <a:avLst>
              <a:gd name="adj" fmla="val 12632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4142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4050792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Significant incremental evidence for resolution-delay prediction; repeat-rate evidence remains a research opportunity.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6236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•  Questions and discussion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" y="5687568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751576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Service quality is more than closing tickets.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22960" y="5952744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NLP is especially useful for predicting delay.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11045952" y="62362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Vellore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Review-2 / Final Review Presentation</dc:title>
  <dc:subject>Citizen Sentiment Analysis of Municipal Services Using Transformer-Based NLP</dc:subject>
  <dc:creator>BCSE316L Project Team 16</dc:creator>
  <cp:lastModifiedBy>BCSE316L Project Team 16</cp:lastModifiedBy>
  <cp:revision>1</cp:revision>
  <dcterms:created xsi:type="dcterms:W3CDTF">2026-10-15T09:07:31Z</dcterms:created>
  <dcterms:modified xsi:type="dcterms:W3CDTF">2026-10-15T09:07:31Z</dcterms:modified>
</cp:coreProperties>
</file>